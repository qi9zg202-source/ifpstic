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4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Masters/slideMaster4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1.xml" ContentType="application/vnd.openxmlformats-officedocument.theme+xml"/>
  <Override PartName="/ppt/slideLayouts/slideLayout4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  <p:sldMasterId id="2147483660" r:id="rId1"/>
    <p:sldMasterId id="2147483662" r:id="rId2"/>
    <p:sldMasterId id="2147483667" r:id="rId3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 snapToGrid="false">
      <p:cViewPr varScale="true">
        <p:scale>
          <a:sx n="146" d="100"/>
          <a:sy n="146" d="100"/>
        </p:scale>
        <p:origin x="9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notesMaster" Target="notesMasters/notesMaster1.xml" /><Relationship Id="rId7" Type="http://schemas.openxmlformats.org/officeDocument/2006/relationships/slide" Target="slides/slide4.xml" /><Relationship Id="rId9" Type="http://schemas.openxmlformats.org/officeDocument/2006/relationships/presProps" Target="presProps.xml" /><Relationship Id="rId5" Type="http://schemas.openxmlformats.org/officeDocument/2006/relationships/slide" Target="slides/slide2.xml" /><Relationship Id="rId4" Type="http://schemas.openxmlformats.org/officeDocument/2006/relationships/slide" Target="slides/slide1.xml" /><Relationship Id="rId6" Type="http://schemas.openxmlformats.org/officeDocument/2006/relationships/slide" Target="slides/slide3.xml" /><Relationship Id="rId1" Type="http://schemas.openxmlformats.org/officeDocument/2006/relationships/slideMaster" Target="slideMasters/slideMaster2.xml" /><Relationship Id="rId2" Type="http://schemas.openxmlformats.org/officeDocument/2006/relationships/slideMaster" Target="slideMasters/slideMaster3.xml" /><Relationship Id="rId0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Relationship Id="rId3" Type="http://schemas.openxmlformats.org/officeDocument/2006/relationships/slideMaster" Target="slideMasters/slideMaster4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5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CAB1E75A-E294-45A0-8487-2FDF5D44FA84}" type="slidenum">
              <a:rPr lang="zh-CN" altLang="en-US" smtClean="false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8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CAB1E75A-E294-45A0-8487-2FDF5D44FA84}" type="slidenum">
              <a:rPr lang="zh-CN" altLang="en-US" smtClean="false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12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CAB1E75A-E294-45A0-8487-2FDF5D44FA84}" type="slidenum">
              <a:rPr lang="zh-CN" altLang="en-US" smtClean="false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Master" Target="../slideMasters/slideMaster2.xml" /></Relationships>
</file>

<file path=ppt/slideLayouts/_rels/slideLayout13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Master" Target="../slideMasters/slideMaster3.xml" /><Relationship Id="rId1" Type="http://schemas.openxmlformats.org/officeDocument/2006/relationships/image" Target="media/image2.png" 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Master" Target="../slideMasters/slideMaster3.xml" /></Relationships>
</file>

<file path=ppt/slideLayouts/_rels/slideLayout1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_rels/slideLayout1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3.xml" /></Relationships>
</file>

<file path=ppt/slideLayouts/_rels/slideLayout1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4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0F7DC6A6-BF1E-4CE5-B3E6-718B8EA0B82A}" type="datetime1">
              <a:rPr lang="zh-CN" altLang="en-US"/>
              <a:t>2025/12/15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8FC705DF-EB6A-4429-A9CF-8086C29D54D9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7B03108F-6D01-401F-BB83-A4EE273EE035}" type="datetime1">
              <a:rPr lang="zh-CN" altLang="en-US"/>
              <a:t>2025/12/15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2A18DFAB-279D-45FB-8988-01B47F34F95A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8D5B006A-3E28-4231-AF04-14767498E664}" type="datetime1">
              <a:rPr lang="zh-CN" altLang="en-US"/>
              <a:t>2025/12/15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C8B94FA0-F740-4CDC-A935-5AEA919A98DA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A1F3BCCF-927F-4C14-9052-F5177C3C439D}" type="datetime1">
              <a:rPr lang="zh-CN" altLang="en-US"/>
              <a:t>2025/12/15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408259AF-2A25-452C-AA5F-7B080E8C5A7E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E19FF268-CF0C-4595-A6A8-A0B1FC2FEB42}" type="datetime1">
              <a:rPr lang="zh-CN" altLang="en-US"/>
              <a:t>2025/12/15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63A90A56-B7DA-460C-8F46-95BFAF0AF95F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E05E0E50-3259-4429-AAEB-7BA10F2285FC}" type="datetime1">
              <a:rPr lang="zh-CN" altLang="en-US"/>
              <a:t>2025/12/15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C2178EC5-58A4-4F44-B83C-34BE3E218ABE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03EF5456-EA9D-47AD-816E-BBFCE6D3FB5C}" type="datetime1">
              <a:rPr lang="zh-CN" altLang="en-US"/>
              <a:t>2025/12/15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E3199BA4-F8C4-48F6-BF3D-6D4BD834E815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BDD0B665-21F2-4210-A0AB-1FF516ABB0EC}" type="datetime1">
              <a:rPr lang="zh-CN" altLang="en-US"/>
              <a:t>2025/12/15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D3120986-D9F8-450A-8E8A-7B53A97B66E9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4E233BD8-DB7E-4E6E-9456-6D1E77C88269}" type="datetime1">
              <a:rPr lang="zh-CN" altLang="en-US"/>
              <a:t>2025/12/15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747CCC7F-E1A2-469B-A337-764C3DF0731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9772B07E-4E44-4E95-89AF-F1EF6F4CC7EC}" type="datetime1">
              <a:rPr lang="zh-CN" altLang="en-US"/>
              <a:t>2025/12/15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10D47AF7-089F-4725-8B45-DEA8A59F6C62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lstStyle/>
          <a:p>
            <a:pPr/>
            <a:fld id="{17AA1729-FFEC-4670-BE57-9BB1B6CF1583}" type="datetime1">
              <a:rPr lang="zh-CN" altLang="en-US"/>
              <a:t>2025/12/15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lstStyle/>
          <a:p>
            <a:pPr/>
            <a:fld id="{A7AACFD0-6D64-47CD-A483-D6FD45307366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Title and Content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3"/>
          <p:cNvPicPr>
            <a:picLocks noChangeAspect="true" noChangeArrowheads="true"/>
          </p:cNvPicPr>
          <p:nvPr userDrawn="true"/>
        </p:nvPicPr>
        <p:blipFill>
          <a:blip r:embed="rId1"/>
          <a:srcRect/>
          <a:stretch>
            <a:fillRect/>
          </a:stretch>
        </p:blipFill>
        <p:spPr bwMode="auto">
          <a:xfrm>
            <a:off x="-23019" y="0"/>
            <a:ext cx="12238038" cy="8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>
  <p:cSld name="标题幻灯片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3"/>
          <p:cNvGrpSpPr/>
          <p:nvPr userDrawn="true"/>
        </p:nvGrpSpPr>
        <p:grpSpPr>
          <a:xfrm>
            <a:off x="-45616" y="10633"/>
            <a:ext cx="12263067" cy="6858000"/>
            <a:chOff x="0" y="-55063"/>
            <a:chExt cx="12192000" cy="6913063"/>
          </a:xfrm>
        </p:grpSpPr>
        <p:pic>
          <p:nvPicPr>
            <p:cNvPr id="74" name="Picture 6"/>
            <p:cNvPicPr>
              <a:picLocks noChangeAspect="true"/>
            </p:cNvPicPr>
            <p:nvPr/>
          </p:nvPicPr>
          <p:blipFill rotWithShape="true">
            <a:blip r:embed="rId1" cstate="email"/>
            <a:srcRect/>
            <a:stretch>
              <a:fillRect/>
            </a:stretch>
          </p:blipFill>
          <p:spPr>
            <a:xfrm>
              <a:off x="0" y="-55062"/>
              <a:ext cx="12192000" cy="6913062"/>
            </a:xfrm>
            <a:prstGeom prst="rect">
              <a:avLst/>
            </a:prstGeom>
          </p:spPr>
        </p:pic>
        <p:sp>
          <p:nvSpPr>
            <p:cNvPr id="75" name="Rectangle 5"/>
            <p:cNvSpPr/>
            <p:nvPr/>
          </p:nvSpPr>
          <p:spPr>
            <a:xfrm flipV="true">
              <a:off x="0" y="-55063"/>
              <a:ext cx="12192000" cy="6913063"/>
            </a:xfrm>
            <a:prstGeom prst="rect">
              <a:avLst/>
            </a:prstGeom>
            <a:solidFill>
              <a:srgbClr val="051563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Rectangle 8"/>
            <p:cNvSpPr/>
            <p:nvPr/>
          </p:nvSpPr>
          <p:spPr>
            <a:xfrm rot="16200000" flipH="true" flipV="true">
              <a:off x="6993754" y="1659755"/>
              <a:ext cx="6913060" cy="3483429"/>
            </a:xfrm>
            <a:prstGeom prst="rect">
              <a:avLst/>
            </a:prstGeom>
            <a:gradFill>
              <a:gsLst>
                <a:gs pos="0">
                  <a:srgbClr val="000000">
                    <a:alpha val="4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 scaled="false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Rectangle 9"/>
            <p:cNvSpPr/>
            <p:nvPr/>
          </p:nvSpPr>
          <p:spPr>
            <a:xfrm rot="5400000" flipV="true">
              <a:off x="-1489843" y="1434782"/>
              <a:ext cx="6913060" cy="3933371"/>
            </a:xfrm>
            <a:prstGeom prst="rect">
              <a:avLst/>
            </a:prstGeom>
            <a:gradFill>
              <a:gsLst>
                <a:gs pos="0">
                  <a:srgbClr val="000000">
                    <a:alpha val="4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 scaled="false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lvl="0" algn="ctr"/>
              <a:endParaRPr lang="zh-CN" altLang="en-US"/>
            </a:p>
          </p:txBody>
        </p:sp>
      </p:grpSp>
      <p:sp>
        <p:nvSpPr>
          <p:cNvPr id="78" name="矩形 19"/>
          <p:cNvSpPr/>
          <p:nvPr userDrawn="true"/>
        </p:nvSpPr>
        <p:spPr>
          <a:xfrm>
            <a:off x="-31898" y="759348"/>
            <a:ext cx="12247648" cy="6109283"/>
          </a:xfrm>
          <a:prstGeom prst="rect">
            <a:avLst/>
          </a:prstGeom>
          <a:gradFill>
            <a:gsLst>
              <a:gs pos="18000">
                <a:schemeClr val="accent1">
                  <a:lumMod val="22000"/>
                </a:schemeClr>
              </a:gs>
              <a:gs pos="100000">
                <a:schemeClr val="accent1">
                  <a:alpha val="27247"/>
                  <a:lumMod val="55000"/>
                </a:schemeClr>
              </a:gs>
            </a:gsLst>
            <a:lin ang="2400000" scaled="false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kumimoji="true" lang="zh-CN" altLang="en-US" dirty="false"/>
          </a:p>
        </p:txBody>
      </p:sp>
      <p:pic>
        <p:nvPicPr>
          <p:cNvPr id="79" name="Picture 6"/>
          <p:cNvPicPr>
            <a:picLocks noChangeAspect="true"/>
          </p:cNvPicPr>
          <p:nvPr userDrawn="true"/>
        </p:nvPicPr>
        <p:blipFill rotWithShape="true">
          <a:blip r:embed="rId1" cstate="email"/>
          <a:srcRect l="1912" t="44622" r="4420" b="45159"/>
          <a:stretch>
            <a:fillRect/>
          </a:stretch>
        </p:blipFill>
        <p:spPr>
          <a:xfrm>
            <a:off x="-11873" y="-11875"/>
            <a:ext cx="12215748" cy="902524"/>
          </a:xfrm>
          <a:prstGeom prst="rect">
            <a:avLst/>
          </a:prstGeom>
        </p:spPr>
      </p:pic>
      <p:sp>
        <p:nvSpPr>
          <p:cNvPr id="80" name="Rectangle 5"/>
          <p:cNvSpPr/>
          <p:nvPr userDrawn="true"/>
        </p:nvSpPr>
        <p:spPr>
          <a:xfrm rot="10800000" flipV="true">
            <a:off x="-35623" y="-11875"/>
            <a:ext cx="12251372" cy="902523"/>
          </a:xfrm>
          <a:prstGeom prst="rect">
            <a:avLst/>
          </a:prstGeom>
          <a:gradFill>
            <a:gsLst>
              <a:gs pos="60000">
                <a:srgbClr val="183377"/>
              </a:gs>
              <a:gs pos="97000">
                <a:schemeClr val="bg1">
                  <a:lumMod val="38186"/>
                  <a:alpha val="53000"/>
                </a:schemeClr>
              </a:gs>
            </a:gsLst>
            <a:lin ang="10800000" scaled="fals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/>
          </a:p>
        </p:txBody>
      </p:sp>
      <p:pic>
        <p:nvPicPr>
          <p:cNvPr id="81" name="图片 22"/>
          <p:cNvPicPr>
            <a:picLocks noChangeAspect="true"/>
          </p:cNvPicPr>
          <p:nvPr userDrawn="true"/>
        </p:nvPicPr>
        <p:blipFill>
          <a:blip r:embed="rId2"/>
          <a:stretch>
            <a:fillRect/>
          </a:stretch>
        </p:blipFill>
        <p:spPr>
          <a:xfrm>
            <a:off x="9842663" y="166923"/>
            <a:ext cx="1989199" cy="592425"/>
          </a:xfrm>
          <a:prstGeom prst="rect">
            <a:avLst/>
          </a:prstGeom>
        </p:spPr>
      </p:pic>
      <p:sp>
        <p:nvSpPr>
          <p:cNvPr id="82" name="Title 1"/>
          <p:cNvSpPr>
            <a:spLocks noGrp="true"/>
          </p:cNvSpPr>
          <p:nvPr>
            <p:ph type="ctrTitle"/>
          </p:nvPr>
        </p:nvSpPr>
        <p:spPr>
          <a:xfrm>
            <a:off x="914400" y="1322390"/>
            <a:ext cx="10363200" cy="355441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false" i="false">
                <a:latin typeface="+mn-ea"/>
                <a:ea typeface="+mn-ea"/>
                <a:cs typeface="+mj-ea"/>
              </a:defRPr>
            </a:lvl1pPr>
          </a:lstStyle>
          <a:p>
            <a:pPr/>
            <a:r>
              <a:rPr lang="en-US" altLang="zh-CN" dirty="false"/>
              <a:t>Click to edit Master title style</a:t>
            </a:r>
            <a:endParaRPr lang="en-US" dirty="false"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 b="false" i="false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75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1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6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18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7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5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28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03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altLang="zh-CN" dirty="false"/>
              <a:t>Click to edit Master subtitle style</a:t>
            </a:r>
            <a:endParaRPr lang="en-US" dirty="false"/>
          </a:p>
        </p:txBody>
      </p:sp>
      <p:sp>
        <p:nvSpPr>
          <p:cNvPr id="84" name="Footer Placeholder 8"/>
          <p:cNvSpPr>
            <a:spLocks noGrp="true"/>
          </p:cNvSpPr>
          <p:nvPr>
            <p:ph type="ftr" sz="quarter" idx="12"/>
          </p:nvPr>
        </p:nvSpPr>
        <p:spPr>
          <a:xfrm>
            <a:off x="608965" y="6525260"/>
            <a:ext cx="6355080" cy="288290"/>
          </a:xfrm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5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11334651" y="6525346"/>
            <a:ext cx="749300" cy="288032"/>
          </a:xfrm>
          <a:prstGeom prst="rect">
            <a:avLst/>
          </a:prstGeom>
        </p:spPr>
        <p:txBody>
          <a:bodyPr vert="horz" lIns="21397" tIns="35662" rIns="35662" bIns="35662" rtlCol="false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hf sldNum="false" hdr="false" ftr="false" dt="false"/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Title and Content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3"/>
          <p:cNvPicPr>
            <a:picLocks noChangeAspect="true" noChangeArrowheads="true"/>
          </p:cNvPicPr>
          <p:nvPr userDrawn="true"/>
        </p:nvPicPr>
        <p:blipFill>
          <a:blip r:embed="rId1"/>
          <a:srcRect/>
          <a:stretch>
            <a:fillRect/>
          </a:stretch>
        </p:blipFill>
        <p:spPr bwMode="auto">
          <a:xfrm>
            <a:off x="-23019" y="0"/>
            <a:ext cx="12238038" cy="8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>
  <p:cSld name="仅标题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0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lstStyle/>
          <a:p>
            <a:pPr/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 b="true" i="false">
                <a:latin typeface="+mn-ea"/>
                <a:ea typeface="+mn-ea"/>
              </a:defRPr>
            </a:lvl1pPr>
          </a:lstStyle>
          <a:p>
            <a:pPr/>
            <a:r>
              <a:rPr lang="en-US" altLang="zh-CN" dirty="false"/>
              <a:t>Click to edit Master title style</a:t>
            </a:r>
            <a:endParaRPr lang="en-US" dirty="false"/>
          </a:p>
        </p:txBody>
      </p:sp>
      <p:sp>
        <p:nvSpPr>
          <p:cNvPr id="9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>
            <a:lvl1pPr>
              <a:defRPr b="false" i="false">
                <a:latin typeface="+mn-ea"/>
                <a:ea typeface="+mn-ea"/>
              </a:defRPr>
            </a:lvl1pPr>
            <a:lvl2pPr>
              <a:defRPr b="false" i="false">
                <a:latin typeface="+mn-ea"/>
                <a:ea typeface="+mn-ea"/>
              </a:defRPr>
            </a:lvl2pPr>
            <a:lvl3pPr>
              <a:defRPr b="false" i="false">
                <a:latin typeface="+mn-ea"/>
                <a:ea typeface="+mn-ea"/>
              </a:defRPr>
            </a:lvl3pPr>
            <a:lvl4pPr>
              <a:defRPr b="false" i="false">
                <a:latin typeface="+mn-ea"/>
                <a:ea typeface="+mn-ea"/>
              </a:defRPr>
            </a:lvl4pPr>
            <a:lvl5pPr>
              <a:defRPr b="false" i="false">
                <a:latin typeface="+mn-ea"/>
                <a:ea typeface="+mn-ea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anose="020B0604020202090204" pitchFamily="34" charset="0"/>
              <a:buChar char="•"/>
              <a:defRPr/>
            </a:lvl9pPr>
          </a:lstStyle>
          <a:p>
            <a:pPr lvl="0"/>
            <a:r>
              <a:rPr lang="en-US" altLang="zh-CN" dirty="false"/>
              <a:t>Click to edit Master text styles</a:t>
            </a:r>
            <a:endParaRPr/>
          </a:p>
          <a:p>
            <a:pPr lvl="1"/>
            <a:r>
              <a:rPr lang="en-US" altLang="zh-CN" dirty="false"/>
              <a:t>Second level</a:t>
            </a:r>
            <a:endParaRPr/>
          </a:p>
          <a:p>
            <a:pPr lvl="2"/>
            <a:r>
              <a:rPr lang="en-US" altLang="zh-CN" dirty="false"/>
              <a:t>Third level</a:t>
            </a:r>
            <a:endParaRPr/>
          </a:p>
          <a:p>
            <a:pPr lvl="3"/>
            <a:r>
              <a:rPr lang="en-US" altLang="zh-CN" dirty="false"/>
              <a:t>Fourth level</a:t>
            </a:r>
            <a:endParaRPr/>
          </a:p>
          <a:p>
            <a:pPr lvl="4"/>
            <a:r>
              <a:rPr lang="en-US" altLang="zh-CN" dirty="false"/>
              <a:t>Fifth level</a:t>
            </a:r>
            <a:endParaRPr lang="en-US" dirty="false"/>
          </a:p>
        </p:txBody>
      </p:sp>
      <p:sp>
        <p:nvSpPr>
          <p:cNvPr id="94" name="Footer Placeholder 4"/>
          <p:cNvSpPr>
            <a:spLocks noGrp="true"/>
          </p:cNvSpPr>
          <p:nvPr>
            <p:ph type="ftr" sz="quarter" idx="11"/>
          </p:nvPr>
        </p:nvSpPr>
        <p:spPr>
          <a:xfrm>
            <a:off x="608965" y="6525260"/>
            <a:ext cx="6355080" cy="288290"/>
          </a:xfrm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5" name="Slide Number Placeholder 5"/>
          <p:cNvSpPr>
            <a:spLocks noGrp="true"/>
          </p:cNvSpPr>
          <p:nvPr>
            <p:ph type="sldNum" sz="quarter" idx="12"/>
          </p:nvPr>
        </p:nvSpPr>
        <p:spPr>
          <a:xfrm>
            <a:off x="11334651" y="6525346"/>
            <a:ext cx="749300" cy="288032"/>
          </a:xfrm>
        </p:spPr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hf sldNum="false" hdr="false" ftr="false" dt="false"/>
</p:sldLayout>
</file>

<file path=ppt/slideLayouts/slideLayout17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 b="true" i="false">
                <a:latin typeface="+mn-ea"/>
                <a:ea typeface="+mn-ea"/>
              </a:defRPr>
            </a:lvl1pPr>
          </a:lstStyle>
          <a:p>
            <a:pPr/>
            <a:r>
              <a:rPr lang="en-US" altLang="zh-CN" dirty="false"/>
              <a:t>Click to edit Master title style</a:t>
            </a:r>
            <a:endParaRPr lang="en-US" dirty="false"/>
          </a:p>
        </p:txBody>
      </p:sp>
      <p:sp>
        <p:nvSpPr>
          <p:cNvPr id="98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>
            <a:lvl1pPr>
              <a:defRPr b="false" i="false">
                <a:latin typeface="+mn-ea"/>
                <a:ea typeface="+mn-ea"/>
              </a:defRPr>
            </a:lvl1pPr>
            <a:lvl2pPr>
              <a:defRPr b="false" i="false">
                <a:latin typeface="+mn-ea"/>
                <a:ea typeface="+mn-ea"/>
              </a:defRPr>
            </a:lvl2pPr>
            <a:lvl3pPr>
              <a:defRPr b="false" i="false">
                <a:latin typeface="+mn-ea"/>
                <a:ea typeface="+mn-ea"/>
              </a:defRPr>
            </a:lvl3pPr>
            <a:lvl4pPr>
              <a:defRPr b="false" i="false">
                <a:latin typeface="+mn-ea"/>
                <a:ea typeface="+mn-ea"/>
              </a:defRPr>
            </a:lvl4pPr>
            <a:lvl5pPr>
              <a:defRPr b="false" i="false">
                <a:latin typeface="+mn-ea"/>
                <a:ea typeface="+mn-ea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anose="020B0604020202090204" pitchFamily="34" charset="0"/>
              <a:buChar char="•"/>
              <a:defRPr/>
            </a:lvl9pPr>
          </a:lstStyle>
          <a:p>
            <a:pPr lvl="0"/>
            <a:r>
              <a:rPr lang="en-US" altLang="zh-CN" dirty="false"/>
              <a:t>Click to edit Master text styles</a:t>
            </a:r>
            <a:endParaRPr/>
          </a:p>
          <a:p>
            <a:pPr lvl="1"/>
            <a:r>
              <a:rPr lang="en-US" altLang="zh-CN" dirty="false"/>
              <a:t>Second level</a:t>
            </a:r>
            <a:endParaRPr/>
          </a:p>
          <a:p>
            <a:pPr lvl="2"/>
            <a:r>
              <a:rPr lang="en-US" altLang="zh-CN" dirty="false"/>
              <a:t>Third level</a:t>
            </a:r>
            <a:endParaRPr/>
          </a:p>
          <a:p>
            <a:pPr lvl="3"/>
            <a:r>
              <a:rPr lang="en-US" altLang="zh-CN" dirty="false"/>
              <a:t>Fourth level</a:t>
            </a:r>
            <a:endParaRPr/>
          </a:p>
          <a:p>
            <a:pPr lvl="4"/>
            <a:r>
              <a:rPr lang="en-US" altLang="zh-CN" dirty="false"/>
              <a:t>Fifth level</a:t>
            </a:r>
            <a:endParaRPr lang="en-US" dirty="false"/>
          </a:p>
        </p:txBody>
      </p:sp>
      <p:sp>
        <p:nvSpPr>
          <p:cNvPr id="99" name="Footer Placeholder 4"/>
          <p:cNvSpPr>
            <a:spLocks noGrp="true"/>
          </p:cNvSpPr>
          <p:nvPr>
            <p:ph type="ftr" sz="quarter" idx="11"/>
          </p:nvPr>
        </p:nvSpPr>
        <p:spPr>
          <a:xfrm>
            <a:off x="608965" y="6525260"/>
            <a:ext cx="6355080" cy="288290"/>
          </a:xfrm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0" name="Slide Number Placeholder 5"/>
          <p:cNvSpPr>
            <a:spLocks noGrp="true"/>
          </p:cNvSpPr>
          <p:nvPr>
            <p:ph type="sldNum" sz="quarter" idx="12"/>
          </p:nvPr>
        </p:nvSpPr>
        <p:spPr>
          <a:xfrm>
            <a:off x="11334651" y="6525346"/>
            <a:ext cx="749300" cy="288032"/>
          </a:xfrm>
        </p:spPr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hf sldNum="false" hdr="false" ftr="false" dt="false"/>
</p:sldLayout>
</file>

<file path=ppt/slideMasters/_rels/slideMaster1.xml.rels><?xml version="1.0" encoding="UTF-8" standalone="yes"?><Relationships xmlns="http://schemas.openxmlformats.org/package/2006/relationships"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0" Type="http://schemas.openxmlformats.org/officeDocument/2006/relationships/slideLayout" Target="../slideLayouts/slideLayout1.xml" /><Relationship Id="rId8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1.xml" /><Relationship Id="rId7" Type="http://schemas.openxmlformats.org/officeDocument/2006/relationships/slideLayout" Target="../slideLayouts/slideLayout8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 /><Relationship Id="rId0" Type="http://schemas.openxmlformats.org/officeDocument/2006/relationships/slideLayout" Target="../slideLayouts/slideLayout12.xml" /></Relationships>
</file>

<file path=ppt/slideMasters/_rels/slideMaster3.xml.rels><?xml version="1.0" encoding="UTF-8" standalone="yes"?><Relationships xmlns="http://schemas.openxmlformats.org/package/2006/relationships"><Relationship Id="rId6" Type="http://schemas.openxmlformats.org/officeDocument/2006/relationships/image" Target="media/image3.png" /><Relationship Id="rId1" Type="http://schemas.openxmlformats.org/officeDocument/2006/relationships/slideLayout" Target="../slideLayouts/slideLayout14.xml" /><Relationship Id="rId5" Type="http://schemas.openxmlformats.org/officeDocument/2006/relationships/image" Target="media/image2.png" /><Relationship Id="rId0" Type="http://schemas.openxmlformats.org/officeDocument/2006/relationships/slideLayout" Target="../slideLayouts/slideLayout13.xml" /><Relationship Id="rId2" Type="http://schemas.openxmlformats.org/officeDocument/2006/relationships/slideLayout" Target="../slideLayouts/slideLayout15.xml" /><Relationship Id="rId3" Type="http://schemas.openxmlformats.org/officeDocument/2006/relationships/slideLayout" Target="../slideLayouts/slideLayout16.xml" /><Relationship Id="rId4" Type="http://schemas.openxmlformats.org/officeDocument/2006/relationships/theme" Target="../theme/theme3.xml" /></Relationships>
</file>

<file path=ppt/slideMasters/_rels/slideMaster4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7.xml" /><Relationship Id="rId3" Type="http://schemas.openxmlformats.org/officeDocument/2006/relationships/image" Target="media/image3.png" /><Relationship Id="rId1" Type="http://schemas.openxmlformats.org/officeDocument/2006/relationships/theme" Target="../theme/theme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 altLang="en-US"/>
              <a:t>2025/12/15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kumimoji="true" lang="zh-CN" altLang="en-US"/>
              <a:t>单击此处编辑母版标题样式</a:t>
            </a:r>
            <a:endParaRPr/>
          </a:p>
        </p:txBody>
      </p:sp>
      <p:sp>
        <p:nvSpPr>
          <p:cNvPr id="9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kumimoji="true" lang="zh-CN" altLang="en-US"/>
              <a:t>单击此处编辑母版文本样式</a:t>
            </a:r>
            <a:endParaRPr/>
          </a:p>
          <a:p>
            <a:pPr lvl="1"/>
            <a:r>
              <a:rPr kumimoji="true" lang="zh-CN" altLang="en-US"/>
              <a:t>二级</a:t>
            </a:r>
            <a:endParaRPr/>
          </a:p>
          <a:p>
            <a:pPr lvl="2"/>
            <a:r>
              <a:rPr kumimoji="true" lang="zh-CN" altLang="en-US"/>
              <a:t>三级</a:t>
            </a:r>
            <a:endParaRPr/>
          </a:p>
          <a:p>
            <a:pPr lvl="3"/>
            <a:r>
              <a:rPr kumimoji="true" lang="zh-CN" altLang="en-US"/>
              <a:t>四级</a:t>
            </a:r>
            <a:endParaRPr/>
          </a:p>
          <a:p>
            <a:pPr lvl="4"/>
            <a:r>
              <a:rPr kumimoji="true" lang="zh-CN" altLang="en-US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5040322-FE94-2F49-9D1F-DF73BDD7A80B}" type="datetimeFigureOut">
              <a:rPr kumimoji="true" lang="zh-CN" altLang="en-US" smtClean="false"/>
              <a:t>2025/12/15</a:t>
            </a:fld>
            <a:endParaRPr kumimoji="true" lang="zh-CN" altLang="en-US"/>
          </a:p>
        </p:txBody>
      </p:sp>
      <p:sp>
        <p:nvSpPr>
          <p:cNvPr id="11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kumimoji="true" lang="zh-CN" altLang="en-US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237C71C3-1F87-9749-86BE-2CF37110B094}" type="slidenum">
              <a:rPr kumimoji="true" lang="zh-CN" altLang="en-US" smtClean="false"/>
              <a:t>‹#›</a:t>
            </a:fld>
            <a:endParaRPr kumimoji="true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0"/>
  </p:sldLayoutIdLst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/>
          <p:cNvPicPr>
            <a:picLocks noChangeAspect="true"/>
          </p:cNvPicPr>
          <p:nvPr userDrawn="true"/>
        </p:nvPicPr>
        <p:blipFill rotWithShape="true">
          <a:blip r:embed="rId5" cstate="email"/>
          <a:srcRect l="1912" t="44622" r="4420" b="45159"/>
          <a:stretch>
            <a:fillRect/>
          </a:stretch>
        </p:blipFill>
        <p:spPr>
          <a:xfrm>
            <a:off x="-11873" y="-11875"/>
            <a:ext cx="12215748" cy="902524"/>
          </a:xfrm>
          <a:prstGeom prst="rect">
            <a:avLst/>
          </a:prstGeom>
        </p:spPr>
      </p:pic>
      <p:sp>
        <p:nvSpPr>
          <p:cNvPr id="15" name="Rectangle 5"/>
          <p:cNvSpPr/>
          <p:nvPr userDrawn="true"/>
        </p:nvSpPr>
        <p:spPr>
          <a:xfrm rot="10800000" flipV="true">
            <a:off x="-23749" y="-11875"/>
            <a:ext cx="12215749" cy="902523"/>
          </a:xfrm>
          <a:prstGeom prst="rect">
            <a:avLst/>
          </a:prstGeom>
          <a:gradFill>
            <a:gsLst>
              <a:gs pos="60000">
                <a:srgbClr val="183377"/>
              </a:gs>
              <a:gs pos="97000">
                <a:schemeClr val="bg1">
                  <a:lumMod val="38186"/>
                  <a:alpha val="53000"/>
                </a:schemeClr>
              </a:gs>
            </a:gsLst>
            <a:lin ang="10800000" scaled="fals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 dirty="false"/>
          </a:p>
        </p:txBody>
      </p:sp>
      <p:pic>
        <p:nvPicPr>
          <p:cNvPr id="16" name="图片 10"/>
          <p:cNvPicPr>
            <a:picLocks noChangeAspect="true"/>
          </p:cNvPicPr>
          <p:nvPr userDrawn="true"/>
        </p:nvPicPr>
        <p:blipFill>
          <a:blip r:embed="rId6"/>
          <a:stretch>
            <a:fillRect/>
          </a:stretch>
        </p:blipFill>
        <p:spPr>
          <a:xfrm>
            <a:off x="9842663" y="166923"/>
            <a:ext cx="1989199" cy="592425"/>
          </a:xfrm>
          <a:prstGeom prst="rect">
            <a:avLst/>
          </a:prstGeom>
        </p:spPr>
      </p:pic>
      <p:sp>
        <p:nvSpPr>
          <p:cNvPr id="17" name="Title Placeholder 1"/>
          <p:cNvSpPr>
            <a:spLocks noGrp="true"/>
          </p:cNvSpPr>
          <p:nvPr>
            <p:ph type="title"/>
          </p:nvPr>
        </p:nvSpPr>
        <p:spPr>
          <a:xfrm>
            <a:off x="609600" y="86780"/>
            <a:ext cx="10972800" cy="692404"/>
          </a:xfrm>
          <a:prstGeom prst="rect">
            <a:avLst/>
          </a:prstGeom>
        </p:spPr>
        <p:txBody>
          <a:bodyPr vert="horz" lIns="71323" tIns="35662" rIns="71323" bIns="35662" rtlCol="false" anchor="ctr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en-US" dirty="false"/>
          </a:p>
        </p:txBody>
      </p:sp>
      <p:sp>
        <p:nvSpPr>
          <p:cNvPr id="18" name="Text Placeholder 2"/>
          <p:cNvSpPr>
            <a:spLocks noGrp="true"/>
          </p:cNvSpPr>
          <p:nvPr>
            <p:ph type="body" idx="1"/>
          </p:nvPr>
        </p:nvSpPr>
        <p:spPr>
          <a:xfrm>
            <a:off x="609600" y="1124747"/>
            <a:ext cx="10972800" cy="5001419"/>
          </a:xfrm>
          <a:prstGeom prst="rect">
            <a:avLst/>
          </a:prstGeom>
        </p:spPr>
        <p:txBody>
          <a:bodyPr vert="horz" lIns="71323" tIns="35662" rIns="71323" bIns="35662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/>
          </a:p>
          <a:p>
            <a:pPr lvl="1"/>
            <a:r>
              <a:rPr lang="zh-CN" altLang="en-US" dirty="false"/>
              <a:t>第二级</a:t>
            </a:r>
            <a:endParaRPr/>
          </a:p>
          <a:p>
            <a:pPr lvl="2"/>
            <a:r>
              <a:rPr lang="zh-CN" altLang="en-US" dirty="false"/>
              <a:t>第三级</a:t>
            </a:r>
            <a:endParaRPr/>
          </a:p>
          <a:p>
            <a:pPr lvl="3"/>
            <a:r>
              <a:rPr lang="zh-CN" altLang="en-US" dirty="false"/>
              <a:t>第四级</a:t>
            </a:r>
            <a:endParaRPr/>
          </a:p>
          <a:p>
            <a:pPr lvl="4"/>
            <a:r>
              <a:rPr lang="zh-CN" altLang="en-US" dirty="false"/>
              <a:t>第五级</a:t>
            </a:r>
            <a:endParaRPr lang="en-US" dirty="false"/>
          </a:p>
        </p:txBody>
      </p:sp>
      <p:sp>
        <p:nvSpPr>
          <p:cNvPr id="19" name="KSO_TEMPLATE" hidden="true"/>
          <p:cNvSpPr/>
          <p:nvPr userDrawn="true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Footer Placeholder 11"/>
          <p:cNvSpPr>
            <a:spLocks noGrp="true"/>
          </p:cNvSpPr>
          <p:nvPr>
            <p:ph type="ftr" sz="quarter" idx="3"/>
          </p:nvPr>
        </p:nvSpPr>
        <p:spPr>
          <a:xfrm>
            <a:off x="608965" y="6525260"/>
            <a:ext cx="6355080" cy="288290"/>
          </a:xfrm>
          <a:prstGeom prst="rect">
            <a:avLst/>
          </a:prstGeom>
        </p:spPr>
        <p:txBody>
          <a:bodyPr vert="horz" lIns="35662" tIns="35662" rIns="71323" bIns="35662" rtlCol="false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lvl1pPr>
          </a:lstStyle>
          <a:p>
            <a:pPr/>
            <a:endParaRPr lang="zh-CN" altLang="en-US"/>
          </a:p>
        </p:txBody>
      </p:sp>
      <p:sp>
        <p:nvSpPr>
          <p:cNvPr id="21" name="Slide Number Placeholder 10"/>
          <p:cNvSpPr>
            <a:spLocks noGrp="true"/>
          </p:cNvSpPr>
          <p:nvPr userDrawn="true"/>
        </p:nvSpPr>
        <p:spPr>
          <a:xfrm>
            <a:off x="11357511" y="6525346"/>
            <a:ext cx="749300" cy="288032"/>
          </a:xfrm>
          <a:prstGeom prst="rect">
            <a:avLst/>
          </a:prstGeom>
        </p:spPr>
        <p:txBody>
          <a:bodyPr vert="horz" lIns="21397" tIns="35662" rIns="35662" bIns="35662" rtlCol="false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0"/>
    <p:sldLayoutId id="2147483664" r:id="rId1"/>
    <p:sldLayoutId id="2147483665" r:id="rId2"/>
    <p:sldLayoutId id="2147483666" r:id="rId3"/>
  </p:sldLayoutIdLst>
  <p:hf sldNum="false" hdr="false" ftr="false" dt="false"/>
  <p:txStyles>
    <p:titleStyle>
      <a:lvl1pPr marL="0" indent="0" algn="l" defTabSz="951230" rtl="false" eaLnBrk="true" fontAlgn="auto" latinLnBrk="false" hangingPunct="true">
        <a:lnSpc>
          <a:spcPct val="100000"/>
        </a:lnSpc>
        <a:spcBef>
          <a:spcPct val="1"/>
        </a:spcBef>
        <a:spcAft>
          <a:spcPts val="600"/>
        </a:spcAft>
        <a:buFont typeface="Arial" panose="020B0604020202090204" pitchFamily="34" charset="0"/>
        <a:buNone/>
        <a:defRPr sz="2800" b="true" i="false" kern="1200" baseline="0">
          <a:solidFill>
            <a:schemeClr val="bg1"/>
          </a:solidFill>
          <a:effectLst/>
          <a:latin typeface="+mn-ea"/>
          <a:ea typeface="+mn-ea"/>
          <a:cs typeface="Arial Unicode MS" panose="020B0604020202020204" charset="-122"/>
        </a:defRPr>
      </a:lvl1pPr>
    </p:titleStyle>
    <p:bodyStyle>
      <a:lvl1pPr marL="342900" indent="-34290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20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1pPr>
      <a:lvl2pPr marL="761365" indent="-28575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18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2pPr>
      <a:lvl3pPr marL="1236980" indent="-28575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16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3pPr>
      <a:lvl4pPr marL="1712595" indent="-28575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14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4pPr>
      <a:lvl5pPr marL="2073910" indent="-17145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12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5pPr>
      <a:lvl6pPr marL="2614930" indent="-237490" algn="l" defTabSz="951230" rtl="false" eaLnBrk="true" latinLnBrk="false" hangingPunct="true">
        <a:spcBef>
          <a:spcPct val="20000"/>
        </a:spcBef>
        <a:buFont typeface="Courier New" panose="02070409020205090404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3090545" indent="-237490" algn="l" defTabSz="95123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566160" indent="-237490" algn="l" defTabSz="951230" rtl="false" eaLnBrk="true" latinLnBrk="false" hangingPunct="true">
        <a:spcBef>
          <a:spcPct val="20000"/>
        </a:spcBef>
        <a:buFont typeface="Courier New" panose="02070409020205090404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4041775" indent="-237490" algn="l" defTabSz="95123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75615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5123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42621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901825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37744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853055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32867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0365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6"/>
          <p:cNvPicPr>
            <a:picLocks noChangeAspect="true"/>
          </p:cNvPicPr>
          <p:nvPr userDrawn="true"/>
        </p:nvPicPr>
        <p:blipFill rotWithShape="true">
          <a:blip r:embed="rId2" cstate="email"/>
          <a:srcRect l="1912" t="44622" r="4420" b="45159"/>
          <a:stretch>
            <a:fillRect/>
          </a:stretch>
        </p:blipFill>
        <p:spPr>
          <a:xfrm>
            <a:off x="-11873" y="-11875"/>
            <a:ext cx="12215748" cy="902524"/>
          </a:xfrm>
          <a:prstGeom prst="rect">
            <a:avLst/>
          </a:prstGeom>
        </p:spPr>
      </p:pic>
      <p:sp>
        <p:nvSpPr>
          <p:cNvPr id="24" name="Rectangle 5"/>
          <p:cNvSpPr/>
          <p:nvPr userDrawn="true"/>
        </p:nvSpPr>
        <p:spPr>
          <a:xfrm rot="10800000" flipV="true">
            <a:off x="-23749" y="-11875"/>
            <a:ext cx="12215749" cy="902523"/>
          </a:xfrm>
          <a:prstGeom prst="rect">
            <a:avLst/>
          </a:prstGeom>
          <a:gradFill>
            <a:gsLst>
              <a:gs pos="60000">
                <a:srgbClr val="183377"/>
              </a:gs>
              <a:gs pos="97000">
                <a:schemeClr val="bg1">
                  <a:lumMod val="38186"/>
                  <a:alpha val="53000"/>
                </a:schemeClr>
              </a:gs>
            </a:gsLst>
            <a:lin ang="10800000" scaled="fals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 dirty="false"/>
          </a:p>
        </p:txBody>
      </p:sp>
      <p:pic>
        <p:nvPicPr>
          <p:cNvPr id="25" name="图片 10"/>
          <p:cNvPicPr>
            <a:picLocks noChangeAspect="true"/>
          </p:cNvPicPr>
          <p:nvPr userDrawn="true"/>
        </p:nvPicPr>
        <p:blipFill>
          <a:blip r:embed="rId3"/>
          <a:stretch>
            <a:fillRect/>
          </a:stretch>
        </p:blipFill>
        <p:spPr>
          <a:xfrm>
            <a:off x="9842663" y="166923"/>
            <a:ext cx="1989199" cy="592425"/>
          </a:xfrm>
          <a:prstGeom prst="rect">
            <a:avLst/>
          </a:prstGeom>
        </p:spPr>
      </p:pic>
      <p:sp>
        <p:nvSpPr>
          <p:cNvPr id="26" name="Title Placeholder 1"/>
          <p:cNvSpPr>
            <a:spLocks noGrp="true"/>
          </p:cNvSpPr>
          <p:nvPr>
            <p:ph type="title"/>
          </p:nvPr>
        </p:nvSpPr>
        <p:spPr>
          <a:xfrm>
            <a:off x="609600" y="86780"/>
            <a:ext cx="10972800" cy="692404"/>
          </a:xfrm>
          <a:prstGeom prst="rect">
            <a:avLst/>
          </a:prstGeom>
        </p:spPr>
        <p:txBody>
          <a:bodyPr vert="horz" lIns="71323" tIns="35662" rIns="71323" bIns="35662" rtlCol="false" anchor="ctr">
            <a:normAutofit/>
          </a:bodyPr>
          <a:lstStyle/>
          <a:p>
            <a:pPr/>
            <a:r>
              <a:rPr lang="zh-CN" altLang="en-US" dirty="false"/>
              <a:t>单击此处编辑母版标题样式</a:t>
            </a:r>
            <a:endParaRPr lang="en-US" dirty="false"/>
          </a:p>
        </p:txBody>
      </p:sp>
      <p:sp>
        <p:nvSpPr>
          <p:cNvPr id="27" name="Text Placeholder 2"/>
          <p:cNvSpPr>
            <a:spLocks noGrp="true"/>
          </p:cNvSpPr>
          <p:nvPr>
            <p:ph type="body" idx="1"/>
          </p:nvPr>
        </p:nvSpPr>
        <p:spPr>
          <a:xfrm>
            <a:off x="609600" y="1124747"/>
            <a:ext cx="10972800" cy="5001419"/>
          </a:xfrm>
          <a:prstGeom prst="rect">
            <a:avLst/>
          </a:prstGeom>
        </p:spPr>
        <p:txBody>
          <a:bodyPr vert="horz" lIns="71323" tIns="35662" rIns="71323" bIns="35662" rtlCol="false">
            <a:normAutofit/>
          </a:bodyPr>
          <a:lstStyle/>
          <a:p>
            <a:pPr lvl="0"/>
            <a:r>
              <a:rPr lang="zh-CN" altLang="en-US" dirty="false"/>
              <a:t>单击此处编辑母版文本样式</a:t>
            </a:r>
            <a:endParaRPr/>
          </a:p>
          <a:p>
            <a:pPr lvl="1"/>
            <a:r>
              <a:rPr lang="zh-CN" altLang="en-US" dirty="false"/>
              <a:t>第二级</a:t>
            </a:r>
            <a:endParaRPr/>
          </a:p>
          <a:p>
            <a:pPr lvl="2"/>
            <a:r>
              <a:rPr lang="zh-CN" altLang="en-US" dirty="false"/>
              <a:t>第三级</a:t>
            </a:r>
            <a:endParaRPr/>
          </a:p>
          <a:p>
            <a:pPr lvl="3"/>
            <a:r>
              <a:rPr lang="zh-CN" altLang="en-US" dirty="false"/>
              <a:t>第四级</a:t>
            </a:r>
            <a:endParaRPr/>
          </a:p>
          <a:p>
            <a:pPr lvl="4"/>
            <a:r>
              <a:rPr lang="zh-CN" altLang="en-US" dirty="false"/>
              <a:t>第五级</a:t>
            </a:r>
            <a:endParaRPr lang="en-US" dirty="false"/>
          </a:p>
        </p:txBody>
      </p:sp>
      <p:sp>
        <p:nvSpPr>
          <p:cNvPr id="28" name="KSO_TEMPLATE" hidden="true"/>
          <p:cNvSpPr/>
          <p:nvPr userDrawn="true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Footer Placeholder 11"/>
          <p:cNvSpPr>
            <a:spLocks noGrp="true"/>
          </p:cNvSpPr>
          <p:nvPr>
            <p:ph type="ftr" sz="quarter" idx="3"/>
          </p:nvPr>
        </p:nvSpPr>
        <p:spPr>
          <a:xfrm>
            <a:off x="608965" y="6525260"/>
            <a:ext cx="6355080" cy="288290"/>
          </a:xfrm>
          <a:prstGeom prst="rect">
            <a:avLst/>
          </a:prstGeom>
        </p:spPr>
        <p:txBody>
          <a:bodyPr vert="horz" lIns="35662" tIns="35662" rIns="71323" bIns="35662" rtlCol="false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lvl1pPr>
          </a:lstStyle>
          <a:p>
            <a:pPr/>
            <a:endParaRPr lang="zh-CN" altLang="en-US"/>
          </a:p>
        </p:txBody>
      </p:sp>
      <p:sp>
        <p:nvSpPr>
          <p:cNvPr id="30" name="Slide Number Placeholder 10"/>
          <p:cNvSpPr>
            <a:spLocks noGrp="true"/>
          </p:cNvSpPr>
          <p:nvPr userDrawn="true"/>
        </p:nvSpPr>
        <p:spPr>
          <a:xfrm>
            <a:off x="11357511" y="6525346"/>
            <a:ext cx="749300" cy="288032"/>
          </a:xfrm>
          <a:prstGeom prst="rect">
            <a:avLst/>
          </a:prstGeom>
        </p:spPr>
        <p:txBody>
          <a:bodyPr vert="horz" lIns="21397" tIns="35662" rIns="35662" bIns="35662" rtlCol="false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0"/>
  </p:sldLayoutIdLst>
  <p:hf sldNum="false" hdr="false" ftr="false" dt="false"/>
  <p:txStyles>
    <p:titleStyle>
      <a:lvl1pPr marL="0" indent="0" algn="l" defTabSz="951230" rtl="false" eaLnBrk="true" fontAlgn="auto" latinLnBrk="false" hangingPunct="true">
        <a:lnSpc>
          <a:spcPct val="100000"/>
        </a:lnSpc>
        <a:spcBef>
          <a:spcPct val="1"/>
        </a:spcBef>
        <a:spcAft>
          <a:spcPts val="600"/>
        </a:spcAft>
        <a:buFont typeface="Arial" panose="020B0604020202090204" pitchFamily="34" charset="0"/>
        <a:buNone/>
        <a:defRPr sz="2800" b="true" i="false" kern="1200" baseline="0">
          <a:solidFill>
            <a:schemeClr val="bg1"/>
          </a:solidFill>
          <a:effectLst/>
          <a:latin typeface="+mn-ea"/>
          <a:ea typeface="+mn-ea"/>
          <a:cs typeface="Arial Unicode MS" panose="020B0604020202020204" charset="-122"/>
        </a:defRPr>
      </a:lvl1pPr>
    </p:titleStyle>
    <p:bodyStyle>
      <a:lvl1pPr marL="342900" indent="-34290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20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1pPr>
      <a:lvl2pPr marL="761365" indent="-28575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18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2pPr>
      <a:lvl3pPr marL="1236980" indent="-28575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16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3pPr>
      <a:lvl4pPr marL="1712595" indent="-28575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14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4pPr>
      <a:lvl5pPr marL="2073910" indent="-171450" algn="l" defTabSz="951230" rtl="false" eaLnBrk="true" latinLnBrk="false" hangingPunct="true">
        <a:spcBef>
          <a:spcPct val="20000"/>
        </a:spcBef>
        <a:buClr>
          <a:srgbClr val="00B0F0"/>
        </a:buClr>
        <a:buSzPct val="80000"/>
        <a:buFont typeface="Wingdings" panose="05000000000000000000" charset="0"/>
        <a:buChar char=""/>
        <a:defRPr sz="1200" b="false" i="false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Consolas" panose="020B0609020204030204" pitchFamily="49" charset="0"/>
        </a:defRPr>
      </a:lvl5pPr>
      <a:lvl6pPr marL="2614930" indent="-237490" algn="l" defTabSz="951230" rtl="false" eaLnBrk="true" latinLnBrk="false" hangingPunct="true">
        <a:spcBef>
          <a:spcPct val="20000"/>
        </a:spcBef>
        <a:buFont typeface="Courier New" panose="02070409020205090404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3090545" indent="-237490" algn="l" defTabSz="95123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566160" indent="-237490" algn="l" defTabSz="951230" rtl="false" eaLnBrk="true" latinLnBrk="false" hangingPunct="true">
        <a:spcBef>
          <a:spcPct val="20000"/>
        </a:spcBef>
        <a:buFont typeface="Courier New" panose="02070409020205090404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4041775" indent="-237490" algn="l" defTabSz="951230" rtl="false" eaLnBrk="true" latinLnBrk="false" hangingPunct="true">
        <a:spcBef>
          <a:spcPct val="2000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75615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5123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42621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901825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37744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853055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32867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03650" algn="l" defTabSz="951230" rtl="false" eaLnBrk="true" latinLnBrk="false" hangingPunct="true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3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6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6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17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>
              <a:buFont typeface="Arial" panose="020B0604020202090204" pitchFamily="34" charset="0"/>
              <a:buNone/>
            </a:pPr>
            <a:r>
              <a:rPr lang="zh-CN" b="true"/>
              <a:t>技术团队</a:t>
            </a:r>
            <a:r>
              <a:rPr lang="en-US" b="true"/>
              <a:t>2026</a:t>
            </a:r>
            <a:r>
              <a:rPr lang="zh-CN" b="true"/>
              <a:t>年</a:t>
            </a:r>
            <a:r>
              <a:rPr lang="en-US" b="true"/>
              <a:t>Roadmap</a:t>
            </a:r>
            <a:endParaRPr lang="zh-CN" b="true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Clr>
                <a:srgbClr val="00B0F0">
                  <a:alpha val="100000"/>
                </a:srgbClr>
              </a:buClr>
              <a:buSzPct val="80000"/>
              <a:buFont typeface="Wingdings" panose="05000000000000000000" charset="0"/>
              <a:buNone/>
            </a:pPr>
            <a:r>
              <a:rPr lang="en-US"/>
              <a:t>2025/12/12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true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Arial" panose="020B0604020202090204" pitchFamily="34" charset="0"/>
              <a:buNone/>
            </a:pPr>
            <a:r>
              <a:rPr lang="en-US"/>
              <a:t>IFP Roadmap (2026-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微软雅黑" panose="020B0503020204020204" charset="-122"/>
              </a:rPr>
              <a:t>2027</a:t>
            </a:r>
            <a:r>
              <a:rPr lang="en-US"/>
              <a:t>/E) </a:t>
            </a:r>
            <a:endParaRPr lang="zh-CN"/>
          </a:p>
        </p:txBody>
      </p:sp>
      <p:graphicFrame>
        <p:nvGraphicFramePr>
          <p:cNvPr id="6" name=""/>
          <p:cNvGraphicFramePr/>
          <p:nvPr/>
        </p:nvGraphicFramePr>
        <p:xfrm rot="0" flipH="false" flipV="false">
          <a:off x="379452" y="987987"/>
          <a:ext cx="10972800" cy="556895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155700">
                  <a:extLst>
                    <a:ext uri="{9D8B030D-6E8A-4147-A177-3AD203B41FA5}">
                      <a16:colId val="1"/>
                    </a:ext>
                  </a:extLst>
                </a:gridCol>
                <a:gridCol w="2647950">
                  <a:extLst>
                    <a:ext uri="{9D8B030D-6E8A-4147-A177-3AD203B41FA5}">
                      <a16:colId val="2"/>
                    </a:ext>
                  </a:extLst>
                </a:gridCol>
                <a:gridCol w="1695450">
                  <a:extLst>
                    <a:ext uri="{9D8B030D-6E8A-4147-A177-3AD203B41FA5}">
                      <a16:colId val="3"/>
                    </a:ext>
                  </a:extLst>
                </a:gridCol>
                <a:gridCol w="1828800">
                  <a:extLst>
                    <a:ext uri="{9D8B030D-6E8A-4147-A177-3AD203B41FA5}">
                      <a16:colId val="4"/>
                    </a:ext>
                  </a:extLst>
                </a:gridCol>
                <a:gridCol w="1822450">
                  <a:extLst>
                    <a:ext uri="{9D8B030D-6E8A-4147-A177-3AD203B41FA5}">
                      <a16:colId val="5"/>
                    </a:ext>
                  </a:extLst>
                </a:gridCol>
                <a:gridCol w="1822450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目标类别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Specific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 Measurable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Achievable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 Relevant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 Time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交付目标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创新中心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客户验收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通过客户验收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现有客户维护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/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光茂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实施部署交付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按期交付率</a:t>
                      </a:r>
                      <a:r>
                        <a:rPr lang="en-US" sz="1000"/>
                        <a:t>&gt;95%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关键客户开拓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/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永芯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实施部署交付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zh-CN" sz="1000"/>
                        <a:t>按期交付率</a:t>
                      </a:r>
                      <a:r>
                        <a:rPr lang="en-US" sz="1000"/>
                        <a:t>&gt;95%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关键客户开拓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产研目标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自研替换：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zh-CN" sz="1000"/>
                        <a:t>移动端自研（</a:t>
                      </a:r>
                      <a:r>
                        <a:rPr lang="en-US" sz="1000"/>
                        <a:t>4E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000"/>
                        <a:t>BI </a:t>
                      </a:r>
                      <a:r>
                        <a:rPr lang="zh-CN" sz="1000"/>
                        <a:t>报表替代帆软（</a:t>
                      </a:r>
                      <a:r>
                        <a:rPr lang="en-US" sz="1000"/>
                        <a:t>3E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000"/>
                        <a:t>FMB </a:t>
                      </a:r>
                      <a:r>
                        <a:rPr lang="zh-CN" sz="1000"/>
                        <a:t>替代数字冰雹、森拓扑（</a:t>
                      </a:r>
                      <a:r>
                        <a:rPr lang="en-US" sz="1000"/>
                        <a:t>6E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000"/>
                        <a:t>TD/PG </a:t>
                      </a:r>
                      <a:r>
                        <a:rPr lang="zh-CN" sz="1000"/>
                        <a:t>替代</a:t>
                      </a:r>
                      <a:r>
                        <a:rPr lang="en-US" sz="1000"/>
                        <a:t> ZeOne</a:t>
                      </a:r>
                      <a:r>
                        <a:rPr lang="zh-CN" sz="1000"/>
                        <a:t>（</a:t>
                      </a:r>
                      <a:r>
                        <a:rPr lang="en-US" sz="1000"/>
                        <a:t>3E</a:t>
                      </a:r>
                      <a:r>
                        <a:rPr lang="zh-CN" sz="1000"/>
                        <a:t>）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外采成本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减免外采费用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提升自研比例，</a:t>
                      </a:r>
                      <a:endParaRPr/>
                    </a:p>
                    <a:p>
                      <a:pPr/>
                      <a:r>
                        <a:rPr lang="zh-CN" sz="1000"/>
                        <a:t>减少对外依赖度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/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跨厂部署成本降低：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zh-CN" sz="1000"/>
                        <a:t>特征平台替代指标平台（</a:t>
                      </a:r>
                      <a:r>
                        <a:rPr lang="en-US" sz="1000"/>
                        <a:t>5E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zh-CN" sz="1000"/>
                        <a:t>业务层接入特征平台技术重构（</a:t>
                      </a:r>
                      <a:r>
                        <a:rPr lang="en-US" sz="1000"/>
                        <a:t>6E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zh-CN" sz="1000"/>
                        <a:t>基础应用层重构（</a:t>
                      </a:r>
                      <a:r>
                        <a:rPr lang="en-US" sz="1000"/>
                        <a:t>3E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000"/>
                        <a:t>FMCS </a:t>
                      </a:r>
                      <a:r>
                        <a:rPr lang="zh-CN" sz="1000"/>
                        <a:t>数据采集层（</a:t>
                      </a:r>
                      <a:r>
                        <a:rPr lang="en-US" sz="1000"/>
                        <a:t>12E</a:t>
                      </a:r>
                      <a:r>
                        <a:rPr lang="zh-CN" sz="1000"/>
                        <a:t>）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部署实施工时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减少</a:t>
                      </a:r>
                      <a:r>
                        <a:rPr lang="en-US" sz="1000"/>
                        <a:t> 20% </a:t>
                      </a:r>
                      <a:r>
                        <a:rPr lang="zh-CN" sz="1000"/>
                        <a:t>以上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增加系统部署能力，</a:t>
                      </a:r>
                      <a:endParaRPr/>
                    </a:p>
                    <a:p>
                      <a:pPr/>
                      <a:r>
                        <a:rPr lang="zh-CN" sz="1000"/>
                        <a:t>降低实施风险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/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产品竞争力增强：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000"/>
                        <a:t>AI </a:t>
                      </a:r>
                      <a:r>
                        <a:rPr lang="zh-CN" sz="1000"/>
                        <a:t>员工（</a:t>
                      </a:r>
                      <a:r>
                        <a:rPr lang="en-US" sz="1000"/>
                        <a:t>6E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zh-CN" sz="1000"/>
                        <a:t>移动端</a:t>
                      </a:r>
                      <a:r>
                        <a:rPr lang="en-US" sz="1000"/>
                        <a:t> AI </a:t>
                      </a:r>
                      <a:r>
                        <a:rPr lang="zh-CN" sz="1000"/>
                        <a:t>增强（</a:t>
                      </a:r>
                      <a:r>
                        <a:rPr lang="en-US" sz="1000"/>
                        <a:t>12E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zh-CN" sz="1000"/>
                        <a:t>商业化业务模块封装、拓展（</a:t>
                      </a:r>
                      <a:r>
                        <a:rPr lang="en-US" sz="1000"/>
                        <a:t>9E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zh-CN" sz="1000"/>
                        <a:t>算法场景拓展（</a:t>
                      </a:r>
                      <a:r>
                        <a:rPr lang="en-US" sz="1000"/>
                        <a:t>6E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indent="-342900">
                        <a:buAutoNum type="arabicPeriod"/>
                      </a:pPr>
                      <a:r>
                        <a:rPr lang="zh-CN" sz="1000"/>
                        <a:t>具身智能场景拓展（</a:t>
                      </a:r>
                      <a:r>
                        <a:rPr lang="en-US" sz="1000"/>
                        <a:t>12E</a:t>
                      </a:r>
                      <a:r>
                        <a:rPr lang="zh-CN" sz="1000"/>
                        <a:t>）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营收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增加</a:t>
                      </a:r>
                      <a:r>
                        <a:rPr lang="en-US" sz="1000"/>
                        <a:t> 10% </a:t>
                      </a:r>
                      <a:r>
                        <a:rPr lang="zh-CN" sz="1000"/>
                        <a:t>以上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增加产品价值，</a:t>
                      </a:r>
                      <a:endParaRPr/>
                    </a:p>
                    <a:p>
                      <a:pPr/>
                      <a:r>
                        <a:rPr lang="zh-CN" sz="1000"/>
                        <a:t>提升商业化的技术支撑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/>
                      <a:endParaRPr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zh-CN" sz="1000"/>
                        <a:t>增效：</a:t>
                      </a:r>
                      <a:endParaRPr/>
                    </a:p>
                    <a:p>
                      <a:pPr marL="342900" lvl="0" indent="-342900">
                        <a:buAutoNum type="arabicPeriod"/>
                      </a:pPr>
                      <a:r>
                        <a:rPr lang="zh-CN" sz="1000"/>
                        <a:t>动态表单（</a:t>
                      </a:r>
                      <a:r>
                        <a:rPr lang="en-US" sz="1000"/>
                        <a:t>6E</a:t>
                      </a:r>
                      <a:r>
                        <a:rPr lang="zh-CN" sz="1000"/>
                        <a:t>）</a:t>
                      </a:r>
                      <a:endParaRPr/>
                    </a:p>
                    <a:p>
                      <a:pPr marL="342900" lvl="0" indent="-342900">
                        <a:buAutoNum type="arabicPeriod"/>
                      </a:pPr>
                      <a:r>
                        <a:rPr lang="en-US" sz="1000"/>
                        <a:t>AI </a:t>
                      </a:r>
                      <a:r>
                        <a:rPr lang="zh-CN" sz="1000"/>
                        <a:t>辅助开发</a:t>
                      </a:r>
                      <a:endParaRPr/>
                    </a:p>
                    <a:p>
                      <a:pPr marL="342900" lvl="0" indent="-342900">
                        <a:buAutoNum type="arabicPeriod"/>
                      </a:pPr>
                      <a:r>
                        <a:rPr lang="en-US" sz="1000"/>
                        <a:t>AI </a:t>
                      </a:r>
                      <a:r>
                        <a:rPr lang="zh-CN" sz="1000"/>
                        <a:t>自动化</a:t>
                      </a:r>
                      <a:r>
                        <a:rPr lang="zh-CN" sz="1000"/>
                        <a:t>测试生成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开发工时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减少</a:t>
                      </a:r>
                      <a:r>
                        <a:rPr lang="en-US" sz="1000"/>
                        <a:t> 15% </a:t>
                      </a:r>
                      <a:r>
                        <a:rPr lang="zh-CN" sz="1000"/>
                        <a:t>以上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降低研发成本，</a:t>
                      </a:r>
                      <a:r>
                        <a:rPr lang="zh-CN" sz="1000"/>
                        <a:t>实践</a:t>
                      </a:r>
                      <a:r>
                        <a:rPr lang="en-US" sz="1000"/>
                        <a:t>AI</a:t>
                      </a:r>
                      <a:r>
                        <a:rPr lang="zh-CN" sz="1000"/>
                        <a:t>战略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知识产权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软著和专利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接收数量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软著</a:t>
                      </a:r>
                      <a:r>
                        <a:rPr lang="en-US" sz="1000"/>
                        <a:t> &gt; 20 / </a:t>
                      </a:r>
                      <a:r>
                        <a:rPr lang="zh-CN" sz="1000"/>
                        <a:t>专利</a:t>
                      </a:r>
                      <a:r>
                        <a:rPr lang="en-US" sz="1000"/>
                        <a:t> &gt; 10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建立产品壁垒，增加产品背书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9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跨部门协作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跨部门协作响应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响应时间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&lt;=1 </a:t>
                      </a:r>
                      <a:r>
                        <a:rPr lang="zh-CN" sz="1000"/>
                        <a:t>工作日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横向组织能力提升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管理目标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人才培养、稳定性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人员晋升、核心人员损失率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晋升</a:t>
                      </a:r>
                      <a:r>
                        <a:rPr lang="en-US" sz="1000"/>
                        <a:t> &gt;= 5 </a:t>
                      </a:r>
                      <a:r>
                        <a:rPr lang="zh-CN" sz="1000"/>
                        <a:t>人，流失</a:t>
                      </a:r>
                      <a:r>
                        <a:rPr lang="en-US" sz="1000"/>
                        <a:t> </a:t>
                      </a:r>
                      <a:r>
                        <a:rPr lang="en-US" sz="1000"/>
                        <a:t>&lt;= 3 </a:t>
                      </a:r>
                      <a:r>
                        <a:rPr lang="zh-CN" sz="1000"/>
                        <a:t>人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000"/>
                        <a:t>组织内部管理能力提升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000"/>
                        <a:t>2026.12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Arial" panose="020B0604020202090204" pitchFamily="34" charset="0"/>
              <a:buNone/>
            </a:pPr>
            <a:r>
              <a:rPr lang="en-US"/>
              <a:t>IFP Roadmap (2026-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微软雅黑" panose="020B0503020204020204" charset="-122"/>
              </a:rPr>
              <a:t>2027</a:t>
            </a:r>
            <a:r>
              <a:rPr lang="en-US"/>
              <a:t>/E) </a:t>
            </a:r>
            <a:endParaRPr lang="zh-CN"/>
          </a:p>
        </p:txBody>
      </p:sp>
      <p:sp>
        <p:nvSpPr>
          <p:cNvPr id="9" name=""/>
          <p:cNvSpPr/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100000"/>
          </a:bodyPr>
          <a:lstStyle/>
          <a:p>
            <a:pPr>
              <a:buClr>
                <a:srgbClr val="00B0F0">
                  <a:alpha val="100000"/>
                </a:srgbClr>
              </a:buClr>
              <a:buSzPct val="80000"/>
              <a:buFont typeface="Wingdings" panose="05000000000000000000" charset="0"/>
              <a:buChar char=""/>
            </a:pPr>
            <a:r>
              <a:rPr lang="en-US"/>
              <a:t>2026 </a:t>
            </a:r>
            <a:r>
              <a:rPr lang="zh-CN"/>
              <a:t>目标综述：</a:t>
            </a:r>
            <a:endParaRPr/>
          </a:p>
          <a:p>
            <a:pPr lvl="1">
              <a:buClr>
                <a:srgbClr val="00B0F0">
                  <a:alpha val="100000"/>
                </a:srgbClr>
              </a:buClr>
              <a:buSzPct val="80000"/>
              <a:buFont typeface="Wingdings" panose="05000000000000000000" charset="0"/>
              <a:buChar char=""/>
            </a:pPr>
            <a:r>
              <a:rPr lang="zh-CN"/>
              <a:t>对新客户（嵩山、</a:t>
            </a:r>
            <a:r>
              <a:rPr lang="en-US"/>
              <a:t>GM</a:t>
            </a:r>
            <a:r>
              <a:rPr lang="zh-CN"/>
              <a:t>）的包含新需求的场景，完成</a:t>
            </a:r>
            <a:r>
              <a:rPr lang="en-US"/>
              <a:t> "</a:t>
            </a:r>
            <a:r>
              <a:rPr lang="zh-CN"/>
              <a:t>已有产品</a:t>
            </a:r>
            <a:r>
              <a:rPr lang="en-US"/>
              <a:t>+</a:t>
            </a:r>
            <a:r>
              <a:rPr lang="zh-CN"/>
              <a:t>新增能力</a:t>
            </a:r>
            <a:r>
              <a:rPr lang="en-US"/>
              <a:t>" </a:t>
            </a:r>
            <a:r>
              <a:rPr lang="zh-CN"/>
              <a:t>实施</a:t>
            </a:r>
            <a:endParaRPr/>
          </a:p>
          <a:p>
            <a:pPr lvl="1">
              <a:buClr>
                <a:srgbClr val="00B0F0">
                  <a:alpha val="100000"/>
                </a:srgbClr>
              </a:buClr>
              <a:buSzPct val="80000"/>
              <a:buFont typeface="Wingdings" panose="05000000000000000000" charset="0"/>
              <a:buChar char=""/>
            </a:pPr>
            <a:r>
              <a:rPr lang="zh-CN"/>
              <a:t>完成产品化能力提升（组件化售卖，配置性完备等）和智能化能力提升（</a:t>
            </a:r>
            <a:r>
              <a:rPr lang="en-US"/>
              <a:t>AI</a:t>
            </a:r>
            <a:r>
              <a:rPr lang="zh-CN"/>
              <a:t>数字员工，</a:t>
            </a:r>
            <a:r>
              <a:rPr lang="en-US"/>
              <a:t>AI</a:t>
            </a:r>
            <a:r>
              <a:rPr lang="zh-CN"/>
              <a:t>化流程）</a:t>
            </a:r>
            <a:endParaRPr/>
          </a:p>
          <a:p>
            <a:pPr lvl="1">
              <a:buClr>
                <a:srgbClr val="00B0F0">
                  <a:alpha val="100000"/>
                </a:srgbClr>
              </a:buClr>
              <a:buSzPct val="80000"/>
              <a:buFont typeface="Wingdings" panose="05000000000000000000" charset="0"/>
              <a:buChar char=""/>
            </a:pPr>
            <a:r>
              <a:rPr lang="zh-CN"/>
              <a:t>完成三方系统自研替换（除</a:t>
            </a:r>
            <a:r>
              <a:rPr lang="en-US"/>
              <a:t>SCADA</a:t>
            </a:r>
            <a:r>
              <a:rPr lang="zh-CN"/>
              <a:t>系统）</a:t>
            </a:r>
            <a:endParaRPr/>
          </a:p>
          <a:p>
            <a:pPr lvl="1">
              <a:buClr>
                <a:srgbClr val="00B0F0">
                  <a:alpha val="100000"/>
                </a:srgbClr>
              </a:buClr>
              <a:buSzPct val="80000"/>
              <a:buFont typeface="Wingdings" panose="05000000000000000000" charset="0"/>
              <a:buChar char=""/>
            </a:pPr>
            <a:endParaRPr lang="en-US"/>
          </a:p>
          <a:p>
            <a:pPr>
              <a:buClr>
                <a:srgbClr val="00B0F0">
                  <a:alpha val="100000"/>
                </a:srgbClr>
              </a:buClr>
              <a:buSzPct val="80000"/>
              <a:buFont typeface="Wingdings" panose="05000000000000000000" charset="0"/>
              <a:buChar char=""/>
            </a:pPr>
            <a:r>
              <a:rPr lang="zh-CN"/>
              <a:t>关键</a:t>
            </a:r>
            <a:r>
              <a:rPr lang="zh-CN" b="true">
                <a:solidFill>
                  <a:srgbClr val="9E1E1A">
                    <a:alpha val="100000"/>
                  </a:srgbClr>
                </a:solidFill>
              </a:rPr>
              <a:t>应用组件</a:t>
            </a:r>
            <a:r>
              <a:rPr lang="zh-CN"/>
              <a:t>描述：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false" flipV="false">
            <a:off x="1030920" y="3728999"/>
            <a:ext cx="1338146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四科运维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false" flipV="false">
            <a:off x="2722188" y="4181243"/>
            <a:ext cx="1338146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孪生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/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可视化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false" flipV="false">
            <a:off x="1024725" y="4652072"/>
            <a:ext cx="1338146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设备管理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false" flipV="false">
            <a:off x="1012335" y="5122901"/>
            <a:ext cx="1338146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资源管理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false" flipV="false">
            <a:off x="1012335" y="5568950"/>
            <a:ext cx="1338146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能源双碳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false" flipV="false">
            <a:off x="2709798" y="3722804"/>
            <a:ext cx="1350536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Fab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机台查询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false" flipV="false">
            <a:off x="1012335" y="4181243"/>
            <a:ext cx="1356730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HSE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（消防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/ERC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）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false" flipV="false">
            <a:off x="2722188" y="4645877"/>
            <a:ext cx="1350518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PID&amp;Topo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false" flipV="false">
            <a:off x="2709798" y="5122901"/>
            <a:ext cx="1362907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指标平台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false" flipV="false">
            <a:off x="4772773" y="4652072"/>
            <a:ext cx="1616926" cy="297365"/>
          </a:xfrm>
          <a:prstGeom prst="flowChartAlternateProcess">
            <a:avLst/>
          </a:prstGeom>
          <a:solidFill>
            <a:srgbClr val="9E1E1A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森拓扑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 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PID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false" flipV="false">
            <a:off x="2709798" y="5568950"/>
            <a:ext cx="1362907" cy="297365"/>
          </a:xfrm>
          <a:prstGeom prst="flowChartAlternateProcess">
            <a:avLst/>
          </a:prstGeom>
          <a:solidFill>
            <a:srgbClr val="184E32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PMS(EES+)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false" flipV="false">
            <a:off x="2697408" y="6064560"/>
            <a:ext cx="1375298" cy="297365"/>
          </a:xfrm>
          <a:prstGeom prst="flowChartAlternateProcess">
            <a:avLst/>
          </a:prstGeom>
          <a:solidFill>
            <a:srgbClr val="184E32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FFP(MES+)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false" flipV="false">
            <a:off x="4766578" y="4175048"/>
            <a:ext cx="1616926" cy="297365"/>
          </a:xfrm>
          <a:prstGeom prst="flowChartAlternateProcess">
            <a:avLst/>
          </a:prstGeom>
          <a:solidFill>
            <a:srgbClr val="9E1E1A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数字冰雹大屏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false" flipV="false">
            <a:off x="6791377" y="4584314"/>
            <a:ext cx="1616926" cy="297365"/>
          </a:xfrm>
          <a:prstGeom prst="flowChartAlternateProcess">
            <a:avLst/>
          </a:prstGeom>
          <a:solidFill>
            <a:srgbClr val="9E1E1A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帆软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false" flipV="false">
            <a:off x="4772773" y="5568950"/>
            <a:ext cx="1610731" cy="297365"/>
          </a:xfrm>
          <a:prstGeom prst="flowChartAlternateProcess">
            <a:avLst/>
          </a:prstGeom>
          <a:solidFill>
            <a:srgbClr val="184E32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FMB(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技术研发部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)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false" flipV="false">
            <a:off x="4574530" y="4001584"/>
            <a:ext cx="2001023" cy="1121317"/>
          </a:xfrm>
          <a:prstGeom prst="rect">
            <a:avLst/>
          </a:prstGeom>
          <a:noFill/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cxnSp>
        <p:nvCxnSpPr>
          <p:cNvPr id="26" name=""/>
          <p:cNvCxnSpPr>
            <a:stCxn id="25" idx="2"/>
            <a:endCxn id="24" idx="0"/>
          </p:cNvCxnSpPr>
          <p:nvPr/>
        </p:nvCxnSpPr>
        <p:spPr>
          <a:xfrm rot="0" flipH="false" flipV="false">
            <a:off x="5575042" y="5122901"/>
            <a:ext cx="3096" cy="446049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27" name=""/>
          <p:cNvSpPr/>
          <p:nvPr/>
        </p:nvSpPr>
        <p:spPr>
          <a:xfrm rot="0" flipH="false" flipV="false">
            <a:off x="6791377" y="5439629"/>
            <a:ext cx="1610731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动态表单</a:t>
            </a:r>
            <a:endParaRPr/>
          </a:p>
        </p:txBody>
      </p:sp>
      <p:cxnSp>
        <p:nvCxnSpPr>
          <p:cNvPr id="28" name=""/>
          <p:cNvCxnSpPr>
            <a:stCxn id="23" idx="2"/>
            <a:endCxn id="29" idx="0"/>
          </p:cNvCxnSpPr>
          <p:nvPr/>
        </p:nvCxnSpPr>
        <p:spPr>
          <a:xfrm rot="0" flipH="true" flipV="false">
            <a:off x="7596743" y="4881679"/>
            <a:ext cx="3097" cy="166881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29" name=""/>
          <p:cNvSpPr/>
          <p:nvPr/>
        </p:nvSpPr>
        <p:spPr>
          <a:xfrm rot="0" flipH="false" flipV="false">
            <a:off x="6791377" y="5048561"/>
            <a:ext cx="1610731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BI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平台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false" flipV="false">
            <a:off x="8772809" y="4162658"/>
            <a:ext cx="1616926" cy="297365"/>
          </a:xfrm>
          <a:prstGeom prst="flowChartAlternateProcess">
            <a:avLst/>
          </a:prstGeom>
          <a:solidFill>
            <a:srgbClr val="9E1E1A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SCADA/FMCS</a:t>
            </a:r>
            <a:endParaRPr/>
          </a:p>
        </p:txBody>
      </p:sp>
      <p:sp>
        <p:nvSpPr>
          <p:cNvPr id="31" name="五边形 121"/>
          <p:cNvSpPr/>
          <p:nvPr/>
        </p:nvSpPr>
        <p:spPr>
          <a:xfrm rot="0" flipH="false" flipV="false">
            <a:off x="1024725" y="3308350"/>
            <a:ext cx="4772868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  <a:sym typeface="微软雅黑"/>
              </a:rPr>
              <a:t>2025</a:t>
            </a:r>
            <a:endParaRPr/>
          </a:p>
        </p:txBody>
      </p:sp>
      <p:sp>
        <p:nvSpPr>
          <p:cNvPr id="32" name="五边形 153"/>
          <p:cNvSpPr/>
          <p:nvPr/>
        </p:nvSpPr>
        <p:spPr>
          <a:xfrm rot="0" flipH="false" flipV="false">
            <a:off x="5918871" y="3307572"/>
            <a:ext cx="2502828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  <a:sym typeface="微软雅黑"/>
              </a:rPr>
              <a:t>2026</a:t>
            </a:r>
            <a:endParaRPr/>
          </a:p>
        </p:txBody>
      </p:sp>
      <p:sp>
        <p:nvSpPr>
          <p:cNvPr id="33" name="五边形 6"/>
          <p:cNvSpPr/>
          <p:nvPr/>
        </p:nvSpPr>
        <p:spPr>
          <a:xfrm rot="0" flipH="false" flipV="false">
            <a:off x="8556809" y="3307572"/>
            <a:ext cx="2527300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00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  <a:sym typeface="微软雅黑"/>
              </a:rPr>
              <a:t>2027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false" flipV="false">
            <a:off x="10980286" y="5550365"/>
            <a:ext cx="772896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自有模块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false" flipV="false">
            <a:off x="10980286" y="5922072"/>
            <a:ext cx="805346" cy="297365"/>
          </a:xfrm>
          <a:prstGeom prst="flowChartAlternateProcess">
            <a:avLst/>
          </a:prstGeom>
          <a:solidFill>
            <a:srgbClr val="184E32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公司能力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false" flipV="false">
            <a:off x="10980286" y="6287585"/>
            <a:ext cx="842535" cy="297365"/>
          </a:xfrm>
          <a:prstGeom prst="flowChartAlternateProcess">
            <a:avLst/>
          </a:prstGeom>
          <a:solidFill>
            <a:srgbClr val="9E1E1A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外部能力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false" flipV="false">
            <a:off x="8847150" y="5531780"/>
            <a:ext cx="1610731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数采平台</a:t>
            </a:r>
            <a:endParaRPr/>
          </a:p>
        </p:txBody>
      </p:sp>
      <p:cxnSp>
        <p:nvCxnSpPr>
          <p:cNvPr id="38" name=""/>
          <p:cNvCxnSpPr/>
          <p:nvPr/>
        </p:nvCxnSpPr>
        <p:spPr>
          <a:xfrm rot="0" flipH="false" flipV="false">
            <a:off x="9618442" y="4466218"/>
            <a:ext cx="26792" cy="1090342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39" name=""/>
          <p:cNvSpPr/>
          <p:nvPr/>
        </p:nvSpPr>
        <p:spPr>
          <a:xfrm rot="0" flipH="false" flipV="false">
            <a:off x="6791377" y="3728999"/>
            <a:ext cx="1616926" cy="297365"/>
          </a:xfrm>
          <a:prstGeom prst="flowChartAlternateProcess">
            <a:avLst/>
          </a:prstGeom>
          <a:solidFill>
            <a:srgbClr val="9E1E1A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ZeOne(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时序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DB)</a:t>
            </a:r>
            <a:endParaRPr/>
          </a:p>
        </p:txBody>
      </p:sp>
      <p:cxnSp>
        <p:nvCxnSpPr>
          <p:cNvPr id="40" name=""/>
          <p:cNvCxnSpPr/>
          <p:nvPr/>
        </p:nvCxnSpPr>
        <p:spPr>
          <a:xfrm rot="0" flipH="false" flipV="false">
            <a:off x="7600381" y="4032869"/>
            <a:ext cx="0" cy="218517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41" name=""/>
          <p:cNvSpPr/>
          <p:nvPr/>
        </p:nvSpPr>
        <p:spPr>
          <a:xfrm rot="0" flipH="false" flipV="false">
            <a:off x="6810968" y="4219191"/>
            <a:ext cx="1610731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 sz="1200">
                <a:solidFill>
                  <a:srgbClr val="FFFFFF">
                    <a:alpha val="100000"/>
                  </a:srgbClr>
                </a:solidFill>
              </a:rPr>
              <a:t>TD/PG 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时序模块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false" flipV="false">
            <a:off x="1018530" y="6058365"/>
            <a:ext cx="1338146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知识管理考核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false" flipV="false">
            <a:off x="6785182" y="5847730"/>
            <a:ext cx="1616926" cy="297365"/>
          </a:xfrm>
          <a:prstGeom prst="flowChartAlternateProcess">
            <a:avLst/>
          </a:prstGeom>
          <a:solidFill>
            <a:srgbClr val="9E1E1A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移动端外包</a:t>
            </a:r>
            <a:endParaRPr/>
          </a:p>
        </p:txBody>
      </p:sp>
      <p:cxnSp>
        <p:nvCxnSpPr>
          <p:cNvPr id="44" name=""/>
          <p:cNvCxnSpPr/>
          <p:nvPr/>
        </p:nvCxnSpPr>
        <p:spPr>
          <a:xfrm rot="0" flipH="false" flipV="false">
            <a:off x="7593645" y="6126166"/>
            <a:ext cx="0" cy="218517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45" name=""/>
          <p:cNvSpPr/>
          <p:nvPr/>
        </p:nvSpPr>
        <p:spPr>
          <a:xfrm rot="0" flipH="false" flipV="false">
            <a:off x="6797572" y="6344683"/>
            <a:ext cx="1610731" cy="297365"/>
          </a:xfrm>
          <a:prstGeom prst="flowChartAlternateProcess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200">
                <a:solidFill>
                  <a:srgbClr val="FFFFFF">
                    <a:alpha val="100000"/>
                  </a:srgbClr>
                </a:solidFill>
              </a:rPr>
              <a:t>移动端自研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内容占位符 3"/>
          <p:cNvGraphicFramePr/>
          <p:nvPr>
            <p:ph idx="1"/>
          </p:nvPr>
        </p:nvGraphicFramePr>
        <p:xfrm>
          <a:off x="1438148" y="2067891"/>
          <a:ext cx="10241280" cy="495300"/>
        </p:xfrm>
        <a:graphic>
          <a:graphicData uri="http://schemas.openxmlformats.org/drawingml/2006/table">
            <a:tbl>
              <a:tblPr firstRow="true" bandRow="true">
                <a:tableStyleId>{2D5ABB26-0587-4C30-8999-92F81FD0307C}</a:tableStyleId>
              </a:tblPr>
              <a:tblGrid>
                <a:gridCol w="426720">
                  <a:extLst>
                    <a:ext uri="{9D8B030D-6E8A-4147-A177-3AD203B41FA5}">
                      <a16:colId val="1"/>
                    </a:ext>
                  </a:extLst>
                </a:gridCol>
                <a:gridCol w="426720">
                  <a:extLst>
                    <a:ext uri="{9D8B030D-6E8A-4147-A177-3AD203B41FA5}">
                      <a16:colId val="2"/>
                    </a:ext>
                  </a:extLst>
                </a:gridCol>
                <a:gridCol w="426720">
                  <a:extLst>
                    <a:ext uri="{9D8B030D-6E8A-4147-A177-3AD203B41FA5}">
                      <a16:colId val="3"/>
                    </a:ext>
                  </a:extLst>
                </a:gridCol>
                <a:gridCol w="426720">
                  <a:extLst>
                    <a:ext uri="{9D8B030D-6E8A-4147-A177-3AD203B41FA5}">
                      <a16:colId val="4"/>
                    </a:ext>
                  </a:extLst>
                </a:gridCol>
                <a:gridCol w="426720">
                  <a:extLst>
                    <a:ext uri="{9D8B030D-6E8A-4147-A177-3AD203B41FA5}">
                      <a16:colId val="5"/>
                    </a:ext>
                  </a:extLst>
                </a:gridCol>
                <a:gridCol w="426720">
                  <a:extLst>
                    <a:ext uri="{9D8B030D-6E8A-4147-A177-3AD203B41FA5}">
                      <a16:colId val="6"/>
                    </a:ext>
                  </a:extLst>
                </a:gridCol>
                <a:gridCol w="426720">
                  <a:extLst>
                    <a:ext uri="{9D8B030D-6E8A-4147-A177-3AD203B41FA5}">
                      <a16:colId val="7"/>
                    </a:ext>
                  </a:extLst>
                </a:gridCol>
                <a:gridCol w="426720">
                  <a:extLst>
                    <a:ext uri="{9D8B030D-6E8A-4147-A177-3AD203B41FA5}">
                      <a16:colId val="8"/>
                    </a:ext>
                  </a:extLst>
                </a:gridCol>
                <a:gridCol w="426720">
                  <a:extLst>
                    <a:ext uri="{9D8B030D-6E8A-4147-A177-3AD203B41FA5}">
                      <a16:colId val="9"/>
                    </a:ext>
                  </a:extLst>
                </a:gridCol>
                <a:gridCol w="426720">
                  <a:extLst>
                    <a:ext uri="{9D8B030D-6E8A-4147-A177-3AD203B41FA5}">
                      <a16:colId val="10"/>
                    </a:ext>
                  </a:extLst>
                </a:gridCol>
                <a:gridCol w="426720">
                  <a:extLst>
                    <a:ext uri="{9D8B030D-6E8A-4147-A177-3AD203B41FA5}">
                      <a16:colId val="11"/>
                    </a:ext>
                  </a:extLst>
                </a:gridCol>
                <a:gridCol w="426720">
                  <a:extLst>
                    <a:ext uri="{9D8B030D-6E8A-4147-A177-3AD203B41FA5}">
                      <a16:colId val="12"/>
                    </a:ext>
                  </a:extLst>
                </a:gridCol>
                <a:gridCol w="426720">
                  <a:extLst>
                    <a:ext uri="{9D8B030D-6E8A-4147-A177-3AD203B41FA5}">
                      <a16:colId val="13"/>
                    </a:ext>
                  </a:extLst>
                </a:gridCol>
                <a:gridCol w="426720">
                  <a:extLst>
                    <a:ext uri="{9D8B030D-6E8A-4147-A177-3AD203B41FA5}">
                      <a16:colId val="14"/>
                    </a:ext>
                  </a:extLst>
                </a:gridCol>
                <a:gridCol w="426720">
                  <a:extLst>
                    <a:ext uri="{9D8B030D-6E8A-4147-A177-3AD203B41FA5}">
                      <a16:colId val="15"/>
                    </a:ext>
                  </a:extLst>
                </a:gridCol>
                <a:gridCol w="426720">
                  <a:extLst>
                    <a:ext uri="{9D8B030D-6E8A-4147-A177-3AD203B41FA5}">
                      <a16:colId val="16"/>
                    </a:ext>
                  </a:extLst>
                </a:gridCol>
                <a:gridCol w="426720">
                  <a:extLst>
                    <a:ext uri="{9D8B030D-6E8A-4147-A177-3AD203B41FA5}">
                      <a16:colId val="17"/>
                    </a:ext>
                  </a:extLst>
                </a:gridCol>
                <a:gridCol w="426720">
                  <a:extLst>
                    <a:ext uri="{9D8B030D-6E8A-4147-A177-3AD203B41FA5}">
                      <a16:colId val="18"/>
                    </a:ext>
                  </a:extLst>
                </a:gridCol>
                <a:gridCol w="426720">
                  <a:extLst>
                    <a:ext uri="{9D8B030D-6E8A-4147-A177-3AD203B41FA5}">
                      <a16:colId val="19"/>
                    </a:ext>
                  </a:extLst>
                </a:gridCol>
                <a:gridCol w="426720">
                  <a:extLst>
                    <a:ext uri="{9D8B030D-6E8A-4147-A177-3AD203B41FA5}">
                      <a16:colId val="20"/>
                    </a:ext>
                  </a:extLst>
                </a:gridCol>
                <a:gridCol w="426720">
                  <a:extLst>
                    <a:ext uri="{9D8B030D-6E8A-4147-A177-3AD203B41FA5}">
                      <a16:colId val="21"/>
                    </a:ext>
                  </a:extLst>
                </a:gridCol>
                <a:gridCol w="426720">
                  <a:extLst>
                    <a:ext uri="{9D8B030D-6E8A-4147-A177-3AD203B41FA5}">
                      <a16:colId val="22"/>
                    </a:ext>
                  </a:extLst>
                </a:gridCol>
                <a:gridCol w="426720">
                  <a:extLst>
                    <a:ext uri="{9D8B030D-6E8A-4147-A177-3AD203B41FA5}">
                      <a16:colId val="23"/>
                    </a:ext>
                  </a:extLst>
                </a:gridCol>
                <a:gridCol w="426720">
                  <a:extLst>
                    <a:ext uri="{9D8B030D-6E8A-4147-A177-3AD203B41FA5}">
                      <a16:colId val="24"/>
                    </a:ext>
                  </a:extLst>
                </a:gridCol>
              </a:tblGrid>
              <a:tr h="160077">
                <a:tc gridSpan="12">
                  <a:txBody>
                    <a:bodyPr/>
                    <a:lstStyle/>
                    <a:p>
                      <a:pPr algn="ctr"/>
                      <a:r>
                        <a:rPr lang="en-US" altLang="zh-CN" sz="1050" b="true" dirty="false"/>
                        <a:t>Y2026</a:t>
                      </a:r>
                      <a:endParaRPr lang="zh-CN" altLang="en-US" sz="1050" b="tru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altLang="zh-CN" sz="1050" b="true" dirty="false"/>
                        <a:t>Y2027</a:t>
                      </a:r>
                      <a:endParaRPr lang="zh-CN" altLang="en-US" sz="1050" b="tru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tc hMerge="true">
                  <a:txBody>
                    <a:bodyPr/>
                    <a:lstStyle/>
                    <a:p>
                      <a:pPr/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144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01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02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03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04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05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06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07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08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09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10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11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12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01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02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03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04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05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06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07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08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09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10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11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false" dirty="false"/>
                        <a:t>12</a:t>
                      </a:r>
                      <a:endParaRPr lang="zh-CN" altLang="en-US" sz="1000" b="false" dirty="fals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</a:tbl>
          </a:graphicData>
        </a:graphic>
      </p:graphicFrame>
      <p:cxnSp>
        <p:nvCxnSpPr>
          <p:cNvPr id="48" name="直接箭头连接符 25"/>
          <p:cNvCxnSpPr/>
          <p:nvPr/>
        </p:nvCxnSpPr>
        <p:spPr>
          <a:xfrm rot="0" flipH="false" flipV="true">
            <a:off x="2725759" y="1891439"/>
            <a:ext cx="0" cy="365772"/>
          </a:xfrm>
          <a:prstGeom prst="straightConnector1">
            <a:avLst/>
          </a:prstGeom>
          <a:ln w="15875">
            <a:solidFill>
              <a:srgbClr val="319B62">
                <a:alpha val="100000"/>
              </a:srgbClr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49" name="标题 1"/>
          <p:cNvSpPr>
            <a:spLocks noGrp="true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Font typeface="Arial" panose="020B0604020202090204" pitchFamily="34" charset="0"/>
              <a:buNone/>
            </a:pPr>
            <a:r>
              <a:rPr lang="en-US"/>
              <a:t>IFP Roadmap (2026-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微软雅黑" panose="020B0503020204020204" charset="-122"/>
              </a:rPr>
              <a:t>2027</a:t>
            </a:r>
            <a:r>
              <a:rPr lang="en-US"/>
              <a:t>/E) </a:t>
            </a:r>
            <a:endParaRPr lang="zh-CN"/>
          </a:p>
        </p:txBody>
      </p:sp>
      <p:sp>
        <p:nvSpPr>
          <p:cNvPr id="50" name="文本框 82"/>
          <p:cNvSpPr txBox="true"/>
          <p:nvPr/>
        </p:nvSpPr>
        <p:spPr>
          <a:xfrm>
            <a:off x="524510" y="4292600"/>
            <a:ext cx="759460" cy="30899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zh-CN" altLang="en-US" sz="1200" b="true" dirty="false">
                <a:latin typeface="+mn-ea"/>
                <a:ea typeface="+mn-ea"/>
              </a:rPr>
              <a:t>产品化</a:t>
            </a:r>
            <a:endParaRPr/>
          </a:p>
        </p:txBody>
      </p:sp>
      <p:cxnSp>
        <p:nvCxnSpPr>
          <p:cNvPr id="51" name="直接连接符 114"/>
          <p:cNvCxnSpPr/>
          <p:nvPr/>
        </p:nvCxnSpPr>
        <p:spPr>
          <a:xfrm>
            <a:off x="1435608" y="2692362"/>
            <a:ext cx="1024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五边形 73"/>
          <p:cNvSpPr/>
          <p:nvPr/>
        </p:nvSpPr>
        <p:spPr>
          <a:xfrm>
            <a:off x="1414898" y="4937162"/>
            <a:ext cx="1238250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en-US" altLang="zh-CN" sz="1000" dirty="false">
                <a:solidFill>
                  <a:schemeClr val="tx1"/>
                </a:solidFill>
                <a:latin typeface="+mn-ea"/>
                <a:sym typeface="+mn-ea"/>
              </a:rPr>
              <a:t>3D</a:t>
            </a:r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可视化</a:t>
            </a:r>
            <a:endParaRPr kumimoji="true" lang="zh-CN" altLang="en-US" sz="1000" b="false" i="false" dirty="false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五边形 77"/>
          <p:cNvSpPr/>
          <p:nvPr/>
        </p:nvSpPr>
        <p:spPr>
          <a:xfrm>
            <a:off x="2715895" y="4619662"/>
            <a:ext cx="1243330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动态表单</a:t>
            </a:r>
            <a:endParaRPr kumimoji="true" lang="zh-CN" altLang="en-US" sz="1000" b="false" i="false" dirty="false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五边形 121"/>
          <p:cNvSpPr/>
          <p:nvPr/>
        </p:nvSpPr>
        <p:spPr>
          <a:xfrm>
            <a:off x="1414145" y="2781935"/>
            <a:ext cx="2580005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新项目厂内部署</a:t>
            </a:r>
            <a:endParaRPr/>
          </a:p>
        </p:txBody>
      </p:sp>
      <p:sp>
        <p:nvSpPr>
          <p:cNvPr id="55" name="五边形 149"/>
          <p:cNvSpPr/>
          <p:nvPr/>
        </p:nvSpPr>
        <p:spPr>
          <a:xfrm>
            <a:off x="7958455" y="4603862"/>
            <a:ext cx="1157605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功能</a:t>
            </a:r>
            <a:r>
              <a:rPr kumimoji="true" lang="en-US" altLang="zh-CN" sz="1000" b="false" i="false" dirty="false">
                <a:solidFill>
                  <a:schemeClr val="tx1"/>
                </a:solidFill>
                <a:latin typeface="+mn-ea"/>
              </a:rPr>
              <a:t>&amp;</a:t>
            </a:r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性能优化</a:t>
            </a:r>
            <a:endParaRPr/>
          </a:p>
        </p:txBody>
      </p:sp>
      <p:sp>
        <p:nvSpPr>
          <p:cNvPr id="56" name="文本框 150"/>
          <p:cNvSpPr txBox="true"/>
          <p:nvPr/>
        </p:nvSpPr>
        <p:spPr>
          <a:xfrm>
            <a:off x="5340349" y="4652010"/>
            <a:ext cx="1677041" cy="484505"/>
          </a:xfrm>
          <a:prstGeom prst="rect">
            <a:avLst/>
          </a:prstGeom>
          <a:noFill/>
        </p:spPr>
        <p:txBody>
          <a:bodyPr wrap="square" lIns="0" tIns="0" rIns="0" bIns="0" numCol="2" anchor="t">
            <a:spAutoFit/>
          </a:bodyPr>
          <a:lstStyle/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700" dirty="false">
                <a:latin typeface="+mn-ea"/>
                <a:ea typeface="+mn-ea"/>
                <a:sym typeface="+mn-ea"/>
              </a:rPr>
              <a:t>S7</a:t>
            </a:r>
            <a:r>
              <a:rPr lang="zh-CN" altLang="en-US" sz="700" dirty="false">
                <a:latin typeface="+mn-ea"/>
                <a:ea typeface="+mn-ea"/>
                <a:sym typeface="+mn-ea"/>
              </a:rPr>
              <a:t>接入</a:t>
            </a:r>
            <a:endParaRPr/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700" dirty="false">
                <a:latin typeface="+mn-ea"/>
                <a:ea typeface="+mn-ea"/>
                <a:sym typeface="+mn-ea"/>
              </a:rPr>
              <a:t>ModBus</a:t>
            </a:r>
            <a:r>
              <a:rPr lang="zh-CN" altLang="en-US" sz="700" dirty="false">
                <a:latin typeface="+mn-ea"/>
                <a:ea typeface="+mn-ea"/>
                <a:sym typeface="+mn-ea"/>
              </a:rPr>
              <a:t>接入</a:t>
            </a:r>
            <a:endParaRPr/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700" dirty="false">
                <a:latin typeface="+mn-ea"/>
                <a:ea typeface="+mn-ea"/>
                <a:sym typeface="+mn-ea"/>
              </a:rPr>
              <a:t>mqtt</a:t>
            </a:r>
            <a:r>
              <a:rPr lang="zh-CN" altLang="en-US" sz="700" dirty="false">
                <a:latin typeface="+mn-ea"/>
                <a:ea typeface="+mn-ea"/>
                <a:sym typeface="+mn-ea"/>
              </a:rPr>
              <a:t>接入</a:t>
            </a:r>
            <a:endParaRPr lang="en-US" altLang="zh-CN" sz="700" dirty="false">
              <a:latin typeface="+mn-ea"/>
              <a:ea typeface="+mn-ea"/>
              <a:sym typeface="+mn-ea"/>
            </a:endParaRPr>
          </a:p>
        </p:txBody>
      </p:sp>
      <p:sp>
        <p:nvSpPr>
          <p:cNvPr id="57" name="五边形 153"/>
          <p:cNvSpPr/>
          <p:nvPr/>
        </p:nvSpPr>
        <p:spPr>
          <a:xfrm>
            <a:off x="4022090" y="2781935"/>
            <a:ext cx="2522855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新厂客户定制化</a:t>
            </a:r>
            <a:endParaRPr/>
          </a:p>
        </p:txBody>
      </p:sp>
      <p:sp>
        <p:nvSpPr>
          <p:cNvPr id="58" name="文本框 154"/>
          <p:cNvSpPr txBox="true"/>
          <p:nvPr/>
        </p:nvSpPr>
        <p:spPr>
          <a:xfrm>
            <a:off x="3359785" y="3501390"/>
            <a:ext cx="1098964" cy="357505"/>
          </a:xfrm>
          <a:prstGeom prst="rect">
            <a:avLst/>
          </a:prstGeom>
          <a:noFill/>
        </p:spPr>
        <p:txBody>
          <a:bodyPr wrap="square" lIns="0" tIns="0" rIns="0" bIns="0" numCol="1" anchor="t">
            <a:no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700" dirty="false">
                <a:latin typeface="+mn-ea"/>
                <a:ea typeface="+mn-ea"/>
                <a:sym typeface="+mn-ea"/>
              </a:rPr>
              <a:t>AI </a:t>
            </a:r>
            <a:r>
              <a:rPr lang="zh-CN" altLang="en-US" sz="700" dirty="false">
                <a:latin typeface="+mn-ea"/>
                <a:ea typeface="+mn-ea"/>
                <a:sym typeface="+mn-ea"/>
              </a:rPr>
              <a:t>监控运营流程</a:t>
            </a:r>
            <a:endParaRPr/>
          </a:p>
          <a:p>
            <a:pPr marL="171450" lvl="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700" dirty="false">
                <a:latin typeface="+mn-ea"/>
                <a:ea typeface="+mn-ea"/>
                <a:sym typeface="+mn-ea"/>
              </a:rPr>
              <a:t>AI </a:t>
            </a:r>
            <a:r>
              <a:rPr lang="zh-CN" altLang="en-US" sz="700" dirty="false">
                <a:latin typeface="+mn-ea"/>
                <a:ea typeface="+mn-ea"/>
                <a:sym typeface="+mn-ea"/>
              </a:rPr>
              <a:t>反馈</a:t>
            </a:r>
            <a:endParaRPr/>
          </a:p>
        </p:txBody>
      </p:sp>
      <p:sp>
        <p:nvSpPr>
          <p:cNvPr id="59" name="文本框 155"/>
          <p:cNvSpPr txBox="true"/>
          <p:nvPr/>
        </p:nvSpPr>
        <p:spPr>
          <a:xfrm>
            <a:off x="4224020" y="3501390"/>
            <a:ext cx="1197610" cy="343535"/>
          </a:xfrm>
          <a:prstGeom prst="rect">
            <a:avLst/>
          </a:prstGeom>
          <a:noFill/>
        </p:spPr>
        <p:txBody>
          <a:bodyPr wrap="square" lIns="0" tIns="0" rIns="0" bIns="0" numCol="1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700">
                <a:latin typeface="微软雅黑"/>
                <a:ea typeface="微软雅黑"/>
                <a:sym typeface="微软雅黑"/>
              </a:rPr>
              <a:t>PLC </a:t>
            </a:r>
            <a:r>
              <a:rPr lang="zh-CN" sz="700">
                <a:latin typeface="微软雅黑"/>
                <a:ea typeface="微软雅黑"/>
                <a:sym typeface="微软雅黑"/>
              </a:rPr>
              <a:t>数采</a:t>
            </a:r>
            <a:r>
              <a:rPr lang="zh-CN" sz="700">
                <a:latin typeface="微软雅黑"/>
                <a:ea typeface="微软雅黑"/>
                <a:sym typeface="微软雅黑"/>
              </a:rPr>
              <a:t>厂内验证</a:t>
            </a:r>
            <a:endParaRPr/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sz="700">
                <a:latin typeface="微软雅黑"/>
                <a:ea typeface="微软雅黑"/>
                <a:sym typeface="微软雅黑"/>
              </a:rPr>
              <a:t>多</a:t>
            </a:r>
            <a:r>
              <a:rPr lang="en-US" sz="700">
                <a:latin typeface="微软雅黑"/>
                <a:ea typeface="微软雅黑"/>
                <a:sym typeface="微软雅黑"/>
              </a:rPr>
              <a:t>SCADA</a:t>
            </a:r>
            <a:r>
              <a:rPr lang="zh-CN" sz="700">
                <a:latin typeface="微软雅黑"/>
                <a:ea typeface="微软雅黑"/>
                <a:sym typeface="微软雅黑"/>
              </a:rPr>
              <a:t>系统数采兼容</a:t>
            </a:r>
            <a:endParaRPr/>
          </a:p>
        </p:txBody>
      </p:sp>
      <p:sp>
        <p:nvSpPr>
          <p:cNvPr id="60" name="五边形 163"/>
          <p:cNvSpPr/>
          <p:nvPr/>
        </p:nvSpPr>
        <p:spPr>
          <a:xfrm>
            <a:off x="3143885" y="5691505"/>
            <a:ext cx="3379470" cy="203835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移动端</a:t>
            </a:r>
            <a:r>
              <a:rPr kumimoji="true" lang="en-US" altLang="zh-CN" sz="1000" dirty="false">
                <a:solidFill>
                  <a:schemeClr val="tx1"/>
                </a:solidFill>
                <a:latin typeface="+mn-ea"/>
                <a:sym typeface="+mn-ea"/>
              </a:rPr>
              <a:t>v2.0</a:t>
            </a:r>
            <a:endParaRPr/>
          </a:p>
        </p:txBody>
      </p:sp>
      <p:sp>
        <p:nvSpPr>
          <p:cNvPr id="61" name="文本框 4"/>
          <p:cNvSpPr txBox="true"/>
          <p:nvPr/>
        </p:nvSpPr>
        <p:spPr>
          <a:xfrm>
            <a:off x="5520055" y="3391535"/>
            <a:ext cx="1807728" cy="646331"/>
          </a:xfrm>
          <a:prstGeom prst="rect">
            <a:avLst/>
          </a:prstGeom>
          <a:noFill/>
        </p:spPr>
        <p:txBody>
          <a:bodyPr wrap="square" lIns="0" tIns="0" rIns="0" bIns="0" numCol="2" anchor="t">
            <a:spAutoFit/>
          </a:bodyPr>
          <a:lstStyle/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700" dirty="false">
                <a:latin typeface="+mn-ea"/>
                <a:ea typeface="+mn-ea"/>
                <a:sym typeface="+mn-ea"/>
              </a:rPr>
              <a:t>备件、工单、耗材等功能迭代与优化</a:t>
            </a:r>
            <a:endParaRPr lang="en-US" altLang="zh-CN" sz="700" dirty="false">
              <a:latin typeface="+mn-ea"/>
              <a:ea typeface="+mn-ea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700" dirty="false">
                <a:latin typeface="+mn-ea"/>
                <a:ea typeface="+mn-ea"/>
                <a:sym typeface="+mn-ea"/>
              </a:rPr>
              <a:t>产线验证</a:t>
            </a:r>
            <a:r>
              <a:rPr lang="en-US" altLang="zh-CN" sz="700" dirty="false">
                <a:latin typeface="+mn-ea"/>
                <a:ea typeface="+mn-ea"/>
                <a:sym typeface="+mn-ea"/>
              </a:rPr>
              <a:t> </a:t>
            </a:r>
            <a:endParaRPr/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endParaRPr lang="en-US" altLang="zh-CN" sz="700" dirty="false">
              <a:latin typeface="+mn-ea"/>
              <a:ea typeface="+mn-ea"/>
              <a:sym typeface="+mn-ea"/>
            </a:endParaRPr>
          </a:p>
        </p:txBody>
      </p:sp>
      <p:sp>
        <p:nvSpPr>
          <p:cNvPr id="62" name="五边形 6"/>
          <p:cNvSpPr/>
          <p:nvPr/>
        </p:nvSpPr>
        <p:spPr>
          <a:xfrm>
            <a:off x="6587490" y="4293870"/>
            <a:ext cx="2540000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产品化持续升级</a:t>
            </a:r>
            <a:endParaRPr/>
          </a:p>
        </p:txBody>
      </p:sp>
      <p:sp>
        <p:nvSpPr>
          <p:cNvPr id="63" name="五边形 10"/>
          <p:cNvSpPr/>
          <p:nvPr/>
        </p:nvSpPr>
        <p:spPr>
          <a:xfrm>
            <a:off x="6577330" y="4603862"/>
            <a:ext cx="1319530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代码优化</a:t>
            </a:r>
            <a:endParaRPr/>
          </a:p>
        </p:txBody>
      </p:sp>
      <p:sp>
        <p:nvSpPr>
          <p:cNvPr id="64" name="五边形 8"/>
          <p:cNvSpPr/>
          <p:nvPr/>
        </p:nvSpPr>
        <p:spPr>
          <a:xfrm>
            <a:off x="1437640" y="4293870"/>
            <a:ext cx="2531110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组件产品化</a:t>
            </a:r>
            <a:endParaRPr/>
          </a:p>
        </p:txBody>
      </p:sp>
      <p:sp>
        <p:nvSpPr>
          <p:cNvPr id="65" name="五边形 11"/>
          <p:cNvSpPr/>
          <p:nvPr/>
        </p:nvSpPr>
        <p:spPr>
          <a:xfrm>
            <a:off x="1414780" y="4618392"/>
            <a:ext cx="1261110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en-US" altLang="zh-CN" sz="1000" dirty="false">
                <a:solidFill>
                  <a:schemeClr val="tx1"/>
                </a:solidFill>
                <a:latin typeface="+mn-ea"/>
                <a:sym typeface="+mn-ea"/>
              </a:rPr>
              <a:t>BI</a:t>
            </a:r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报表平台</a:t>
            </a:r>
            <a:endParaRPr kumimoji="true" lang="zh-CN" altLang="en-US" sz="1000" b="false" i="false" dirty="false">
              <a:solidFill>
                <a:schemeClr val="tx1"/>
              </a:solidFill>
              <a:latin typeface="+mn-ea"/>
            </a:endParaRPr>
          </a:p>
        </p:txBody>
      </p:sp>
      <p:sp>
        <p:nvSpPr>
          <p:cNvPr id="66" name="五边形 50"/>
          <p:cNvSpPr/>
          <p:nvPr/>
        </p:nvSpPr>
        <p:spPr>
          <a:xfrm>
            <a:off x="34290" y="1232535"/>
            <a:ext cx="1379855" cy="459105"/>
          </a:xfrm>
          <a:prstGeom prst="homePlate">
            <a:avLst/>
          </a:prstGeom>
          <a:solidFill>
            <a:srgbClr val="C3EAD5">
              <a:alpha val="100000"/>
            </a:srgbClr>
          </a:solidFill>
          <a:ln w="12700">
            <a:solidFill>
              <a:srgbClr val="D8D8D8">
                <a:alpha val="100000"/>
              </a:srgbClr>
            </a:solidFill>
            <a:miter lim="800000"/>
            <a:tailEnd type="triangle" w="med" len="med"/>
          </a:ln>
        </p:spPr>
        <p:txBody>
          <a:bodyPr anchor="ctr"/>
          <a:lstStyle/>
          <a:p>
            <a:pPr algn="ctr"/>
            <a:endParaRPr>
              <a:latin typeface="+mn-ea"/>
              <a:ea typeface="+mn-ea"/>
            </a:endParaRPr>
          </a:p>
        </p:txBody>
      </p:sp>
      <p:sp>
        <p:nvSpPr>
          <p:cNvPr id="67" name="文本框 51"/>
          <p:cNvSpPr txBox="true"/>
          <p:nvPr/>
        </p:nvSpPr>
        <p:spPr>
          <a:xfrm>
            <a:off x="127798" y="1304109"/>
            <a:ext cx="1212850" cy="345094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zh-CN" sz="1400" b="true">
                <a:solidFill>
                  <a:srgbClr val="000000">
                    <a:alpha val="100000"/>
                  </a:srgbClr>
                </a:solidFill>
                <a:latin typeface="+mn-ea"/>
                <a:ea typeface="+mn-ea"/>
              </a:rPr>
              <a:t>里程碑</a:t>
            </a:r>
            <a:endParaRPr/>
          </a:p>
        </p:txBody>
      </p:sp>
      <p:sp>
        <p:nvSpPr>
          <p:cNvPr id="68" name="矩形 66"/>
          <p:cNvSpPr/>
          <p:nvPr/>
        </p:nvSpPr>
        <p:spPr>
          <a:xfrm rot="0" flipH="false" flipV="false">
            <a:off x="1457960" y="1092200"/>
            <a:ext cx="10219648" cy="843280"/>
          </a:xfrm>
          <a:prstGeom prst="rect">
            <a:avLst/>
          </a:prstGeom>
          <a:noFill/>
          <a:ln w="9525">
            <a:solidFill>
              <a:srgbClr val="000000">
                <a:alpha val="100000"/>
              </a:srgbClr>
            </a:solidFill>
            <a:prstDash val="dash"/>
            <a:miter lim="800000"/>
            <a:tailEnd type="triangle" w="med" len="med"/>
          </a:ln>
        </p:spPr>
        <p:txBody>
          <a:bodyPr anchor="ctr"/>
          <a:lstStyle/>
          <a:p>
            <a:pPr algn="ctr"/>
            <a:endParaRPr>
              <a:latin typeface="+mn-ea"/>
              <a:ea typeface="+mn-ea"/>
            </a:endParaRPr>
          </a:p>
        </p:txBody>
      </p:sp>
      <p:sp>
        <p:nvSpPr>
          <p:cNvPr id="69" name="五角星 26"/>
          <p:cNvSpPr/>
          <p:nvPr/>
        </p:nvSpPr>
        <p:spPr>
          <a:xfrm>
            <a:off x="2612763" y="2208400"/>
            <a:ext cx="226125" cy="21501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5C400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endParaRPr>
              <a:latin typeface="+mn-ea"/>
              <a:ea typeface="+mn-ea"/>
            </a:endParaRPr>
          </a:p>
        </p:txBody>
      </p:sp>
      <p:cxnSp>
        <p:nvCxnSpPr>
          <p:cNvPr id="70" name="直接箭头连接符 27"/>
          <p:cNvCxnSpPr/>
          <p:nvPr/>
        </p:nvCxnSpPr>
        <p:spPr>
          <a:xfrm rot="0" flipH="false" flipV="true">
            <a:off x="3981789" y="1893770"/>
            <a:ext cx="0" cy="365982"/>
          </a:xfrm>
          <a:prstGeom prst="straightConnector1">
            <a:avLst/>
          </a:prstGeom>
          <a:ln w="15875">
            <a:solidFill>
              <a:srgbClr val="319B62">
                <a:alpha val="100000"/>
              </a:srgbClr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71" name="五角星 28"/>
          <p:cNvSpPr/>
          <p:nvPr/>
        </p:nvSpPr>
        <p:spPr>
          <a:xfrm>
            <a:off x="3868793" y="2210940"/>
            <a:ext cx="226125" cy="21501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5C400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endParaRPr>
              <a:latin typeface="+mn-ea"/>
              <a:ea typeface="+mn-ea"/>
            </a:endParaRPr>
          </a:p>
        </p:txBody>
      </p:sp>
      <p:cxnSp>
        <p:nvCxnSpPr>
          <p:cNvPr id="72" name="直接箭头连接符 29"/>
          <p:cNvCxnSpPr/>
          <p:nvPr/>
        </p:nvCxnSpPr>
        <p:spPr>
          <a:xfrm flipV="true">
            <a:off x="5264489" y="1899920"/>
            <a:ext cx="831511" cy="353482"/>
          </a:xfrm>
          <a:prstGeom prst="straightConnector1">
            <a:avLst/>
          </a:prstGeom>
          <a:ln w="15875">
            <a:solidFill>
              <a:srgbClr val="319B62">
                <a:alpha val="100000"/>
              </a:srgbClr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73" name="五角星 30"/>
          <p:cNvSpPr/>
          <p:nvPr/>
        </p:nvSpPr>
        <p:spPr>
          <a:xfrm>
            <a:off x="5151493" y="2204590"/>
            <a:ext cx="226125" cy="21501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5C400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endParaRPr>
              <a:latin typeface="+mn-ea"/>
              <a:ea typeface="+mn-ea"/>
            </a:endParaRPr>
          </a:p>
        </p:txBody>
      </p:sp>
      <p:cxnSp>
        <p:nvCxnSpPr>
          <p:cNvPr id="74" name="直接箭头连接符 34"/>
          <p:cNvCxnSpPr/>
          <p:nvPr/>
        </p:nvCxnSpPr>
        <p:spPr>
          <a:xfrm flipV="true">
            <a:off x="6556079" y="1908506"/>
            <a:ext cx="962704" cy="329656"/>
          </a:xfrm>
          <a:prstGeom prst="straightConnector1">
            <a:avLst/>
          </a:prstGeom>
          <a:ln w="15875">
            <a:solidFill>
              <a:srgbClr val="319B62">
                <a:alpha val="100000"/>
              </a:srgbClr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75" name="五角星 35"/>
          <p:cNvSpPr/>
          <p:nvPr/>
        </p:nvSpPr>
        <p:spPr>
          <a:xfrm>
            <a:off x="6443083" y="2207130"/>
            <a:ext cx="226125" cy="21501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5C400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endParaRPr>
              <a:latin typeface="+mn-ea"/>
              <a:ea typeface="+mn-ea"/>
            </a:endParaRPr>
          </a:p>
        </p:txBody>
      </p:sp>
      <p:cxnSp>
        <p:nvCxnSpPr>
          <p:cNvPr id="76" name="直接箭头连接符 38"/>
          <p:cNvCxnSpPr/>
          <p:nvPr/>
        </p:nvCxnSpPr>
        <p:spPr>
          <a:xfrm rot="0" flipH="true" flipV="true">
            <a:off x="11420814" y="1901444"/>
            <a:ext cx="254000" cy="359577"/>
          </a:xfrm>
          <a:prstGeom prst="straightConnector1">
            <a:avLst/>
          </a:prstGeom>
          <a:ln w="15875">
            <a:solidFill>
              <a:srgbClr val="319B62">
                <a:alpha val="100000"/>
              </a:srgbClr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77" name="五角星 39"/>
          <p:cNvSpPr/>
          <p:nvPr/>
        </p:nvSpPr>
        <p:spPr>
          <a:xfrm>
            <a:off x="11561818" y="2212210"/>
            <a:ext cx="226125" cy="21501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5C400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endParaRPr>
              <a:latin typeface="+mn-ea"/>
              <a:ea typeface="+mn-ea"/>
            </a:endParaRPr>
          </a:p>
        </p:txBody>
      </p:sp>
      <p:sp>
        <p:nvSpPr>
          <p:cNvPr id="78" name="五边形 42"/>
          <p:cNvSpPr/>
          <p:nvPr/>
        </p:nvSpPr>
        <p:spPr>
          <a:xfrm>
            <a:off x="11582400" y="3173730"/>
            <a:ext cx="510540" cy="211455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关键项</a:t>
            </a:r>
            <a:endParaRPr/>
          </a:p>
        </p:txBody>
      </p:sp>
      <p:sp>
        <p:nvSpPr>
          <p:cNvPr id="79" name="五边形 43"/>
          <p:cNvSpPr/>
          <p:nvPr/>
        </p:nvSpPr>
        <p:spPr>
          <a:xfrm>
            <a:off x="11583035" y="2804160"/>
            <a:ext cx="527050" cy="236855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阶段</a:t>
            </a:r>
            <a:endParaRPr/>
          </a:p>
        </p:txBody>
      </p:sp>
      <p:sp>
        <p:nvSpPr>
          <p:cNvPr id="80" name="文本框 9"/>
          <p:cNvSpPr txBox="true"/>
          <p:nvPr/>
        </p:nvSpPr>
        <p:spPr>
          <a:xfrm rot="0" flipH="false" flipV="false">
            <a:off x="2380615" y="3484804"/>
            <a:ext cx="1980169" cy="626110"/>
          </a:xfrm>
          <a:prstGeom prst="rect">
            <a:avLst/>
          </a:prstGeom>
          <a:noFill/>
        </p:spPr>
        <p:txBody>
          <a:bodyPr wrap="square" lIns="0" tIns="0" rIns="0" bIns="0" numCol="2" anchor="t">
            <a:noAutofit/>
          </a:bodyPr>
          <a:lstStyle/>
          <a:p>
            <a:pPr marL="171450" indent="-17145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700" dirty="false">
                <a:latin typeface="+mn-ea"/>
                <a:ea typeface="+mn-ea"/>
              </a:rPr>
              <a:t>特征编码标准化</a:t>
            </a:r>
            <a:endParaRPr/>
          </a:p>
          <a:p>
            <a:pPr marL="171450" indent="-17145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700" dirty="false">
                <a:latin typeface="+mn-ea"/>
                <a:ea typeface="+mn-ea"/>
              </a:rPr>
              <a:t>数据建模</a:t>
            </a:r>
            <a:endParaRPr/>
          </a:p>
          <a:p>
            <a:pPr marL="171450" indent="-17145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700" dirty="false">
                <a:latin typeface="+mn-ea"/>
                <a:ea typeface="+mn-ea"/>
              </a:rPr>
              <a:t>指标体系跨厂区迁移</a:t>
            </a:r>
            <a:r>
              <a:rPr lang="en-US" altLang="zh-CN" sz="700" dirty="false">
                <a:latin typeface="+mn-ea"/>
                <a:ea typeface="+mn-ea"/>
              </a:rPr>
              <a:t> </a:t>
            </a:r>
            <a:endParaRPr/>
          </a:p>
          <a:p>
            <a:pPr fontAlgn="auto">
              <a:lnSpc>
                <a:spcPct val="150000"/>
              </a:lnSpc>
            </a:pPr>
            <a:endParaRPr lang="en-US" altLang="zh-CN" sz="700" dirty="false">
              <a:latin typeface="+mn-ea"/>
              <a:ea typeface="+mn-ea"/>
            </a:endParaRPr>
          </a:p>
        </p:txBody>
      </p:sp>
      <p:sp>
        <p:nvSpPr>
          <p:cNvPr id="81" name="五边形 13"/>
          <p:cNvSpPr/>
          <p:nvPr/>
        </p:nvSpPr>
        <p:spPr>
          <a:xfrm>
            <a:off x="1414145" y="3083560"/>
            <a:ext cx="966470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技术底座</a:t>
            </a:r>
            <a:endParaRPr/>
          </a:p>
        </p:txBody>
      </p:sp>
      <p:sp>
        <p:nvSpPr>
          <p:cNvPr id="82" name="五边形 15"/>
          <p:cNvSpPr/>
          <p:nvPr/>
        </p:nvSpPr>
        <p:spPr>
          <a:xfrm>
            <a:off x="2423795" y="3093720"/>
            <a:ext cx="871855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特征平台</a:t>
            </a:r>
            <a:endParaRPr/>
          </a:p>
        </p:txBody>
      </p:sp>
      <p:sp>
        <p:nvSpPr>
          <p:cNvPr id="83" name="五边形 16"/>
          <p:cNvSpPr/>
          <p:nvPr/>
        </p:nvSpPr>
        <p:spPr>
          <a:xfrm>
            <a:off x="3359785" y="3094990"/>
            <a:ext cx="818515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en-US" altLang="zh-CN" sz="1000" b="false" i="false" dirty="false">
                <a:solidFill>
                  <a:schemeClr val="tx1"/>
                </a:solidFill>
                <a:latin typeface="+mn-ea"/>
              </a:rPr>
              <a:t>AI</a:t>
            </a:r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员工</a:t>
            </a:r>
            <a:endParaRPr/>
          </a:p>
        </p:txBody>
      </p:sp>
      <p:sp>
        <p:nvSpPr>
          <p:cNvPr id="84" name="五边形 17"/>
          <p:cNvSpPr/>
          <p:nvPr/>
        </p:nvSpPr>
        <p:spPr>
          <a:xfrm>
            <a:off x="4224020" y="3105150"/>
            <a:ext cx="1203325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lang="zh-CN" sz="1000" b="false" i="false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数采中间层</a:t>
            </a:r>
            <a:endParaRPr/>
          </a:p>
        </p:txBody>
      </p:sp>
      <p:sp>
        <p:nvSpPr>
          <p:cNvPr id="85" name="五边形 18"/>
          <p:cNvSpPr/>
          <p:nvPr/>
        </p:nvSpPr>
        <p:spPr>
          <a:xfrm rot="0" flipH="false" flipV="false">
            <a:off x="6569710" y="3105150"/>
            <a:ext cx="1219835" cy="216000"/>
          </a:xfrm>
          <a:prstGeom prst="homePlate">
            <a:avLst/>
          </a:prstGeom>
          <a:solidFill>
            <a:srgbClr val="FFC9C7">
              <a:alpha val="100000"/>
            </a:srgb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en-US" altLang="zh-CN" sz="1000" b="false" i="false" dirty="false">
                <a:solidFill>
                  <a:schemeClr val="tx1"/>
                </a:solidFill>
                <a:latin typeface="+mn-ea"/>
              </a:rPr>
              <a:t>FMCS </a:t>
            </a:r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数采</a:t>
            </a:r>
            <a:endParaRPr/>
          </a:p>
        </p:txBody>
      </p:sp>
      <p:sp>
        <p:nvSpPr>
          <p:cNvPr id="86" name="文本框 84"/>
          <p:cNvSpPr txBox="true"/>
          <p:nvPr/>
        </p:nvSpPr>
        <p:spPr>
          <a:xfrm>
            <a:off x="531494" y="5659879"/>
            <a:ext cx="686435" cy="30899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zh-CN" altLang="en-US" sz="1200" b="true" dirty="false">
                <a:latin typeface="+mn-ea"/>
                <a:ea typeface="+mn-ea"/>
              </a:rPr>
              <a:t>移动端</a:t>
            </a:r>
            <a:endParaRPr/>
          </a:p>
        </p:txBody>
      </p:sp>
      <p:sp>
        <p:nvSpPr>
          <p:cNvPr id="87" name="文本框 84"/>
          <p:cNvSpPr txBox="true"/>
          <p:nvPr/>
        </p:nvSpPr>
        <p:spPr>
          <a:xfrm>
            <a:off x="465455" y="2710180"/>
            <a:ext cx="818515" cy="30899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en-US" altLang="zh-CN" sz="1200" b="true" dirty="false">
                <a:latin typeface="+mn-ea"/>
                <a:ea typeface="+mn-ea"/>
              </a:rPr>
              <a:t>IFP</a:t>
            </a:r>
            <a:r>
              <a:rPr lang="zh-CN" altLang="en-US" sz="1200" b="true" dirty="false">
                <a:latin typeface="+mn-ea"/>
                <a:ea typeface="+mn-ea"/>
              </a:rPr>
              <a:t>系统</a:t>
            </a:r>
            <a:endParaRPr/>
          </a:p>
        </p:txBody>
      </p:sp>
      <p:sp>
        <p:nvSpPr>
          <p:cNvPr id="88" name="圆角矩形 62"/>
          <p:cNvSpPr/>
          <p:nvPr/>
        </p:nvSpPr>
        <p:spPr>
          <a:xfrm rot="0" flipH="false" flipV="false">
            <a:off x="1490877" y="1134110"/>
            <a:ext cx="2233739" cy="765810"/>
          </a:xfrm>
          <a:prstGeom prst="roundRect">
            <a:avLst/>
          </a:prstGeom>
          <a:solidFill>
            <a:srgbClr val="EAFAF1">
              <a:alpha val="100000"/>
            </a:srgbClr>
          </a:solidFill>
          <a:ln w="9525">
            <a:solidFill>
              <a:srgbClr val="328F2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IFP</a:t>
            </a:r>
            <a:r>
              <a:rPr lang="zh-CN" sz="800">
                <a:latin typeface="微软雅黑"/>
                <a:ea typeface="微软雅黑"/>
                <a:sym typeface="微软雅黑"/>
              </a:rPr>
              <a:t>：光茂进厂部署</a:t>
            </a:r>
            <a:r>
              <a:rPr lang="en-US" sz="800">
                <a:latin typeface="微软雅黑"/>
                <a:ea typeface="微软雅黑"/>
                <a:sym typeface="微软雅黑"/>
              </a:rPr>
              <a:t>、</a:t>
            </a:r>
            <a:r>
              <a:rPr lang="zh-CN" sz="800">
                <a:latin typeface="微软雅黑"/>
                <a:ea typeface="微软雅黑"/>
                <a:sym typeface="微软雅黑"/>
              </a:rPr>
              <a:t>永芯片进厂部署</a:t>
            </a:r>
            <a:r>
              <a:rPr lang="en-US" sz="800">
                <a:latin typeface="微软雅黑"/>
                <a:ea typeface="微软雅黑"/>
                <a:sym typeface="微软雅黑"/>
              </a:rPr>
              <a:t>、</a:t>
            </a:r>
            <a:r>
              <a:rPr lang="zh-CN" sz="800">
                <a:latin typeface="微软雅黑"/>
                <a:ea typeface="微软雅黑"/>
                <a:sym typeface="微软雅黑"/>
              </a:rPr>
              <a:t>后端数据链路重构</a:t>
            </a:r>
            <a:endParaRPr/>
          </a:p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产品化：</a:t>
            </a:r>
            <a:r>
              <a:rPr lang="en-US" sz="800">
                <a:latin typeface="微软雅黑"/>
                <a:ea typeface="微软雅黑"/>
                <a:sym typeface="微软雅黑"/>
              </a:rPr>
              <a:t>AI </a:t>
            </a:r>
            <a:r>
              <a:rPr lang="zh-CN" sz="800">
                <a:latin typeface="微软雅黑"/>
                <a:ea typeface="微软雅黑"/>
                <a:sym typeface="微软雅黑"/>
              </a:rPr>
              <a:t>员工</a:t>
            </a:r>
            <a:r>
              <a:rPr lang="en-US" sz="800">
                <a:latin typeface="微软雅黑"/>
                <a:ea typeface="微软雅黑"/>
                <a:sym typeface="微软雅黑"/>
              </a:rPr>
              <a:t>、 EAM</a:t>
            </a:r>
            <a:r>
              <a:rPr lang="zh-CN" sz="800">
                <a:latin typeface="微软雅黑"/>
                <a:ea typeface="微软雅黑"/>
                <a:sym typeface="微软雅黑"/>
              </a:rPr>
              <a:t>集成</a:t>
            </a:r>
            <a:r>
              <a:rPr lang="en-US" sz="800">
                <a:latin typeface="微软雅黑"/>
                <a:ea typeface="微软雅黑"/>
                <a:sym typeface="微软雅黑"/>
              </a:rPr>
              <a:t>、</a:t>
            </a:r>
            <a:r>
              <a:rPr lang="zh-CN" sz="800">
                <a:latin typeface="微软雅黑"/>
                <a:ea typeface="微软雅黑"/>
                <a:sym typeface="微软雅黑"/>
              </a:rPr>
              <a:t>新</a:t>
            </a:r>
            <a:r>
              <a:rPr lang="en-US" sz="800">
                <a:latin typeface="微软雅黑"/>
                <a:ea typeface="微软雅黑"/>
                <a:sym typeface="微软雅黑"/>
              </a:rPr>
              <a:t>3D</a:t>
            </a:r>
            <a:r>
              <a:rPr lang="zh-CN" sz="800">
                <a:latin typeface="微软雅黑"/>
                <a:ea typeface="微软雅黑"/>
                <a:sym typeface="微软雅黑"/>
              </a:rPr>
              <a:t>组件</a:t>
            </a:r>
            <a:endParaRPr/>
          </a:p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移动端：</a:t>
            </a:r>
            <a:r>
              <a:rPr lang="en-US" sz="800">
                <a:latin typeface="微软雅黑"/>
                <a:ea typeface="微软雅黑"/>
                <a:sym typeface="微软雅黑"/>
              </a:rPr>
              <a:t>v1.0</a:t>
            </a:r>
            <a:r>
              <a:rPr lang="zh-CN" sz="800">
                <a:latin typeface="微软雅黑"/>
                <a:ea typeface="微软雅黑"/>
                <a:sym typeface="微软雅黑"/>
              </a:rPr>
              <a:t>版本</a:t>
            </a:r>
            <a:endParaRPr/>
          </a:p>
        </p:txBody>
      </p:sp>
      <p:sp>
        <p:nvSpPr>
          <p:cNvPr id="89" name="五边形 77"/>
          <p:cNvSpPr/>
          <p:nvPr/>
        </p:nvSpPr>
        <p:spPr>
          <a:xfrm>
            <a:off x="1433476" y="6302375"/>
            <a:ext cx="1243330" cy="221615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en-US" altLang="zh-CN" sz="1000" dirty="false">
                <a:solidFill>
                  <a:schemeClr val="tx1"/>
                </a:solidFill>
                <a:latin typeface="+mn-ea"/>
                <a:sym typeface="+mn-ea"/>
              </a:rPr>
              <a:t>PAD</a:t>
            </a:r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端</a:t>
            </a:r>
            <a:r>
              <a:rPr kumimoji="true" lang="en-US" altLang="zh-CN" sz="1000" dirty="false">
                <a:solidFill>
                  <a:schemeClr val="tx1"/>
                </a:solidFill>
                <a:latin typeface="+mn-ea"/>
                <a:sym typeface="+mn-ea"/>
              </a:rPr>
              <a:t>v1.0</a:t>
            </a:r>
            <a:endParaRPr kumimoji="true" lang="zh-CN" altLang="en-US" sz="1000" b="false" i="false" dirty="false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五边形 8"/>
          <p:cNvSpPr/>
          <p:nvPr/>
        </p:nvSpPr>
        <p:spPr>
          <a:xfrm>
            <a:off x="1408430" y="5684520"/>
            <a:ext cx="1656715" cy="21463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移动端</a:t>
            </a:r>
            <a:r>
              <a:rPr kumimoji="true" lang="en-US" altLang="zh-CN" sz="1000" b="false" i="false" dirty="false">
                <a:solidFill>
                  <a:schemeClr val="tx1"/>
                </a:solidFill>
                <a:latin typeface="+mn-ea"/>
              </a:rPr>
              <a:t>v1.0</a:t>
            </a:r>
            <a:endParaRPr/>
          </a:p>
        </p:txBody>
      </p:sp>
      <p:sp>
        <p:nvSpPr>
          <p:cNvPr id="91" name="五边形 11"/>
          <p:cNvSpPr/>
          <p:nvPr/>
        </p:nvSpPr>
        <p:spPr>
          <a:xfrm>
            <a:off x="1433476" y="6005195"/>
            <a:ext cx="1261110" cy="2286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手机端</a:t>
            </a:r>
            <a:r>
              <a:rPr kumimoji="true" lang="en-US" altLang="zh-CN" sz="1000" dirty="false">
                <a:solidFill>
                  <a:schemeClr val="tx1"/>
                </a:solidFill>
                <a:latin typeface="+mn-ea"/>
                <a:sym typeface="+mn-ea"/>
              </a:rPr>
              <a:t>v1.0</a:t>
            </a:r>
            <a:endParaRPr kumimoji="true" lang="zh-CN" altLang="en-US" sz="1000" b="false" i="false" dirty="false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圆角矩形 62"/>
          <p:cNvSpPr/>
          <p:nvPr/>
        </p:nvSpPr>
        <p:spPr>
          <a:xfrm rot="0" flipH="false" flipV="false">
            <a:off x="3815699" y="1130049"/>
            <a:ext cx="1754074" cy="765810"/>
          </a:xfrm>
          <a:prstGeom prst="roundRect">
            <a:avLst/>
          </a:prstGeom>
          <a:solidFill>
            <a:srgbClr val="EAFAF1">
              <a:alpha val="100000"/>
            </a:srgbClr>
          </a:solidFill>
          <a:ln w="9525">
            <a:solidFill>
              <a:srgbClr val="328F2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IFP</a:t>
            </a:r>
            <a:r>
              <a:rPr lang="zh-CN" sz="800">
                <a:latin typeface="微软雅黑"/>
                <a:ea typeface="微软雅黑"/>
                <a:sym typeface="微软雅黑"/>
              </a:rPr>
              <a:t>：跨厂区快速部署</a:t>
            </a:r>
            <a:endParaRPr/>
          </a:p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产品化：</a:t>
            </a:r>
            <a:r>
              <a:rPr lang="en-US" sz="800">
                <a:latin typeface="微软雅黑"/>
                <a:ea typeface="微软雅黑"/>
                <a:sym typeface="微软雅黑"/>
              </a:rPr>
              <a:t>EAM</a:t>
            </a:r>
            <a:r>
              <a:rPr lang="zh-CN" sz="800">
                <a:latin typeface="微软雅黑"/>
                <a:ea typeface="微软雅黑"/>
                <a:sym typeface="微软雅黑"/>
              </a:rPr>
              <a:t>深度定制，</a:t>
            </a:r>
            <a:r>
              <a:rPr lang="en-US" sz="800">
                <a:latin typeface="微软雅黑"/>
                <a:ea typeface="微软雅黑"/>
                <a:sym typeface="微软雅黑"/>
              </a:rPr>
              <a:t>BI/</a:t>
            </a:r>
            <a:r>
              <a:rPr lang="zh-CN" sz="800">
                <a:latin typeface="微软雅黑"/>
                <a:ea typeface="微软雅黑"/>
                <a:sym typeface="微软雅黑"/>
              </a:rPr>
              <a:t>表单</a:t>
            </a:r>
            <a:endParaRPr/>
          </a:p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移动端</a:t>
            </a:r>
            <a:r>
              <a:rPr lang="en-US" sz="800">
                <a:latin typeface="微软雅黑"/>
                <a:ea typeface="微软雅黑"/>
                <a:sym typeface="微软雅黑"/>
              </a:rPr>
              <a:t>：AI </a:t>
            </a:r>
            <a:r>
              <a:rPr lang="zh-CN" sz="800">
                <a:latin typeface="微软雅黑"/>
                <a:ea typeface="微软雅黑"/>
                <a:sym typeface="微软雅黑"/>
              </a:rPr>
              <a:t>增强</a:t>
            </a:r>
            <a:endParaRPr/>
          </a:p>
        </p:txBody>
      </p:sp>
      <p:sp>
        <p:nvSpPr>
          <p:cNvPr id="93" name="五边形 2"/>
          <p:cNvSpPr/>
          <p:nvPr/>
        </p:nvSpPr>
        <p:spPr>
          <a:xfrm>
            <a:off x="4020185" y="4293870"/>
            <a:ext cx="1271270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lang="zh-CN" sz="1000" b="false" i="false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能源双碳</a:t>
            </a:r>
            <a:r>
              <a:rPr lang="en-US" sz="1000" b="false" i="false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/</a:t>
            </a:r>
            <a:r>
              <a:rPr lang="zh-CN" sz="1000" b="false" i="false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高效机房</a:t>
            </a:r>
            <a:endParaRPr/>
          </a:p>
        </p:txBody>
      </p:sp>
      <p:sp>
        <p:nvSpPr>
          <p:cNvPr id="94" name="五边形 2"/>
          <p:cNvSpPr/>
          <p:nvPr/>
        </p:nvSpPr>
        <p:spPr>
          <a:xfrm>
            <a:off x="5340985" y="4293870"/>
            <a:ext cx="1197610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en-US" altLang="zh-CN" sz="1000" b="false" i="false" dirty="false">
                <a:solidFill>
                  <a:schemeClr val="tx1"/>
                </a:solidFill>
                <a:latin typeface="+mn-ea"/>
              </a:rPr>
              <a:t>FMCS</a:t>
            </a:r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数据接入</a:t>
            </a:r>
            <a:endParaRPr/>
          </a:p>
        </p:txBody>
      </p:sp>
      <p:cxnSp>
        <p:nvCxnSpPr>
          <p:cNvPr id="95" name="直接连接符 114"/>
          <p:cNvCxnSpPr/>
          <p:nvPr/>
        </p:nvCxnSpPr>
        <p:spPr>
          <a:xfrm>
            <a:off x="1395603" y="5587327"/>
            <a:ext cx="1024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圆角矩形 62"/>
          <p:cNvSpPr/>
          <p:nvPr/>
        </p:nvSpPr>
        <p:spPr>
          <a:xfrm rot="0" flipH="false" flipV="false">
            <a:off x="5765420" y="1135089"/>
            <a:ext cx="1515827" cy="763905"/>
          </a:xfrm>
          <a:prstGeom prst="roundRect">
            <a:avLst/>
          </a:prstGeom>
          <a:solidFill>
            <a:srgbClr val="EAFAF1">
              <a:alpha val="100000"/>
            </a:srgbClr>
          </a:solidFill>
          <a:ln w="9525">
            <a:solidFill>
              <a:srgbClr val="328F2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IFP</a:t>
            </a:r>
            <a:r>
              <a:rPr lang="zh-CN" sz="800">
                <a:latin typeface="微软雅黑"/>
                <a:ea typeface="微软雅黑"/>
                <a:sym typeface="微软雅黑"/>
              </a:rPr>
              <a:t>：光茂</a:t>
            </a:r>
            <a:r>
              <a:rPr lang="en-US" sz="800">
                <a:latin typeface="微软雅黑"/>
                <a:ea typeface="微软雅黑"/>
                <a:sym typeface="微软雅黑"/>
              </a:rPr>
              <a:t>、</a:t>
            </a:r>
            <a:r>
              <a:rPr lang="zh-CN" sz="800">
                <a:latin typeface="微软雅黑"/>
                <a:ea typeface="微软雅黑"/>
                <a:sym typeface="微软雅黑"/>
              </a:rPr>
              <a:t>永芯部署收尾</a:t>
            </a:r>
            <a:endParaRPr/>
          </a:p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产品化：</a:t>
            </a:r>
            <a:r>
              <a:rPr lang="zh-CN" sz="800">
                <a:latin typeface="微软雅黑"/>
                <a:ea typeface="微软雅黑"/>
                <a:sym typeface="微软雅黑"/>
              </a:rPr>
              <a:t>数采中间层
</a:t>
            </a: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移动端</a:t>
            </a:r>
            <a:r>
              <a:rPr lang="en-US" sz="800">
                <a:latin typeface="微软雅黑"/>
                <a:ea typeface="微软雅黑"/>
                <a:sym typeface="微软雅黑"/>
              </a:rPr>
              <a:t>：AI </a:t>
            </a:r>
            <a:r>
              <a:rPr lang="zh-CN" sz="800">
                <a:latin typeface="微软雅黑"/>
                <a:ea typeface="微软雅黑"/>
                <a:sym typeface="微软雅黑"/>
              </a:rPr>
              <a:t>增强</a:t>
            </a:r>
            <a:endParaRPr/>
          </a:p>
        </p:txBody>
      </p:sp>
      <p:sp>
        <p:nvSpPr>
          <p:cNvPr id="97" name="五边形 77"/>
          <p:cNvSpPr/>
          <p:nvPr/>
        </p:nvSpPr>
        <p:spPr>
          <a:xfrm>
            <a:off x="2703830" y="4937162"/>
            <a:ext cx="1243330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dirty="false">
                <a:solidFill>
                  <a:schemeClr val="tx1"/>
                </a:solidFill>
                <a:latin typeface="+mn-ea"/>
              </a:rPr>
              <a:t>设备仿真</a:t>
            </a:r>
            <a:endParaRPr kumimoji="true" lang="en-US" altLang="zh-CN" sz="1000" b="false" i="false" dirty="false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五边形 77"/>
          <p:cNvSpPr/>
          <p:nvPr/>
        </p:nvSpPr>
        <p:spPr>
          <a:xfrm>
            <a:off x="1419978" y="5290857"/>
            <a:ext cx="1243330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en-US" altLang="zh-CN" sz="1000" b="false" i="false" dirty="false">
                <a:solidFill>
                  <a:schemeClr val="tx1"/>
                </a:solidFill>
                <a:latin typeface="+mn-ea"/>
              </a:rPr>
              <a:t>SPC</a:t>
            </a:r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产品化</a:t>
            </a:r>
            <a:endParaRPr/>
          </a:p>
        </p:txBody>
      </p:sp>
      <p:sp>
        <p:nvSpPr>
          <p:cNvPr id="99" name="圆角矩形 62"/>
          <p:cNvSpPr/>
          <p:nvPr/>
        </p:nvSpPr>
        <p:spPr>
          <a:xfrm rot="0" flipH="false" flipV="false">
            <a:off x="7476894" y="1128182"/>
            <a:ext cx="1973451" cy="793115"/>
          </a:xfrm>
          <a:prstGeom prst="roundRect">
            <a:avLst/>
          </a:prstGeom>
          <a:solidFill>
            <a:srgbClr val="EAFAF1">
              <a:alpha val="100000"/>
            </a:srgbClr>
          </a:solidFill>
          <a:ln w="9525">
            <a:solidFill>
              <a:srgbClr val="328F2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IFP：</a:t>
            </a:r>
            <a:r>
              <a:rPr lang="zh-CN" sz="800">
                <a:latin typeface="微软雅黑"/>
                <a:ea typeface="微软雅黑"/>
                <a:sym typeface="微软雅黑"/>
              </a:rPr>
              <a:t>跨厂区快速部署能力完成</a:t>
            </a:r>
            <a:endParaRPr lang="en-US" sz="800">
              <a:latin typeface="微软雅黑"/>
              <a:ea typeface="微软雅黑"/>
              <a:sym typeface="微软雅黑"/>
            </a:endParaRPr>
          </a:p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产品化：</a:t>
            </a:r>
            <a:r>
              <a:rPr lang="en-US" sz="800">
                <a:latin typeface="微软雅黑"/>
                <a:ea typeface="微软雅黑"/>
                <a:sym typeface="微软雅黑"/>
              </a:rPr>
              <a:t>FMCS</a:t>
            </a:r>
            <a:r>
              <a:rPr lang="en-US" sz="800">
                <a:latin typeface="微软雅黑"/>
                <a:ea typeface="微软雅黑"/>
                <a:sym typeface="微软雅黑"/>
              </a:rPr>
              <a:t> </a:t>
            </a:r>
            <a:r>
              <a:rPr lang="zh-CN" sz="800">
                <a:latin typeface="微软雅黑"/>
                <a:ea typeface="微软雅黑"/>
                <a:sym typeface="微软雅黑"/>
              </a:rPr>
              <a:t>数采</a:t>
            </a:r>
            <a:r>
              <a:rPr lang="en-US" sz="800">
                <a:latin typeface="微软雅黑"/>
                <a:ea typeface="微软雅黑"/>
                <a:sym typeface="微软雅黑"/>
              </a:rPr>
              <a:t>、</a:t>
            </a:r>
            <a:r>
              <a:rPr lang="zh-CN" sz="800">
                <a:latin typeface="微软雅黑"/>
                <a:ea typeface="微软雅黑"/>
                <a:sym typeface="微软雅黑"/>
              </a:rPr>
              <a:t>探讨具身智能在</a:t>
            </a:r>
            <a:r>
              <a:rPr lang="en-US" sz="800">
                <a:latin typeface="微软雅黑"/>
                <a:ea typeface="微软雅黑"/>
                <a:sym typeface="微软雅黑"/>
              </a:rPr>
              <a:t> IFP </a:t>
            </a:r>
            <a:r>
              <a:rPr lang="zh-CN" sz="800">
                <a:latin typeface="微软雅黑"/>
                <a:ea typeface="微软雅黑"/>
                <a:sym typeface="微软雅黑"/>
              </a:rPr>
              <a:t>领域应用</a:t>
            </a:r>
            <a:endParaRPr/>
          </a:p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移动端</a:t>
            </a:r>
            <a:r>
              <a:rPr lang="en-US" sz="800">
                <a:latin typeface="微软雅黑"/>
                <a:ea typeface="微软雅黑"/>
                <a:sym typeface="微软雅黑"/>
              </a:rPr>
              <a:t>：AI </a:t>
            </a:r>
            <a:r>
              <a:rPr lang="zh-CN" sz="800">
                <a:latin typeface="微软雅黑"/>
                <a:ea typeface="微软雅黑"/>
                <a:sym typeface="微软雅黑"/>
              </a:rPr>
              <a:t>增强</a:t>
            </a:r>
            <a:endParaRPr/>
          </a:p>
        </p:txBody>
      </p:sp>
      <p:cxnSp>
        <p:nvCxnSpPr>
          <p:cNvPr id="100" name="直接连接符 114"/>
          <p:cNvCxnSpPr/>
          <p:nvPr/>
        </p:nvCxnSpPr>
        <p:spPr>
          <a:xfrm>
            <a:off x="1441958" y="4220807"/>
            <a:ext cx="1024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50"/>
          <p:cNvSpPr txBox="true"/>
          <p:nvPr/>
        </p:nvSpPr>
        <p:spPr>
          <a:xfrm rot="0" flipH="false" flipV="false">
            <a:off x="4088764" y="4629785"/>
            <a:ext cx="2233739" cy="482600"/>
          </a:xfrm>
          <a:prstGeom prst="rect">
            <a:avLst/>
          </a:prstGeom>
          <a:noFill/>
        </p:spPr>
        <p:txBody>
          <a:bodyPr wrap="square" lIns="0" tIns="0" rIns="0" bIns="0" numCol="2" anchor="t">
            <a:spAutoFit/>
          </a:bodyPr>
          <a:lstStyle/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sz="700">
                <a:latin typeface="微软雅黑"/>
                <a:ea typeface="微软雅黑"/>
                <a:sym typeface="微软雅黑"/>
              </a:rPr>
              <a:t>能源模块化部署</a:t>
            </a:r>
            <a:endParaRPr/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sz="700">
                <a:latin typeface="微软雅黑"/>
                <a:ea typeface="微软雅黑"/>
                <a:sym typeface="微软雅黑"/>
              </a:rPr>
              <a:t>能源排放全景监控</a:t>
            </a:r>
            <a:endParaRPr/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sz="700">
                <a:latin typeface="微软雅黑"/>
                <a:ea typeface="微软雅黑"/>
                <a:sym typeface="微软雅黑"/>
              </a:rPr>
              <a:t>高效制冷机房独立模块</a:t>
            </a:r>
            <a:endParaRPr/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endParaRPr lang="en-US" sz="700">
              <a:latin typeface="微软雅黑"/>
              <a:ea typeface="微软雅黑"/>
              <a:sym typeface="微软雅黑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endParaRPr lang="en-US" sz="70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102" name="文本框 150"/>
          <p:cNvSpPr txBox="true"/>
          <p:nvPr/>
        </p:nvSpPr>
        <p:spPr>
          <a:xfrm>
            <a:off x="3143884" y="6005195"/>
            <a:ext cx="2233733" cy="322580"/>
          </a:xfrm>
          <a:prstGeom prst="rect">
            <a:avLst/>
          </a:prstGeom>
          <a:noFill/>
        </p:spPr>
        <p:txBody>
          <a:bodyPr wrap="square" lIns="0" tIns="0" rIns="0" bIns="0" numCol="2" anchor="t">
            <a:spAutoFit/>
          </a:bodyPr>
          <a:lstStyle/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700" dirty="false">
                <a:latin typeface="+mn-ea"/>
                <a:ea typeface="+mn-ea"/>
                <a:sym typeface="+mn-ea"/>
              </a:rPr>
              <a:t>AI</a:t>
            </a:r>
            <a:r>
              <a:rPr lang="zh-CN" altLang="en-US" sz="700" dirty="false">
                <a:latin typeface="+mn-ea"/>
                <a:ea typeface="+mn-ea"/>
                <a:sym typeface="+mn-ea"/>
              </a:rPr>
              <a:t>巡检报告自动生成</a:t>
            </a:r>
            <a:endParaRPr/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700" dirty="false">
                <a:latin typeface="+mn-ea"/>
                <a:ea typeface="+mn-ea"/>
                <a:sym typeface="+mn-ea"/>
              </a:rPr>
              <a:t>AI</a:t>
            </a:r>
            <a:r>
              <a:rPr lang="zh-CN" altLang="en-US" sz="700" dirty="false">
                <a:latin typeface="+mn-ea"/>
                <a:ea typeface="+mn-ea"/>
                <a:sym typeface="+mn-ea"/>
              </a:rPr>
              <a:t>员工释放专家能力</a:t>
            </a:r>
            <a:endParaRPr/>
          </a:p>
        </p:txBody>
      </p:sp>
      <p:sp>
        <p:nvSpPr>
          <p:cNvPr id="103" name="五边形 6"/>
          <p:cNvSpPr/>
          <p:nvPr/>
        </p:nvSpPr>
        <p:spPr>
          <a:xfrm>
            <a:off x="6600190" y="2780665"/>
            <a:ext cx="2527300" cy="228600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产品化持续升级</a:t>
            </a:r>
            <a:endParaRPr/>
          </a:p>
        </p:txBody>
      </p:sp>
      <p:sp>
        <p:nvSpPr>
          <p:cNvPr id="104" name="五边形 15"/>
          <p:cNvSpPr/>
          <p:nvPr/>
        </p:nvSpPr>
        <p:spPr>
          <a:xfrm>
            <a:off x="2707640" y="5275057"/>
            <a:ext cx="1261110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业务数据层</a:t>
            </a:r>
            <a:endParaRPr/>
          </a:p>
        </p:txBody>
      </p:sp>
      <p:sp>
        <p:nvSpPr>
          <p:cNvPr id="105" name="五边形 18"/>
          <p:cNvSpPr/>
          <p:nvPr/>
        </p:nvSpPr>
        <p:spPr>
          <a:xfrm>
            <a:off x="7896225" y="3096895"/>
            <a:ext cx="1219835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kumimoji="true" lang="en-US" altLang="zh-CN" sz="1000" b="false" i="false" dirty="false">
                <a:solidFill>
                  <a:schemeClr val="tx1"/>
                </a:solidFill>
                <a:latin typeface="+mn-ea"/>
              </a:rPr>
              <a:t>AI + </a:t>
            </a:r>
            <a:r>
              <a:rPr kumimoji="true" lang="zh-CN" altLang="en-US" sz="1000" b="false" i="false" dirty="false">
                <a:solidFill>
                  <a:schemeClr val="tx1"/>
                </a:solidFill>
                <a:latin typeface="+mn-ea"/>
              </a:rPr>
              <a:t>具身智能规划</a:t>
            </a:r>
            <a:endParaRPr/>
          </a:p>
        </p:txBody>
      </p:sp>
      <p:sp>
        <p:nvSpPr>
          <p:cNvPr id="106" name="五边形 18"/>
          <p:cNvSpPr/>
          <p:nvPr/>
        </p:nvSpPr>
        <p:spPr>
          <a:xfrm>
            <a:off x="5499100" y="3105150"/>
            <a:ext cx="1039495" cy="21600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lang="en-US" sz="1000" b="false" i="false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EAM</a:t>
            </a:r>
            <a:r>
              <a:rPr lang="zh-CN" sz="1000" b="false" i="false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集成定制</a:t>
            </a:r>
            <a:endParaRPr/>
          </a:p>
        </p:txBody>
      </p:sp>
      <p:sp>
        <p:nvSpPr>
          <p:cNvPr id="107" name="文本框 155"/>
          <p:cNvSpPr txBox="true"/>
          <p:nvPr/>
        </p:nvSpPr>
        <p:spPr>
          <a:xfrm>
            <a:off x="6569710" y="3501390"/>
            <a:ext cx="1197610" cy="343535"/>
          </a:xfrm>
          <a:prstGeom prst="rect">
            <a:avLst/>
          </a:prstGeom>
          <a:noFill/>
        </p:spPr>
        <p:txBody>
          <a:bodyPr wrap="square" lIns="0" tIns="0" rIns="0" bIns="0" numCol="1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sz="700">
                <a:latin typeface="微软雅黑"/>
                <a:ea typeface="微软雅黑"/>
                <a:sym typeface="微软雅黑"/>
              </a:rPr>
              <a:t>持续扩展数据采集层能力</a:t>
            </a:r>
            <a:endParaRPr/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sz="700">
                <a:latin typeface="微软雅黑"/>
                <a:ea typeface="微软雅黑"/>
                <a:sym typeface="微软雅黑"/>
              </a:rPr>
              <a:t>基于</a:t>
            </a:r>
            <a:r>
              <a:rPr lang="en-US" sz="700">
                <a:latin typeface="微软雅黑"/>
                <a:ea typeface="微软雅黑"/>
                <a:sym typeface="微软雅黑"/>
              </a:rPr>
              <a:t>FMB</a:t>
            </a:r>
            <a:r>
              <a:rPr lang="zh-CN" sz="700">
                <a:latin typeface="微软雅黑"/>
                <a:ea typeface="微软雅黑"/>
                <a:sym typeface="微软雅黑"/>
              </a:rPr>
              <a:t>的图控系统替代</a:t>
            </a:r>
            <a:endParaRPr/>
          </a:p>
        </p:txBody>
      </p:sp>
      <p:sp>
        <p:nvSpPr>
          <p:cNvPr id="108" name="文本框 155"/>
          <p:cNvSpPr txBox="true"/>
          <p:nvPr/>
        </p:nvSpPr>
        <p:spPr>
          <a:xfrm rot="0" flipH="false" flipV="false">
            <a:off x="7896225" y="3501390"/>
            <a:ext cx="1654175" cy="558165"/>
          </a:xfrm>
          <a:prstGeom prst="rect">
            <a:avLst/>
          </a:prstGeom>
          <a:noFill/>
        </p:spPr>
        <p:txBody>
          <a:bodyPr wrap="square" lIns="0" tIns="0" rIns="0" bIns="0" numCol="1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sz="700">
                <a:latin typeface="微软雅黑"/>
                <a:ea typeface="微软雅黑"/>
                <a:sym typeface="微软雅黑"/>
              </a:rPr>
              <a:t>具身智能在</a:t>
            </a:r>
            <a:r>
              <a:rPr lang="en-US" sz="700">
                <a:latin typeface="微软雅黑"/>
                <a:ea typeface="微软雅黑"/>
                <a:sym typeface="微软雅黑"/>
              </a:rPr>
              <a:t> IFP </a:t>
            </a:r>
            <a:r>
              <a:rPr lang="zh-CN" sz="700">
                <a:latin typeface="微软雅黑"/>
                <a:ea typeface="微软雅黑"/>
                <a:sym typeface="微软雅黑"/>
              </a:rPr>
              <a:t>领域应用</a:t>
            </a:r>
            <a:endParaRPr/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700">
                <a:latin typeface="微软雅黑"/>
                <a:ea typeface="微软雅黑"/>
                <a:sym typeface="微软雅黑"/>
              </a:rPr>
              <a:t>AI </a:t>
            </a:r>
            <a:r>
              <a:rPr lang="zh-CN" sz="700">
                <a:latin typeface="微软雅黑"/>
                <a:ea typeface="微软雅黑"/>
                <a:sym typeface="微软雅黑"/>
              </a:rPr>
              <a:t>增强能力持续迭代</a:t>
            </a:r>
            <a:endParaRPr/>
          </a:p>
        </p:txBody>
      </p:sp>
      <p:sp>
        <p:nvSpPr>
          <p:cNvPr id="109" name="五边形 163"/>
          <p:cNvSpPr/>
          <p:nvPr/>
        </p:nvSpPr>
        <p:spPr>
          <a:xfrm>
            <a:off x="6569710" y="5695315"/>
            <a:ext cx="2713990" cy="238125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forceAA="false" compatLnSpc="true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true" lang="zh-CN" altLang="en-US" sz="1000" dirty="false">
                <a:solidFill>
                  <a:schemeClr val="tx1"/>
                </a:solidFill>
                <a:latin typeface="+mn-ea"/>
                <a:sym typeface="+mn-ea"/>
              </a:rPr>
              <a:t>移动端</a:t>
            </a:r>
            <a:r>
              <a:rPr kumimoji="true" lang="en-US" altLang="zh-CN" sz="1000" dirty="false">
                <a:solidFill>
                  <a:schemeClr val="tx1"/>
                </a:solidFill>
                <a:latin typeface="+mn-ea"/>
                <a:sym typeface="+mn-ea"/>
              </a:rPr>
              <a:t>v3.0</a:t>
            </a:r>
            <a:endParaRPr/>
          </a:p>
        </p:txBody>
      </p:sp>
      <p:sp>
        <p:nvSpPr>
          <p:cNvPr id="110" name="文本框 150"/>
          <p:cNvSpPr txBox="true"/>
          <p:nvPr/>
        </p:nvSpPr>
        <p:spPr>
          <a:xfrm>
            <a:off x="6569709" y="6021705"/>
            <a:ext cx="3044553" cy="342900"/>
          </a:xfrm>
          <a:prstGeom prst="rect">
            <a:avLst/>
          </a:prstGeom>
          <a:noFill/>
        </p:spPr>
        <p:txBody>
          <a:bodyPr wrap="square" lIns="0" tIns="0" rIns="0" bIns="0" numCol="2" anchor="t">
            <a:noAutofit/>
          </a:bodyPr>
          <a:lstStyle/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sz="700">
                <a:latin typeface="微软雅黑"/>
                <a:ea typeface="微软雅黑"/>
                <a:sym typeface="微软雅黑"/>
              </a:rPr>
              <a:t>配合具身智能方向进行</a:t>
            </a:r>
            <a:r>
              <a:rPr lang="en-US" sz="700">
                <a:latin typeface="微软雅黑"/>
                <a:ea typeface="微软雅黑"/>
                <a:sym typeface="微软雅黑"/>
              </a:rPr>
              <a:t> APP </a:t>
            </a:r>
            <a:r>
              <a:rPr lang="zh-CN" sz="700">
                <a:latin typeface="微软雅黑"/>
                <a:ea typeface="微软雅黑"/>
                <a:sym typeface="微软雅黑"/>
              </a:rPr>
              <a:t>操控</a:t>
            </a:r>
            <a:endParaRPr/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sz="700">
                <a:latin typeface="微软雅黑"/>
                <a:ea typeface="微软雅黑"/>
                <a:sym typeface="微软雅黑"/>
              </a:rPr>
              <a:t>AI </a:t>
            </a:r>
            <a:r>
              <a:rPr lang="zh-CN" sz="700">
                <a:latin typeface="微软雅黑"/>
                <a:ea typeface="微软雅黑"/>
                <a:sym typeface="微软雅黑"/>
              </a:rPr>
              <a:t>增强能力持续迭代</a:t>
            </a:r>
            <a:endParaRPr/>
          </a:p>
        </p:txBody>
      </p:sp>
      <p:sp>
        <p:nvSpPr>
          <p:cNvPr id="111" name="文本框 82"/>
          <p:cNvSpPr txBox="true"/>
          <p:nvPr/>
        </p:nvSpPr>
        <p:spPr>
          <a:xfrm>
            <a:off x="524510" y="4628515"/>
            <a:ext cx="759460" cy="30899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zh-CN" altLang="en-US" sz="1200" b="true" dirty="false">
                <a:latin typeface="+mn-ea"/>
                <a:ea typeface="+mn-ea"/>
              </a:rPr>
              <a:t>组件化</a:t>
            </a:r>
            <a:endParaRPr/>
          </a:p>
        </p:txBody>
      </p:sp>
      <p:sp>
        <p:nvSpPr>
          <p:cNvPr id="112" name="文本框 23"/>
          <p:cNvSpPr txBox="true"/>
          <p:nvPr/>
        </p:nvSpPr>
        <p:spPr>
          <a:xfrm>
            <a:off x="1317054" y="3336386"/>
            <a:ext cx="1074118" cy="106131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marL="171450" indent="-17145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700" dirty="false">
                <a:latin typeface="+mn-ea"/>
              </a:rPr>
              <a:t>服务后端重构</a:t>
            </a:r>
            <a:endParaRPr/>
          </a:p>
          <a:p>
            <a:pPr marL="171450" indent="-17145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700" dirty="false" err="true">
                <a:latin typeface="+mn-ea"/>
              </a:rPr>
              <a:t>TDEngine</a:t>
            </a:r>
            <a:r>
              <a:rPr lang="zh-CN" altLang="en-US" sz="700" dirty="false">
                <a:latin typeface="+mn-ea"/>
              </a:rPr>
              <a:t>迁移，数据对接 </a:t>
            </a:r>
            <a:endParaRPr/>
          </a:p>
          <a:p>
            <a:pPr marL="171450" indent="-171450" fontAlgn="auto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700" dirty="false">
                <a:latin typeface="+mn-ea"/>
              </a:rPr>
              <a:t> 跨厂区配置平移</a:t>
            </a:r>
            <a:endParaRPr lang="en-US" altLang="zh-CN" sz="700" dirty="false">
              <a:latin typeface="+mn-ea"/>
            </a:endParaRPr>
          </a:p>
          <a:p>
            <a:pPr/>
            <a:endParaRPr lang="zh-CN" altLang="en-US" dirty="false"/>
          </a:p>
        </p:txBody>
      </p:sp>
      <p:sp>
        <p:nvSpPr>
          <p:cNvPr id="113" name="圆角矩形 62"/>
          <p:cNvSpPr/>
          <p:nvPr/>
        </p:nvSpPr>
        <p:spPr>
          <a:xfrm rot="0" flipH="false" flipV="false">
            <a:off x="9608947" y="1121987"/>
            <a:ext cx="1973452" cy="793115"/>
          </a:xfrm>
          <a:prstGeom prst="roundRect">
            <a:avLst/>
          </a:prstGeom>
          <a:solidFill>
            <a:srgbClr val="FFF9E3">
              <a:alpha val="100000"/>
            </a:srgbClr>
          </a:solidFill>
          <a:ln w="9525">
            <a:solidFill>
              <a:srgbClr val="328F2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IFP</a:t>
            </a:r>
            <a:r>
              <a:rPr lang="zh-CN" sz="800">
                <a:latin typeface="微软雅黑"/>
                <a:ea typeface="微软雅黑"/>
                <a:sym typeface="微软雅黑"/>
              </a:rPr>
              <a:t>：具有完整的的产品实施能力</a:t>
            </a:r>
            <a:endParaRPr/>
          </a:p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智能化：</a:t>
            </a:r>
            <a:r>
              <a:rPr lang="en-US" sz="800">
                <a:latin typeface="微软雅黑"/>
                <a:ea typeface="微软雅黑"/>
                <a:sym typeface="微软雅黑"/>
              </a:rPr>
              <a:t>AI</a:t>
            </a:r>
            <a:r>
              <a:rPr lang="zh-CN" sz="800">
                <a:latin typeface="微软雅黑"/>
                <a:ea typeface="微软雅黑"/>
                <a:sym typeface="微软雅黑"/>
              </a:rPr>
              <a:t>员工，智能机器人（具身）</a:t>
            </a:r>
            <a:endParaRPr/>
          </a:p>
          <a:p>
            <a:pPr indent="0">
              <a:buFont typeface="Arial" panose="020B0604020202090204" pitchFamily="34" charset="0"/>
              <a:buNone/>
            </a:pPr>
            <a:r>
              <a:rPr lang="en-US" sz="800">
                <a:latin typeface="微软雅黑"/>
                <a:ea typeface="微软雅黑"/>
                <a:sym typeface="微软雅黑"/>
              </a:rPr>
              <a:t>- </a:t>
            </a:r>
            <a:r>
              <a:rPr lang="zh-CN" sz="800">
                <a:latin typeface="微软雅黑"/>
                <a:ea typeface="微软雅黑"/>
                <a:sym typeface="微软雅黑"/>
              </a:rPr>
              <a:t>全国产自主化：核心能力自闭环</a:t>
            </a:r>
            <a:endParaRPr/>
          </a:p>
        </p:txBody>
      </p:sp>
      <p:sp>
        <p:nvSpPr>
          <p:cNvPr id="114" name="五边形 18"/>
          <p:cNvSpPr/>
          <p:nvPr/>
        </p:nvSpPr>
        <p:spPr>
          <a:xfrm rot="0" flipH="false" flipV="false">
            <a:off x="11581564" y="3514028"/>
            <a:ext cx="519786" cy="216000"/>
          </a:xfrm>
          <a:prstGeom prst="homePlate">
            <a:avLst/>
          </a:prstGeom>
          <a:solidFill>
            <a:srgbClr val="FFC9C7">
              <a:alpha val="100000"/>
            </a:srgb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none" lIns="36576" tIns="18288" rIns="36576" bIns="18288" numCol="1" spcCol="0" rtlCol="false" fromWordArt="false" anchor="ctr" anchorCtr="false" compatLnSpc="true">
            <a:noAutofit/>
          </a:bodyPr>
          <a:lstStyle/>
          <a:p>
            <a:pPr algn="ctr"/>
            <a:r>
              <a:rPr lang="zh-CN" sz="1000" b="false" i="false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替代</a:t>
            </a:r>
            <a:endParaRPr/>
          </a:p>
        </p:txBody>
      </p:sp>
    </p:spTree>
  </p:cSld>
  <p:clrMapOvr>
    <a:masterClrMapping/>
  </p:clrMapOvr>
</p:sld>
</file>

<file path=ppt/theme/_rels/theme3.xml.rels><?xml version="1.0" encoding="UTF-8" standalone="yes"?><Relationships xmlns="http://schemas.openxmlformats.org/package/2006/relationships"><Relationship Id="rId0" Type="http://schemas.openxmlformats.org/officeDocument/2006/relationships/image" Target="media/image4.jpg" /></Relationships>
</file>

<file path=ppt/theme/_rels/theme4.xml.rels><?xml version="1.0" encoding="UTF-8" standalone="yes"?><Relationships xmlns="http://schemas.openxmlformats.org/package/2006/relationships"><Relationship Id="rId0" Type="http://schemas.openxmlformats.org/officeDocument/2006/relationships/image" Target="media/image4.jpg" /></Relationships>
</file>

<file path=ppt/theme/theme1.xml><?xml version="1.0" encoding="utf-8"?>
<a:theme xmlns:a="http://schemas.openxmlformats.org/drawingml/2006/main" name="Office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H">
  <a:themeElements>
    <a:clrScheme name="MH 1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r:embed="rId0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H">
  <a:themeElements>
    <a:clrScheme name="MH 1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r:embed="rId0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2026-03-03T20:36:17Z</dcterms:created>
  <dcterms:modified xsi:type="dcterms:W3CDTF">2026-03-03T20:36:17Z</dcterms:modified>
</cp:coreProperties>
</file>