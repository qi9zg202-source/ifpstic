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ppt/notesSlides/notesSlide9.xml" ContentType="application/vnd.openxmlformats-officedocument.presentationml.notes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ppt/notesSlides/notesSlide19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8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2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 horzBarState="maximized">
    <p:restoredLeft sz="15611"/>
    <p:restoredTop sz="94610"/>
  </p:normalViewPr>
  <p:slideViewPr>
    <p:cSldViewPr snapToGrid="false" snapToObjects="true">
      <p:cViewPr varScale="true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4" Type="http://schemas.openxmlformats.org/officeDocument/2006/relationships/viewProps" Target="viewProps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2" Type="http://schemas.openxmlformats.org/officeDocument/2006/relationships/slide" Target="slides/slide2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20" Type="http://schemas.openxmlformats.org/officeDocument/2006/relationships/slide" Target="slides/slide20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22" Type="http://schemas.openxmlformats.org/officeDocument/2006/relationships/presProps" Target="presProps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23" Type="http://schemas.openxmlformats.org/officeDocument/2006/relationships/tableStyles" Target="tableStyles.xml" /><Relationship Id="rId19" Type="http://schemas.openxmlformats.org/officeDocument/2006/relationships/slide" Target="slides/slide19.xml" /><Relationship Id="rId9" Type="http://schemas.openxmlformats.org/officeDocument/2006/relationships/slide" Target="slides/slide9.xml" /><Relationship Id="rId18" Type="http://schemas.openxmlformats.org/officeDocument/2006/relationships/slide" Target="slides/slide18.xml" /><Relationship Id="rId21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>
            <a:spLocks noGrp="true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>
            <a:spLocks noGrp="true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>
            <a:spLocks noGrp="true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1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22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26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>
            <a:spLocks noGrp="true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>
            <a:spLocks noGrp="true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3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>
            <a:spLocks noGrp="true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>
            <a:spLocks noGrp="true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>
            <a:spLocks noGrp="true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4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4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>
            <a:spLocks noGrp="true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4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50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>
            <a:spLocks noGrp="true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5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56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MSOFFICE_LAYOUT_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for title"/>
          <p:cNvSpPr>
            <a:spLocks noGrp="true"/>
          </p:cNvSpPr>
          <p:nvPr>
            <p:ph type="title" idx="0"/>
          </p:nvPr>
        </p:nvSpPr>
        <p:spPr>
          <a:prstGeom prst="rect"/>
          <a:noFill/>
        </p:spPr>
        <p:txBody>
          <a:bodyPr lIns="91440" tIns="45720" rIns="91440" bIns="45720">
            <a:normAutofit/>
          </a:bodyPr>
          <a:lstStyle>
            <a:lvl1pPr lvl="0">
              <a:buNone/>
              <a:defRPr/>
            </a:lvl1pPr>
          </a:lstStyle>
          <a:p>
            <a:pPr/>
            <a:r>
              <a:rPr/>
              <a:t>单击可编辑母版标题样式</a:t>
            </a:r>
            <a:endParaRPr/>
          </a:p>
        </p:txBody>
      </p:sp>
      <p:sp>
        <p:nvSpPr>
          <p:cNvPr id="4" name="Placeholder for body"/>
          <p:cNvSpPr>
            <a:spLocks noGrp="true"/>
          </p:cNvSpPr>
          <p:nvPr>
            <p:ph type="body" idx="1"/>
          </p:nvPr>
        </p:nvSpPr>
        <p:spPr>
          <a:prstGeom prst="rect"/>
          <a:noFill/>
        </p:spPr>
        <p:txBody>
          <a:bodyPr lIns="91440" tIns="45720" rIns="91440" bIns="45720">
            <a:normAutofit/>
          </a:bodyPr>
          <a:lstStyle>
            <a:lvl1pPr lvl="0">
              <a:defRPr/>
            </a:lvl1pPr>
            <a:lvl2pPr lvl="1">
              <a:defRPr/>
            </a:lvl2pPr>
            <a:lvl3pPr lvl="2">
              <a:defRPr/>
            </a:lvl3pPr>
            <a:lvl4pPr lvl="3">
              <a:defRPr/>
            </a:lvl4pPr>
            <a:lvl5pPr lvl="4">
              <a:defRPr/>
            </a:lvl5pPr>
            <a:lvl6pPr lvl="5">
              <a:defRPr/>
            </a:lvl6pPr>
            <a:lvl7pPr lvl="6">
              <a:defRPr/>
            </a:lvl7pPr>
            <a:lvl8pPr lvl="7">
              <a:defRPr/>
            </a:lvl8pPr>
            <a:lvl9pPr lvl="8">
              <a:defRPr/>
            </a:lvl9pPr>
          </a:lstStyle>
          <a:p>
            <a:pPr/>
            <a:r>
              <a:rPr/>
              <a:t>第一层</a:t>
            </a:r>
            <a:endParaRPr/>
          </a:p>
          <a:p>
            <a:pPr lvl="1"/>
            <a:r>
              <a:rPr/>
              <a:t>第二层</a:t>
            </a:r>
            <a:endParaRPr/>
          </a:p>
          <a:p>
            <a:pPr lvl="2"/>
            <a:r>
              <a:rPr/>
              <a:t>第三层</a:t>
            </a:r>
            <a:endParaRPr/>
          </a:p>
          <a:p>
            <a:pPr lvl="3"/>
            <a:r>
              <a:rPr/>
              <a:t>第四层</a:t>
            </a:r>
            <a:endParaRPr/>
          </a:p>
          <a:p>
            <a:pPr lvl="4"/>
            <a:r>
              <a:rPr/>
              <a:t>第五层</a:t>
            </a:r>
            <a:endParaRPr/>
          </a:p>
          <a:p>
            <a:pPr lvl="5"/>
            <a:r>
              <a:rPr/>
              <a:t>第六层</a:t>
            </a:r>
            <a:endParaRPr/>
          </a:p>
          <a:p>
            <a:pPr lvl="6"/>
            <a:r>
              <a:rPr/>
              <a:t>第七层</a:t>
            </a:r>
            <a:endParaRPr/>
          </a:p>
          <a:p>
            <a:pPr lvl="7"/>
            <a:r>
              <a:rPr/>
              <a:t>第八层</a:t>
            </a:r>
            <a:endParaRPr/>
          </a:p>
          <a:p>
            <a:pPr lvl="8"/>
            <a:r>
              <a:rPr/>
              <a:t>第九层</a:t>
            </a:r>
            <a:endParaRPr/>
          </a:p>
        </p:txBody>
      </p:sp>
      <p:sp>
        <p:nvSpPr>
          <p:cNvPr id="5" name="Placeholder for sldNum"/>
          <p:cNvSpPr>
            <a:spLocks noGrp="true"/>
          </p:cNvSpPr>
          <p:nvPr>
            <p:ph type="sldNum" idx="2"/>
          </p:nvPr>
        </p:nvSpPr>
        <p:spPr>
          <a:prstGeom prst="rect"/>
          <a:noFill/>
        </p:spPr>
        <p:txBody>
          <a:bodyPr lIns="91440" tIns="45720" rIns="91440" bIns="45720">
            <a:normAutofit/>
          </a:bodyPr>
          <a:lstStyle>
            <a:lvl1pPr lvl="0">
              <a:buNone/>
              <a:defRPr/>
            </a:lvl1pPr>
          </a:lstStyle>
          <a:p>
            <a:pPr/>
            <a:fld id="{F6F55719-900F-4743-9C78-99E334F812F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空白页">
    <p:bg>
      <p:bgPr>
        <a:blipFill rotWithShape="false">
          <a:blip r:embed="rId1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/>
        </a:blipFill>
      </p:bgPr>
    </p:bg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hf sldNum="false" hdr="false" ftr="false" dt="false"/>
  <p:txStyles>
    <p:titleStyle>
      <a:lvl1pPr algn="ctr" defTabSz="9144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false" eaLnBrk="true" latinLnBrk="false" hangingPunct="true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3.xml" /></Relationships>
</file>

<file path=ppt/slides/_rels/slide2.xml.rels><?xml version="1.0" encoding="UTF-8" standalone="yes"?><Relationships xmlns="http://schemas.openxmlformats.org/package/2006/relationships"><Relationship Id="rId8" Type="http://schemas.openxmlformats.org/officeDocument/2006/relationships/image" Target="media/image248.png" /><Relationship Id="rId7" Type="http://schemas.openxmlformats.org/officeDocument/2006/relationships/image" Target="media/image247.png" /><Relationship Id="rId33" Type="http://schemas.openxmlformats.org/officeDocument/2006/relationships/image" Target="media/image15.png" /><Relationship Id="rId5" Type="http://schemas.openxmlformats.org/officeDocument/2006/relationships/image" Target="media/image245.png" /><Relationship Id="rId31" Type="http://schemas.openxmlformats.org/officeDocument/2006/relationships/image" Target="media/image271.png" /><Relationship Id="rId28" Type="http://schemas.openxmlformats.org/officeDocument/2006/relationships/image" Target="media/image268.png" /><Relationship Id="rId27" Type="http://schemas.openxmlformats.org/officeDocument/2006/relationships/image" Target="media/image267.png" /><Relationship Id="rId23" Type="http://schemas.openxmlformats.org/officeDocument/2006/relationships/image" Target="media/image263.png" /><Relationship Id="rId13" Type="http://schemas.openxmlformats.org/officeDocument/2006/relationships/image" Target="media/image253.png" /><Relationship Id="rId10" Type="http://schemas.openxmlformats.org/officeDocument/2006/relationships/image" Target="media/image250.png" /><Relationship Id="rId11" Type="http://schemas.openxmlformats.org/officeDocument/2006/relationships/image" Target="media/image251.png" /><Relationship Id="rId12" Type="http://schemas.openxmlformats.org/officeDocument/2006/relationships/image" Target="media/image252.png" /><Relationship Id="rId25" Type="http://schemas.openxmlformats.org/officeDocument/2006/relationships/image" Target="media/image265.png" /><Relationship Id="rId0" Type="http://schemas.openxmlformats.org/officeDocument/2006/relationships/slideLayout" Target="../slideLayouts/slideLayout1.xml" /><Relationship Id="rId30" Type="http://schemas.openxmlformats.org/officeDocument/2006/relationships/image" Target="media/image270.png" /><Relationship Id="rId2" Type="http://schemas.openxmlformats.org/officeDocument/2006/relationships/image" Target="media/image242.png" /><Relationship Id="rId9" Type="http://schemas.openxmlformats.org/officeDocument/2006/relationships/image" Target="media/image249.png" /><Relationship Id="rId4" Type="http://schemas.openxmlformats.org/officeDocument/2006/relationships/image" Target="media/image244.png" /><Relationship Id="rId1" Type="http://schemas.openxmlformats.org/officeDocument/2006/relationships/notesSlide" Target="../notesSlides/notesSlide11.xml" /><Relationship Id="rId29" Type="http://schemas.openxmlformats.org/officeDocument/2006/relationships/image" Target="media/image269.png" /><Relationship Id="rId19" Type="http://schemas.openxmlformats.org/officeDocument/2006/relationships/image" Target="media/image259.png" /><Relationship Id="rId14" Type="http://schemas.openxmlformats.org/officeDocument/2006/relationships/image" Target="media/image254.png" /><Relationship Id="rId15" Type="http://schemas.openxmlformats.org/officeDocument/2006/relationships/image" Target="media/image255.png" /><Relationship Id="rId18" Type="http://schemas.openxmlformats.org/officeDocument/2006/relationships/image" Target="media/image258.png" /><Relationship Id="rId21" Type="http://schemas.openxmlformats.org/officeDocument/2006/relationships/image" Target="media/image261.png" /><Relationship Id="rId32" Type="http://schemas.openxmlformats.org/officeDocument/2006/relationships/image" Target="media/image272.png" /><Relationship Id="rId26" Type="http://schemas.openxmlformats.org/officeDocument/2006/relationships/image" Target="media/image266.png" /><Relationship Id="rId16" Type="http://schemas.openxmlformats.org/officeDocument/2006/relationships/image" Target="media/image256.png" /><Relationship Id="rId17" Type="http://schemas.openxmlformats.org/officeDocument/2006/relationships/image" Target="media/image257.png" /><Relationship Id="rId3" Type="http://schemas.openxmlformats.org/officeDocument/2006/relationships/image" Target="media/image243.png" /><Relationship Id="rId20" Type="http://schemas.openxmlformats.org/officeDocument/2006/relationships/image" Target="media/image260.png" /><Relationship Id="rId6" Type="http://schemas.openxmlformats.org/officeDocument/2006/relationships/image" Target="media/image246.png" /><Relationship Id="rId24" Type="http://schemas.openxmlformats.org/officeDocument/2006/relationships/image" Target="media/image264.png" /><Relationship Id="rId22" Type="http://schemas.openxmlformats.org/officeDocument/2006/relationships/image" Target="media/image262.png" /></Relationships>
</file>

<file path=ppt/slides/_rels/slide3.xml.rels><?xml version="1.0" encoding="UTF-8" standalone="yes"?><Relationships xmlns="http://schemas.openxmlformats.org/package/2006/relationships"><Relationship Id="rId5" Type="http://schemas.openxmlformats.org/officeDocument/2006/relationships/image" Target="media/image292.png" /><Relationship Id="rId3" Type="http://schemas.openxmlformats.org/officeDocument/2006/relationships/image" Target="media/image290.png" /><Relationship Id="rId7" Type="http://schemas.openxmlformats.org/officeDocument/2006/relationships/image" Target="media/image294.png" /><Relationship Id="rId4" Type="http://schemas.openxmlformats.org/officeDocument/2006/relationships/image" Target="media/image291.png" /><Relationship Id="rId15" Type="http://schemas.openxmlformats.org/officeDocument/2006/relationships/image" Target="media/image302.png" /><Relationship Id="rId6" Type="http://schemas.openxmlformats.org/officeDocument/2006/relationships/image" Target="media/image293.png" /><Relationship Id="rId2" Type="http://schemas.openxmlformats.org/officeDocument/2006/relationships/image" Target="media/image15.png" /><Relationship Id="rId14" Type="http://schemas.openxmlformats.org/officeDocument/2006/relationships/image" Target="media/image301.png" /><Relationship Id="rId1" Type="http://schemas.openxmlformats.org/officeDocument/2006/relationships/notesSlide" Target="../notesSlides/notesSlide13.xml" /><Relationship Id="rId12" Type="http://schemas.openxmlformats.org/officeDocument/2006/relationships/image" Target="media/image299.png" /><Relationship Id="rId0" Type="http://schemas.openxmlformats.org/officeDocument/2006/relationships/slideLayout" Target="../slideLayouts/slideLayout2.xml" /><Relationship Id="rId8" Type="http://schemas.openxmlformats.org/officeDocument/2006/relationships/image" Target="media/image295.png" /><Relationship Id="rId10" Type="http://schemas.openxmlformats.org/officeDocument/2006/relationships/image" Target="media/image297.png" /><Relationship Id="rId11" Type="http://schemas.openxmlformats.org/officeDocument/2006/relationships/image" Target="media/image298.png" /><Relationship Id="rId9" Type="http://schemas.openxmlformats.org/officeDocument/2006/relationships/image" Target="media/image296.png" /><Relationship Id="rId13" Type="http://schemas.openxmlformats.org/officeDocument/2006/relationships/image" Target="media/image300.png" /></Relationships>
</file>

<file path=ppt/slides/_rels/slide4.xml.rels><?xml version="1.0" encoding="UTF-8" standalone="yes"?><Relationships xmlns="http://schemas.openxmlformats.org/package/2006/relationships"><Relationship Id="rId6" Type="http://schemas.openxmlformats.org/officeDocument/2006/relationships/image" Target="media/image305.png" /><Relationship Id="rId43" Type="http://schemas.openxmlformats.org/officeDocument/2006/relationships/image" Target="media/image342.png" /><Relationship Id="rId42" Type="http://schemas.openxmlformats.org/officeDocument/2006/relationships/image" Target="media/image341.png" /><Relationship Id="rId41" Type="http://schemas.openxmlformats.org/officeDocument/2006/relationships/image" Target="media/image340.png" /><Relationship Id="rId23" Type="http://schemas.openxmlformats.org/officeDocument/2006/relationships/image" Target="media/image322.png" /><Relationship Id="rId26" Type="http://schemas.openxmlformats.org/officeDocument/2006/relationships/image" Target="media/image325.png" /><Relationship Id="rId18" Type="http://schemas.openxmlformats.org/officeDocument/2006/relationships/image" Target="media/image317.png" /><Relationship Id="rId17" Type="http://schemas.openxmlformats.org/officeDocument/2006/relationships/image" Target="media/image316.png" /><Relationship Id="rId31" Type="http://schemas.openxmlformats.org/officeDocument/2006/relationships/image" Target="media/image330.png" /><Relationship Id="rId14" Type="http://schemas.openxmlformats.org/officeDocument/2006/relationships/image" Target="media/image313.png" /><Relationship Id="rId44" Type="http://schemas.openxmlformats.org/officeDocument/2006/relationships/image" Target="media/image343.png" /><Relationship Id="rId35" Type="http://schemas.openxmlformats.org/officeDocument/2006/relationships/image" Target="media/image334.png" /><Relationship Id="rId21" Type="http://schemas.openxmlformats.org/officeDocument/2006/relationships/image" Target="media/image320.png" /><Relationship Id="rId20" Type="http://schemas.openxmlformats.org/officeDocument/2006/relationships/image" Target="media/image319.png" /><Relationship Id="rId5" Type="http://schemas.openxmlformats.org/officeDocument/2006/relationships/image" Target="media/image304.png" /><Relationship Id="rId1" Type="http://schemas.openxmlformats.org/officeDocument/2006/relationships/notesSlide" Target="../notesSlides/notesSlide14.xml" /><Relationship Id="rId30" Type="http://schemas.openxmlformats.org/officeDocument/2006/relationships/image" Target="media/image329.png" /><Relationship Id="rId10" Type="http://schemas.openxmlformats.org/officeDocument/2006/relationships/image" Target="media/image309.png" /><Relationship Id="rId11" Type="http://schemas.openxmlformats.org/officeDocument/2006/relationships/image" Target="media/image310.png" /><Relationship Id="rId8" Type="http://schemas.openxmlformats.org/officeDocument/2006/relationships/image" Target="media/image307.png" /><Relationship Id="rId12" Type="http://schemas.openxmlformats.org/officeDocument/2006/relationships/image" Target="media/image311.png" /><Relationship Id="rId0" Type="http://schemas.openxmlformats.org/officeDocument/2006/relationships/slideLayout" Target="../slideLayouts/slideLayout2.xml" /><Relationship Id="rId13" Type="http://schemas.openxmlformats.org/officeDocument/2006/relationships/image" Target="media/image312.png" /><Relationship Id="rId2" Type="http://schemas.openxmlformats.org/officeDocument/2006/relationships/image" Target="media/image15.png" /><Relationship Id="rId4" Type="http://schemas.openxmlformats.org/officeDocument/2006/relationships/image" Target="media/image3.png" /><Relationship Id="rId24" Type="http://schemas.openxmlformats.org/officeDocument/2006/relationships/image" Target="media/image323.png" /><Relationship Id="rId25" Type="http://schemas.openxmlformats.org/officeDocument/2006/relationships/image" Target="media/image324.png" /><Relationship Id="rId19" Type="http://schemas.openxmlformats.org/officeDocument/2006/relationships/image" Target="media/image318.png" /><Relationship Id="rId40" Type="http://schemas.openxmlformats.org/officeDocument/2006/relationships/image" Target="media/image339.png" /><Relationship Id="rId3" Type="http://schemas.openxmlformats.org/officeDocument/2006/relationships/image" Target="media/image303.png" /><Relationship Id="rId28" Type="http://schemas.openxmlformats.org/officeDocument/2006/relationships/image" Target="media/image327.png" /><Relationship Id="rId37" Type="http://schemas.openxmlformats.org/officeDocument/2006/relationships/image" Target="media/image336.png" /><Relationship Id="rId29" Type="http://schemas.openxmlformats.org/officeDocument/2006/relationships/image" Target="media/image328.png" /><Relationship Id="rId22" Type="http://schemas.openxmlformats.org/officeDocument/2006/relationships/image" Target="media/image321.png" /><Relationship Id="rId32" Type="http://schemas.openxmlformats.org/officeDocument/2006/relationships/image" Target="media/image331.png" /><Relationship Id="rId9" Type="http://schemas.openxmlformats.org/officeDocument/2006/relationships/image" Target="media/image308.png" /><Relationship Id="rId16" Type="http://schemas.openxmlformats.org/officeDocument/2006/relationships/image" Target="media/image315.png" /><Relationship Id="rId36" Type="http://schemas.openxmlformats.org/officeDocument/2006/relationships/image" Target="media/image335.png" /><Relationship Id="rId7" Type="http://schemas.openxmlformats.org/officeDocument/2006/relationships/image" Target="media/image306.png" /><Relationship Id="rId33" Type="http://schemas.openxmlformats.org/officeDocument/2006/relationships/image" Target="media/image332.png" /><Relationship Id="rId27" Type="http://schemas.openxmlformats.org/officeDocument/2006/relationships/image" Target="media/image326.png" /><Relationship Id="rId34" Type="http://schemas.openxmlformats.org/officeDocument/2006/relationships/image" Target="media/image333.png" /><Relationship Id="rId39" Type="http://schemas.openxmlformats.org/officeDocument/2006/relationships/image" Target="media/image338.png" /><Relationship Id="rId15" Type="http://schemas.openxmlformats.org/officeDocument/2006/relationships/image" Target="media/image314.png" /><Relationship Id="rId38" Type="http://schemas.openxmlformats.org/officeDocument/2006/relationships/image" Target="media/image337.png" /></Relationships>
</file>

<file path=ppt/slides/_rels/slide5.xml.rels><?xml version="1.0" encoding="UTF-8" standalone="yes"?><Relationships xmlns="http://schemas.openxmlformats.org/package/2006/relationships"><Relationship Id="rId9" Type="http://schemas.openxmlformats.org/officeDocument/2006/relationships/image" Target="media/image350.png" /><Relationship Id="rId8" Type="http://schemas.openxmlformats.org/officeDocument/2006/relationships/image" Target="media/image349.png" /><Relationship Id="rId5" Type="http://schemas.openxmlformats.org/officeDocument/2006/relationships/image" Target="media/image346.png" /><Relationship Id="rId1" Type="http://schemas.openxmlformats.org/officeDocument/2006/relationships/notesSlide" Target="../notesSlides/notesSlide15.xml" /><Relationship Id="rId10" Type="http://schemas.openxmlformats.org/officeDocument/2006/relationships/image" Target="media/image351.png" /><Relationship Id="rId0" Type="http://schemas.openxmlformats.org/officeDocument/2006/relationships/slideLayout" Target="../slideLayouts/slideLayout1.xml" /><Relationship Id="rId11" Type="http://schemas.openxmlformats.org/officeDocument/2006/relationships/image" Target="media/image15.png" /><Relationship Id="rId7" Type="http://schemas.openxmlformats.org/officeDocument/2006/relationships/image" Target="media/image348.png" /><Relationship Id="rId4" Type="http://schemas.openxmlformats.org/officeDocument/2006/relationships/image" Target="media/image345.png" /><Relationship Id="rId2" Type="http://schemas.openxmlformats.org/officeDocument/2006/relationships/image" Target="media/image3.png" /><Relationship Id="rId6" Type="http://schemas.openxmlformats.org/officeDocument/2006/relationships/image" Target="media/image347.png" /><Relationship Id="rId3" Type="http://schemas.openxmlformats.org/officeDocument/2006/relationships/image" Target="media/image344.png" /></Relationships>
</file>

<file path=ppt/slides/_rels/slide6.xml.rels><?xml version="1.0" encoding="UTF-8" standalone="yes"?><Relationships xmlns="http://schemas.openxmlformats.org/package/2006/relationships"><Relationship Id="rId8" Type="http://schemas.openxmlformats.org/officeDocument/2006/relationships/image" Target="media/image357.png" /><Relationship Id="rId6" Type="http://schemas.openxmlformats.org/officeDocument/2006/relationships/image" Target="media/image355.png" /><Relationship Id="rId4" Type="http://schemas.openxmlformats.org/officeDocument/2006/relationships/image" Target="media/image353.png" /><Relationship Id="rId3" Type="http://schemas.openxmlformats.org/officeDocument/2006/relationships/image" Target="media/image352.png" /><Relationship Id="rId28" Type="http://schemas.openxmlformats.org/officeDocument/2006/relationships/image" Target="media/image377.png" /><Relationship Id="rId27" Type="http://schemas.openxmlformats.org/officeDocument/2006/relationships/image" Target="media/image376.png" /><Relationship Id="rId26" Type="http://schemas.openxmlformats.org/officeDocument/2006/relationships/image" Target="media/image375.png" /><Relationship Id="rId7" Type="http://schemas.openxmlformats.org/officeDocument/2006/relationships/image" Target="media/image356.png" /><Relationship Id="rId25" Type="http://schemas.openxmlformats.org/officeDocument/2006/relationships/image" Target="media/image374.png" /><Relationship Id="rId23" Type="http://schemas.openxmlformats.org/officeDocument/2006/relationships/image" Target="media/image372.png" /><Relationship Id="rId13" Type="http://schemas.openxmlformats.org/officeDocument/2006/relationships/image" Target="media/image362.png" /><Relationship Id="rId15" Type="http://schemas.openxmlformats.org/officeDocument/2006/relationships/image" Target="media/image364.png" /><Relationship Id="rId5" Type="http://schemas.openxmlformats.org/officeDocument/2006/relationships/image" Target="media/image354.png" /><Relationship Id="rId18" Type="http://schemas.openxmlformats.org/officeDocument/2006/relationships/image" Target="media/image367.png" /><Relationship Id="rId24" Type="http://schemas.openxmlformats.org/officeDocument/2006/relationships/image" Target="media/image373.png" /><Relationship Id="rId2" Type="http://schemas.openxmlformats.org/officeDocument/2006/relationships/image" Target="media/image15.png" /><Relationship Id="rId12" Type="http://schemas.openxmlformats.org/officeDocument/2006/relationships/image" Target="media/image361.png" /><Relationship Id="rId1" Type="http://schemas.openxmlformats.org/officeDocument/2006/relationships/notesSlide" Target="../notesSlides/notesSlide16.xml" /><Relationship Id="rId11" Type="http://schemas.openxmlformats.org/officeDocument/2006/relationships/image" Target="media/image360.png" /><Relationship Id="rId0" Type="http://schemas.openxmlformats.org/officeDocument/2006/relationships/slideLayout" Target="../slideLayouts/slideLayout2.xml" /><Relationship Id="rId16" Type="http://schemas.openxmlformats.org/officeDocument/2006/relationships/image" Target="media/image365.png" /><Relationship Id="rId10" Type="http://schemas.openxmlformats.org/officeDocument/2006/relationships/image" Target="media/image359.png" /><Relationship Id="rId14" Type="http://schemas.openxmlformats.org/officeDocument/2006/relationships/image" Target="media/image363.png" /><Relationship Id="rId17" Type="http://schemas.openxmlformats.org/officeDocument/2006/relationships/image" Target="media/image366.png" /><Relationship Id="rId19" Type="http://schemas.openxmlformats.org/officeDocument/2006/relationships/image" Target="media/image368.png" /><Relationship Id="rId20" Type="http://schemas.openxmlformats.org/officeDocument/2006/relationships/image" Target="media/image369.png" /><Relationship Id="rId9" Type="http://schemas.openxmlformats.org/officeDocument/2006/relationships/image" Target="media/image358.png" /><Relationship Id="rId21" Type="http://schemas.openxmlformats.org/officeDocument/2006/relationships/image" Target="media/image370.png" /><Relationship Id="rId22" Type="http://schemas.openxmlformats.org/officeDocument/2006/relationships/image" Target="media/image371.png" /></Relationships>
</file>

<file path=ppt/slides/_rels/slide7.xml.rels><?xml version="1.0" encoding="UTF-8" standalone="yes"?><Relationships xmlns="http://schemas.openxmlformats.org/package/2006/relationships"><Relationship Id="rId8" Type="http://schemas.openxmlformats.org/officeDocument/2006/relationships/image" Target="media/image384.png" /><Relationship Id="rId7" Type="http://schemas.openxmlformats.org/officeDocument/2006/relationships/image" Target="media/image383.png" /><Relationship Id="rId5" Type="http://schemas.openxmlformats.org/officeDocument/2006/relationships/image" Target="media/image381.png" /><Relationship Id="rId13" Type="http://schemas.openxmlformats.org/officeDocument/2006/relationships/image" Target="media/image389.png" /><Relationship Id="rId16" Type="http://schemas.openxmlformats.org/officeDocument/2006/relationships/image" Target="media/image392.png" /><Relationship Id="rId11" Type="http://schemas.openxmlformats.org/officeDocument/2006/relationships/image" Target="media/image387.png" /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1.xml" /><Relationship Id="rId10" Type="http://schemas.openxmlformats.org/officeDocument/2006/relationships/image" Target="media/image386.png" /><Relationship Id="rId12" Type="http://schemas.openxmlformats.org/officeDocument/2006/relationships/image" Target="media/image388.png" /><Relationship Id="rId15" Type="http://schemas.openxmlformats.org/officeDocument/2006/relationships/image" Target="media/image391.png" /><Relationship Id="rId17" Type="http://schemas.openxmlformats.org/officeDocument/2006/relationships/image" Target="media/image393.png" /><Relationship Id="rId18" Type="http://schemas.openxmlformats.org/officeDocument/2006/relationships/image" Target="media/image15.png" /><Relationship Id="rId19" Type="http://schemas.openxmlformats.org/officeDocument/2006/relationships/image" Target="media/image394.png" /><Relationship Id="rId14" Type="http://schemas.openxmlformats.org/officeDocument/2006/relationships/image" Target="media/image390.png" /><Relationship Id="rId2" Type="http://schemas.openxmlformats.org/officeDocument/2006/relationships/image" Target="media/image378.png" /><Relationship Id="rId20" Type="http://schemas.openxmlformats.org/officeDocument/2006/relationships/image" Target="media/image395.png" /><Relationship Id="rId6" Type="http://schemas.openxmlformats.org/officeDocument/2006/relationships/image" Target="media/image382.png" /><Relationship Id="rId3" Type="http://schemas.openxmlformats.org/officeDocument/2006/relationships/image" Target="media/image379.png" /><Relationship Id="rId9" Type="http://schemas.openxmlformats.org/officeDocument/2006/relationships/image" Target="media/image385.png" /><Relationship Id="rId4" Type="http://schemas.openxmlformats.org/officeDocument/2006/relationships/image" Target="media/image380.png" /></Relationships>
</file>

<file path=ppt/slides/_rels/slide8.xml.rels><?xml version="1.0" encoding="UTF-8" standalone="yes"?><Relationships xmlns="http://schemas.openxmlformats.org/package/2006/relationships"><Relationship Id="rId7" Type="http://schemas.openxmlformats.org/officeDocument/2006/relationships/image" Target="media/image400.png" /><Relationship Id="rId6" Type="http://schemas.openxmlformats.org/officeDocument/2006/relationships/image" Target="media/image399.png" /><Relationship Id="rId9" Type="http://schemas.openxmlformats.org/officeDocument/2006/relationships/image" Target="media/image402.png" /><Relationship Id="rId5" Type="http://schemas.openxmlformats.org/officeDocument/2006/relationships/image" Target="media/image398.png" /><Relationship Id="rId4" Type="http://schemas.openxmlformats.org/officeDocument/2006/relationships/image" Target="media/image397.png" /><Relationship Id="rId12" Type="http://schemas.openxmlformats.org/officeDocument/2006/relationships/image" Target="media/image405.png" /><Relationship Id="rId11" Type="http://schemas.openxmlformats.org/officeDocument/2006/relationships/image" Target="media/image404.png" /><Relationship Id="rId10" Type="http://schemas.openxmlformats.org/officeDocument/2006/relationships/image" Target="media/image403.png" /><Relationship Id="rId0" Type="http://schemas.openxmlformats.org/officeDocument/2006/relationships/slideLayout" Target="../slideLayouts/slideLayout2.xml" /><Relationship Id="rId13" Type="http://schemas.openxmlformats.org/officeDocument/2006/relationships/image" Target="media/image406.png" /><Relationship Id="rId3" Type="http://schemas.openxmlformats.org/officeDocument/2006/relationships/image" Target="media/image396.png" /><Relationship Id="rId1" Type="http://schemas.openxmlformats.org/officeDocument/2006/relationships/notesSlide" Target="../notesSlides/notesSlide18.xml" /><Relationship Id="rId14" Type="http://schemas.openxmlformats.org/officeDocument/2006/relationships/image" Target="media/image407.png" /><Relationship Id="rId16" Type="http://schemas.openxmlformats.org/officeDocument/2006/relationships/image" Target="media/image409.png" /><Relationship Id="rId15" Type="http://schemas.openxmlformats.org/officeDocument/2006/relationships/image" Target="media/image408.png" /><Relationship Id="rId17" Type="http://schemas.openxmlformats.org/officeDocument/2006/relationships/image" Target="media/image410.png" /><Relationship Id="rId8" Type="http://schemas.openxmlformats.org/officeDocument/2006/relationships/image" Target="media/image401.png" /><Relationship Id="rId18" Type="http://schemas.openxmlformats.org/officeDocument/2006/relationships/image" Target="media/image411.png" /><Relationship Id="rId2" Type="http://schemas.openxmlformats.org/officeDocument/2006/relationships/image" Target="media/image15.png" /><Relationship Id="rId19" Type="http://schemas.openxmlformats.org/officeDocument/2006/relationships/image" Target="media/image412.png" /><Relationship Id="rId20" Type="http://schemas.openxmlformats.org/officeDocument/2006/relationships/image" Target="media/image413.png" /><Relationship Id="rId21" Type="http://schemas.openxmlformats.org/officeDocument/2006/relationships/image" Target="media/image414.png" /><Relationship Id="rId22" Type="http://schemas.openxmlformats.org/officeDocument/2006/relationships/image" Target="media/image415.png" /></Relationships>
</file>

<file path=ppt/slides/_rels/slide9.xml.rels><?xml version="1.0" encoding="UTF-8" standalone="yes"?><Relationships xmlns="http://schemas.openxmlformats.org/package/2006/relationships"><Relationship Id="rId8" Type="http://schemas.openxmlformats.org/officeDocument/2006/relationships/image" Target="media/image422.png" /><Relationship Id="rId7" Type="http://schemas.openxmlformats.org/officeDocument/2006/relationships/image" Target="media/image421.png" /><Relationship Id="rId6" Type="http://schemas.openxmlformats.org/officeDocument/2006/relationships/image" Target="media/image420.png" /><Relationship Id="rId46" Type="http://schemas.openxmlformats.org/officeDocument/2006/relationships/image" Target="media/image460.png" /><Relationship Id="rId43" Type="http://schemas.openxmlformats.org/officeDocument/2006/relationships/image" Target="media/image457.png" /><Relationship Id="rId42" Type="http://schemas.openxmlformats.org/officeDocument/2006/relationships/image" Target="media/image456.png" /><Relationship Id="rId21" Type="http://schemas.openxmlformats.org/officeDocument/2006/relationships/image" Target="media/image435.png" /><Relationship Id="rId2" Type="http://schemas.openxmlformats.org/officeDocument/2006/relationships/image" Target="media/image416.png" /><Relationship Id="rId0" Type="http://schemas.openxmlformats.org/officeDocument/2006/relationships/slideLayout" Target="../slideLayouts/slideLayout1.xml" /><Relationship Id="rId32" Type="http://schemas.openxmlformats.org/officeDocument/2006/relationships/image" Target="media/image446.png" /><Relationship Id="rId20" Type="http://schemas.openxmlformats.org/officeDocument/2006/relationships/image" Target="media/image434.png" /><Relationship Id="rId27" Type="http://schemas.openxmlformats.org/officeDocument/2006/relationships/image" Target="media/image441.png" /><Relationship Id="rId45" Type="http://schemas.openxmlformats.org/officeDocument/2006/relationships/image" Target="media/image459.png" /><Relationship Id="rId44" Type="http://schemas.openxmlformats.org/officeDocument/2006/relationships/image" Target="media/image458.png" /><Relationship Id="rId19" Type="http://schemas.openxmlformats.org/officeDocument/2006/relationships/image" Target="media/image433.png" /><Relationship Id="rId10" Type="http://schemas.openxmlformats.org/officeDocument/2006/relationships/image" Target="media/image424.png" /><Relationship Id="rId24" Type="http://schemas.openxmlformats.org/officeDocument/2006/relationships/image" Target="media/image438.png" /><Relationship Id="rId17" Type="http://schemas.openxmlformats.org/officeDocument/2006/relationships/image" Target="media/image431.png" /><Relationship Id="rId16" Type="http://schemas.openxmlformats.org/officeDocument/2006/relationships/image" Target="media/image430.png" /><Relationship Id="rId39" Type="http://schemas.openxmlformats.org/officeDocument/2006/relationships/image" Target="media/image453.png" /><Relationship Id="rId40" Type="http://schemas.openxmlformats.org/officeDocument/2006/relationships/image" Target="media/image454.png" /><Relationship Id="rId22" Type="http://schemas.openxmlformats.org/officeDocument/2006/relationships/image" Target="media/image436.png" /><Relationship Id="rId3" Type="http://schemas.openxmlformats.org/officeDocument/2006/relationships/image" Target="media/image417.png" /><Relationship Id="rId47" Type="http://schemas.openxmlformats.org/officeDocument/2006/relationships/image" Target="media/image15.png" /><Relationship Id="rId1" Type="http://schemas.openxmlformats.org/officeDocument/2006/relationships/notesSlide" Target="../notesSlides/notesSlide19.xml" /><Relationship Id="rId11" Type="http://schemas.openxmlformats.org/officeDocument/2006/relationships/image" Target="media/image425.png" /><Relationship Id="rId12" Type="http://schemas.openxmlformats.org/officeDocument/2006/relationships/image" Target="media/image426.png" /><Relationship Id="rId18" Type="http://schemas.openxmlformats.org/officeDocument/2006/relationships/image" Target="media/image432.png" /><Relationship Id="rId23" Type="http://schemas.openxmlformats.org/officeDocument/2006/relationships/image" Target="media/image437.png" /><Relationship Id="rId41" Type="http://schemas.openxmlformats.org/officeDocument/2006/relationships/image" Target="media/image455.png" /><Relationship Id="rId15" Type="http://schemas.openxmlformats.org/officeDocument/2006/relationships/image" Target="media/image429.png" /><Relationship Id="rId31" Type="http://schemas.openxmlformats.org/officeDocument/2006/relationships/image" Target="media/image445.png" /><Relationship Id="rId13" Type="http://schemas.openxmlformats.org/officeDocument/2006/relationships/image" Target="media/image427.png" /><Relationship Id="rId25" Type="http://schemas.openxmlformats.org/officeDocument/2006/relationships/image" Target="media/image439.png" /><Relationship Id="rId36" Type="http://schemas.openxmlformats.org/officeDocument/2006/relationships/image" Target="media/image450.png" /><Relationship Id="rId26" Type="http://schemas.openxmlformats.org/officeDocument/2006/relationships/image" Target="media/image440.png" /><Relationship Id="rId35" Type="http://schemas.openxmlformats.org/officeDocument/2006/relationships/image" Target="media/image449.png" /><Relationship Id="rId4" Type="http://schemas.openxmlformats.org/officeDocument/2006/relationships/image" Target="media/image418.png" /><Relationship Id="rId29" Type="http://schemas.openxmlformats.org/officeDocument/2006/relationships/image" Target="media/image443.png" /><Relationship Id="rId30" Type="http://schemas.openxmlformats.org/officeDocument/2006/relationships/image" Target="media/image444.png" /><Relationship Id="rId9" Type="http://schemas.openxmlformats.org/officeDocument/2006/relationships/image" Target="media/image423.png" /><Relationship Id="rId33" Type="http://schemas.openxmlformats.org/officeDocument/2006/relationships/image" Target="media/image447.png" /><Relationship Id="rId38" Type="http://schemas.openxmlformats.org/officeDocument/2006/relationships/image" Target="media/image452.png" /><Relationship Id="rId28" Type="http://schemas.openxmlformats.org/officeDocument/2006/relationships/image" Target="media/image442.png" /><Relationship Id="rId34" Type="http://schemas.openxmlformats.org/officeDocument/2006/relationships/image" Target="media/image448.png" /><Relationship Id="rId5" Type="http://schemas.openxmlformats.org/officeDocument/2006/relationships/image" Target="media/image419.png" /><Relationship Id="rId14" Type="http://schemas.openxmlformats.org/officeDocument/2006/relationships/image" Target="media/image428.png" /><Relationship Id="rId37" Type="http://schemas.openxmlformats.org/officeDocument/2006/relationships/image" Target="media/image451.png" /></Relationships>
</file>

<file path=ppt/slides/_rels/slide10.xml.rels><?xml version="1.0" encoding="UTF-8" standalone="yes"?><Relationships xmlns="http://schemas.openxmlformats.org/package/2006/relationships"><Relationship Id="rId9" Type="http://schemas.openxmlformats.org/officeDocument/2006/relationships/image" Target="media/image10.png" /><Relationship Id="rId6" Type="http://schemas.openxmlformats.org/officeDocument/2006/relationships/image" Target="media/image7.png" /><Relationship Id="rId5" Type="http://schemas.openxmlformats.org/officeDocument/2006/relationships/image" Target="media/image6.png" /><Relationship Id="rId4" Type="http://schemas.openxmlformats.org/officeDocument/2006/relationships/image" Target="media/image5.png" /><Relationship Id="rId14" Type="http://schemas.openxmlformats.org/officeDocument/2006/relationships/image" Target="media/image15.png" /><Relationship Id="rId15" Type="http://schemas.openxmlformats.org/officeDocument/2006/relationships/image" Target="media/image16.png" /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Relationship Id="rId10" Type="http://schemas.openxmlformats.org/officeDocument/2006/relationships/image" Target="media/image11.png" /><Relationship Id="rId8" Type="http://schemas.openxmlformats.org/officeDocument/2006/relationships/image" Target="media/image9.png" /><Relationship Id="rId3" Type="http://schemas.openxmlformats.org/officeDocument/2006/relationships/image" Target="media/image4.png" /><Relationship Id="rId2" Type="http://schemas.openxmlformats.org/officeDocument/2006/relationships/image" Target="media/image3.png" /><Relationship Id="rId11" Type="http://schemas.openxmlformats.org/officeDocument/2006/relationships/image" Target="media/image12.png" /><Relationship Id="rId12" Type="http://schemas.openxmlformats.org/officeDocument/2006/relationships/image" Target="media/image13.png" /><Relationship Id="rId7" Type="http://schemas.openxmlformats.org/officeDocument/2006/relationships/image" Target="media/image8.png" /><Relationship Id="rId13" Type="http://schemas.openxmlformats.org/officeDocument/2006/relationships/image" Target="media/image14.png" /></Relationships>
</file>

<file path=ppt/slides/_rels/slide11.xml.rels><?xml version="1.0" encoding="UTF-8" standalone="yes"?><Relationships xmlns="http://schemas.openxmlformats.org/package/2006/relationships"><Relationship Id="rId8" Type="http://schemas.openxmlformats.org/officeDocument/2006/relationships/image" Target="media/image22.png" /><Relationship Id="rId7" Type="http://schemas.openxmlformats.org/officeDocument/2006/relationships/image" Target="media/image21.png" /><Relationship Id="rId6" Type="http://schemas.openxmlformats.org/officeDocument/2006/relationships/image" Target="media/image15.png" /><Relationship Id="rId9" Type="http://schemas.openxmlformats.org/officeDocument/2006/relationships/image" Target="media/image23.png" /><Relationship Id="rId5" Type="http://schemas.openxmlformats.org/officeDocument/2006/relationships/image" Target="media/image20.png" /><Relationship Id="rId4" Type="http://schemas.openxmlformats.org/officeDocument/2006/relationships/image" Target="media/image19.png" /><Relationship Id="rId3" Type="http://schemas.openxmlformats.org/officeDocument/2006/relationships/image" Target="media/image18.png" /><Relationship Id="rId14" Type="http://schemas.openxmlformats.org/officeDocument/2006/relationships/image" Target="media/image28.png" /><Relationship Id="rId2" Type="http://schemas.openxmlformats.org/officeDocument/2006/relationships/image" Target="media/image17.png" /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1.xml" /><Relationship Id="rId10" Type="http://schemas.openxmlformats.org/officeDocument/2006/relationships/image" Target="media/image24.png" /><Relationship Id="rId11" Type="http://schemas.openxmlformats.org/officeDocument/2006/relationships/image" Target="media/image25.png" /><Relationship Id="rId12" Type="http://schemas.openxmlformats.org/officeDocument/2006/relationships/image" Target="media/image26.png" /><Relationship Id="rId13" Type="http://schemas.openxmlformats.org/officeDocument/2006/relationships/image" Target="media/image27.png" /></Relationships>
</file>

<file path=ppt/slides/_rels/slide12.xml.rels><?xml version="1.0" encoding="UTF-8" standalone="yes"?><Relationships xmlns="http://schemas.openxmlformats.org/package/2006/relationships"><Relationship Id="rId8" Type="http://schemas.openxmlformats.org/officeDocument/2006/relationships/image" Target="media/image34.png" /><Relationship Id="rId7" Type="http://schemas.openxmlformats.org/officeDocument/2006/relationships/image" Target="media/image33.png" /><Relationship Id="rId3" Type="http://schemas.openxmlformats.org/officeDocument/2006/relationships/image" Target="media/image29.png" /><Relationship Id="rId25" Type="http://schemas.openxmlformats.org/officeDocument/2006/relationships/image" Target="media/image51.png" /><Relationship Id="rId28" Type="http://schemas.openxmlformats.org/officeDocument/2006/relationships/image" Target="media/image54.png" /><Relationship Id="rId24" Type="http://schemas.openxmlformats.org/officeDocument/2006/relationships/image" Target="media/image50.png" /><Relationship Id="rId23" Type="http://schemas.openxmlformats.org/officeDocument/2006/relationships/image" Target="media/image49.png" /><Relationship Id="rId4" Type="http://schemas.openxmlformats.org/officeDocument/2006/relationships/image" Target="media/image30.png" /><Relationship Id="rId13" Type="http://schemas.openxmlformats.org/officeDocument/2006/relationships/image" Target="media/image39.png" /><Relationship Id="rId11" Type="http://schemas.openxmlformats.org/officeDocument/2006/relationships/image" Target="media/image37.png" /><Relationship Id="rId1" Type="http://schemas.openxmlformats.org/officeDocument/2006/relationships/notesSlide" Target="../notesSlides/notesSlide3.xml" /><Relationship Id="rId18" Type="http://schemas.openxmlformats.org/officeDocument/2006/relationships/image" Target="media/image44.png" /><Relationship Id="rId30" Type="http://schemas.openxmlformats.org/officeDocument/2006/relationships/image" Target="media/image56.png" /><Relationship Id="rId29" Type="http://schemas.openxmlformats.org/officeDocument/2006/relationships/image" Target="media/image55.png" /><Relationship Id="rId27" Type="http://schemas.openxmlformats.org/officeDocument/2006/relationships/image" Target="media/image53.png" /><Relationship Id="rId10" Type="http://schemas.openxmlformats.org/officeDocument/2006/relationships/image" Target="media/image36.png" /><Relationship Id="rId5" Type="http://schemas.openxmlformats.org/officeDocument/2006/relationships/image" Target="media/image31.png" /><Relationship Id="rId0" Type="http://schemas.openxmlformats.org/officeDocument/2006/relationships/slideLayout" Target="../slideLayouts/slideLayout2.xml" /><Relationship Id="rId26" Type="http://schemas.openxmlformats.org/officeDocument/2006/relationships/image" Target="media/image52.png" /><Relationship Id="rId12" Type="http://schemas.openxmlformats.org/officeDocument/2006/relationships/image" Target="media/image38.png" /><Relationship Id="rId9" Type="http://schemas.openxmlformats.org/officeDocument/2006/relationships/image" Target="media/image35.png" /><Relationship Id="rId16" Type="http://schemas.openxmlformats.org/officeDocument/2006/relationships/image" Target="media/image42.png" /><Relationship Id="rId2" Type="http://schemas.openxmlformats.org/officeDocument/2006/relationships/image" Target="media/image15.png" /><Relationship Id="rId14" Type="http://schemas.openxmlformats.org/officeDocument/2006/relationships/image" Target="media/image40.png" /><Relationship Id="rId15" Type="http://schemas.openxmlformats.org/officeDocument/2006/relationships/image" Target="media/image41.png" /><Relationship Id="rId6" Type="http://schemas.openxmlformats.org/officeDocument/2006/relationships/image" Target="media/image32.png" /><Relationship Id="rId17" Type="http://schemas.openxmlformats.org/officeDocument/2006/relationships/image" Target="media/image43.png" /><Relationship Id="rId19" Type="http://schemas.openxmlformats.org/officeDocument/2006/relationships/image" Target="media/image45.png" /><Relationship Id="rId20" Type="http://schemas.openxmlformats.org/officeDocument/2006/relationships/image" Target="media/image46.png" /><Relationship Id="rId21" Type="http://schemas.openxmlformats.org/officeDocument/2006/relationships/image" Target="media/image47.png" /><Relationship Id="rId22" Type="http://schemas.openxmlformats.org/officeDocument/2006/relationships/image" Target="media/image48.png" /></Relationships>
</file>

<file path=ppt/slides/_rels/slide13.xml.rels><?xml version="1.0" encoding="UTF-8" standalone="yes"?><Relationships xmlns="http://schemas.openxmlformats.org/package/2006/relationships"><Relationship Id="rId8" Type="http://schemas.openxmlformats.org/officeDocument/2006/relationships/image" Target="media/image62.png" /><Relationship Id="rId7" Type="http://schemas.openxmlformats.org/officeDocument/2006/relationships/image" Target="media/image61.png" /><Relationship Id="rId6" Type="http://schemas.openxmlformats.org/officeDocument/2006/relationships/image" Target="media/image60.png" /><Relationship Id="rId9" Type="http://schemas.openxmlformats.org/officeDocument/2006/relationships/image" Target="media/image63.png" /><Relationship Id="rId5" Type="http://schemas.openxmlformats.org/officeDocument/2006/relationships/image" Target="media/image59.png" /><Relationship Id="rId4" Type="http://schemas.openxmlformats.org/officeDocument/2006/relationships/image" Target="media/image58.png" /><Relationship Id="rId10" Type="http://schemas.openxmlformats.org/officeDocument/2006/relationships/image" Target="media/image64.png" /><Relationship Id="rId3" Type="http://schemas.openxmlformats.org/officeDocument/2006/relationships/image" Target="media/image57.png" /><Relationship Id="rId0" Type="http://schemas.openxmlformats.org/officeDocument/2006/relationships/slideLayout" Target="../slideLayouts/slideLayout2.xml" /><Relationship Id="rId2" Type="http://schemas.openxmlformats.org/officeDocument/2006/relationships/image" Target="media/image15.png" /><Relationship Id="rId11" Type="http://schemas.openxmlformats.org/officeDocument/2006/relationships/image" Target="media/image65.png" /><Relationship Id="rId1" Type="http://schemas.openxmlformats.org/officeDocument/2006/relationships/notesSlide" Target="../notesSlides/notesSlide4.xml" /><Relationship Id="rId12" Type="http://schemas.openxmlformats.org/officeDocument/2006/relationships/image" Target="media/image66.png" /></Relationships>
</file>

<file path=ppt/slides/_rels/slide14.xml.rels><?xml version="1.0" encoding="UTF-8" standalone="yes"?><Relationships xmlns="http://schemas.openxmlformats.org/package/2006/relationships"><Relationship Id="rId8" Type="http://schemas.openxmlformats.org/officeDocument/2006/relationships/image" Target="media/image72.png" /><Relationship Id="rId5" Type="http://schemas.openxmlformats.org/officeDocument/2006/relationships/image" Target="media/image69.png" /><Relationship Id="rId4" Type="http://schemas.openxmlformats.org/officeDocument/2006/relationships/image" Target="media/image68.png" /><Relationship Id="rId31" Type="http://schemas.openxmlformats.org/officeDocument/2006/relationships/image" Target="media/image95.png" /><Relationship Id="rId3" Type="http://schemas.openxmlformats.org/officeDocument/2006/relationships/image" Target="media/image67.png" /><Relationship Id="rId29" Type="http://schemas.openxmlformats.org/officeDocument/2006/relationships/image" Target="media/image93.png" /><Relationship Id="rId7" Type="http://schemas.openxmlformats.org/officeDocument/2006/relationships/image" Target="media/image71.png" /><Relationship Id="rId28" Type="http://schemas.openxmlformats.org/officeDocument/2006/relationships/image" Target="media/image92.png" /><Relationship Id="rId27" Type="http://schemas.openxmlformats.org/officeDocument/2006/relationships/image" Target="media/image91.png" /><Relationship Id="rId24" Type="http://schemas.openxmlformats.org/officeDocument/2006/relationships/image" Target="media/image88.png" /><Relationship Id="rId25" Type="http://schemas.openxmlformats.org/officeDocument/2006/relationships/image" Target="media/image89.png" /><Relationship Id="rId23" Type="http://schemas.openxmlformats.org/officeDocument/2006/relationships/image" Target="media/image87.png" /><Relationship Id="rId11" Type="http://schemas.openxmlformats.org/officeDocument/2006/relationships/image" Target="media/image75.png" /><Relationship Id="rId10" Type="http://schemas.openxmlformats.org/officeDocument/2006/relationships/image" Target="media/image74.png" /><Relationship Id="rId9" Type="http://schemas.openxmlformats.org/officeDocument/2006/relationships/image" Target="media/image73.png" /><Relationship Id="rId26" Type="http://schemas.openxmlformats.org/officeDocument/2006/relationships/image" Target="media/image90.png" /><Relationship Id="rId21" Type="http://schemas.openxmlformats.org/officeDocument/2006/relationships/image" Target="media/image85.png" /><Relationship Id="rId13" Type="http://schemas.openxmlformats.org/officeDocument/2006/relationships/image" Target="media/image77.png" /><Relationship Id="rId6" Type="http://schemas.openxmlformats.org/officeDocument/2006/relationships/image" Target="media/image70.png" /><Relationship Id="rId12" Type="http://schemas.openxmlformats.org/officeDocument/2006/relationships/image" Target="media/image76.png" /><Relationship Id="rId1" Type="http://schemas.openxmlformats.org/officeDocument/2006/relationships/notesSlide" Target="../notesSlides/notesSlide5.xml" /><Relationship Id="rId14" Type="http://schemas.openxmlformats.org/officeDocument/2006/relationships/image" Target="media/image78.png" /><Relationship Id="rId15" Type="http://schemas.openxmlformats.org/officeDocument/2006/relationships/image" Target="media/image79.png" /><Relationship Id="rId0" Type="http://schemas.openxmlformats.org/officeDocument/2006/relationships/slideLayout" Target="../slideLayouts/slideLayout2.xml" /><Relationship Id="rId18" Type="http://schemas.openxmlformats.org/officeDocument/2006/relationships/image" Target="media/image82.png" /><Relationship Id="rId30" Type="http://schemas.openxmlformats.org/officeDocument/2006/relationships/image" Target="media/image94.png" /><Relationship Id="rId16" Type="http://schemas.openxmlformats.org/officeDocument/2006/relationships/image" Target="media/image80.png" /><Relationship Id="rId20" Type="http://schemas.openxmlformats.org/officeDocument/2006/relationships/image" Target="media/image84.png" /><Relationship Id="rId17" Type="http://schemas.openxmlformats.org/officeDocument/2006/relationships/image" Target="media/image81.png" /><Relationship Id="rId19" Type="http://schemas.openxmlformats.org/officeDocument/2006/relationships/image" Target="media/image83.png" /><Relationship Id="rId22" Type="http://schemas.openxmlformats.org/officeDocument/2006/relationships/image" Target="media/image86.png" /><Relationship Id="rId2" Type="http://schemas.openxmlformats.org/officeDocument/2006/relationships/image" Target="media/image15.png" /></Relationships>
</file>

<file path=ppt/slides/_rels/slide15.xml.rels><?xml version="1.0" encoding="UTF-8" standalone="yes"?><Relationships xmlns="http://schemas.openxmlformats.org/package/2006/relationships"><Relationship Id="rId9" Type="http://schemas.openxmlformats.org/officeDocument/2006/relationships/image" Target="media/image103.png" /><Relationship Id="rId5" Type="http://schemas.openxmlformats.org/officeDocument/2006/relationships/image" Target="media/image99.png" /><Relationship Id="rId3" Type="http://schemas.openxmlformats.org/officeDocument/2006/relationships/image" Target="media/image97.png" /><Relationship Id="rId23" Type="http://schemas.openxmlformats.org/officeDocument/2006/relationships/image" Target="media/image15.png" /><Relationship Id="rId13" Type="http://schemas.openxmlformats.org/officeDocument/2006/relationships/image" Target="media/image107.png" /><Relationship Id="rId11" Type="http://schemas.openxmlformats.org/officeDocument/2006/relationships/image" Target="media/image105.png" /><Relationship Id="rId10" Type="http://schemas.openxmlformats.org/officeDocument/2006/relationships/image" Target="media/image104.png" /><Relationship Id="rId7" Type="http://schemas.openxmlformats.org/officeDocument/2006/relationships/image" Target="media/image101.png" /><Relationship Id="rId15" Type="http://schemas.openxmlformats.org/officeDocument/2006/relationships/image" Target="media/image109.png" /><Relationship Id="rId6" Type="http://schemas.openxmlformats.org/officeDocument/2006/relationships/image" Target="media/image100.png" /><Relationship Id="rId18" Type="http://schemas.openxmlformats.org/officeDocument/2006/relationships/image" Target="media/image112.png" /><Relationship Id="rId8" Type="http://schemas.openxmlformats.org/officeDocument/2006/relationships/image" Target="media/image102.png" /><Relationship Id="rId0" Type="http://schemas.openxmlformats.org/officeDocument/2006/relationships/slideLayout" Target="../slideLayouts/slideLayout1.xml" /><Relationship Id="rId16" Type="http://schemas.openxmlformats.org/officeDocument/2006/relationships/image" Target="media/image110.png" /><Relationship Id="rId12" Type="http://schemas.openxmlformats.org/officeDocument/2006/relationships/image" Target="media/image106.png" /><Relationship Id="rId2" Type="http://schemas.openxmlformats.org/officeDocument/2006/relationships/image" Target="media/image96.png" /><Relationship Id="rId1" Type="http://schemas.openxmlformats.org/officeDocument/2006/relationships/notesSlide" Target="../notesSlides/notesSlide6.xml" /><Relationship Id="rId14" Type="http://schemas.openxmlformats.org/officeDocument/2006/relationships/image" Target="media/image108.png" /><Relationship Id="rId4" Type="http://schemas.openxmlformats.org/officeDocument/2006/relationships/image" Target="media/image98.png" /><Relationship Id="rId19" Type="http://schemas.openxmlformats.org/officeDocument/2006/relationships/image" Target="media/image113.png" /><Relationship Id="rId17" Type="http://schemas.openxmlformats.org/officeDocument/2006/relationships/image" Target="media/image111.png" /><Relationship Id="rId20" Type="http://schemas.openxmlformats.org/officeDocument/2006/relationships/image" Target="media/image114.png" /><Relationship Id="rId21" Type="http://schemas.openxmlformats.org/officeDocument/2006/relationships/image" Target="media/image115.png" /><Relationship Id="rId22" Type="http://schemas.openxmlformats.org/officeDocument/2006/relationships/image" Target="media/image116.png" /></Relationships>
</file>

<file path=ppt/slides/_rels/slide16.xml.rels><?xml version="1.0" encoding="UTF-8" standalone="yes"?><Relationships xmlns="http://schemas.openxmlformats.org/package/2006/relationships"><Relationship Id="rId9" Type="http://schemas.openxmlformats.org/officeDocument/2006/relationships/image" Target="media/image124.png" /><Relationship Id="rId23" Type="http://schemas.openxmlformats.org/officeDocument/2006/relationships/image" Target="media/image138.png" /><Relationship Id="rId13" Type="http://schemas.openxmlformats.org/officeDocument/2006/relationships/image" Target="media/image128.png" /><Relationship Id="rId12" Type="http://schemas.openxmlformats.org/officeDocument/2006/relationships/image" Target="media/image127.png" /><Relationship Id="rId7" Type="http://schemas.openxmlformats.org/officeDocument/2006/relationships/image" Target="media/image122.png" /><Relationship Id="rId11" Type="http://schemas.openxmlformats.org/officeDocument/2006/relationships/image" Target="media/image126.png" /><Relationship Id="rId0" Type="http://schemas.openxmlformats.org/officeDocument/2006/relationships/slideLayout" Target="../slideLayouts/slideLayout1.xml" /><Relationship Id="rId22" Type="http://schemas.openxmlformats.org/officeDocument/2006/relationships/image" Target="media/image137.png" /><Relationship Id="rId10" Type="http://schemas.openxmlformats.org/officeDocument/2006/relationships/image" Target="media/image125.png" /><Relationship Id="rId5" Type="http://schemas.openxmlformats.org/officeDocument/2006/relationships/image" Target="media/image120.png" /><Relationship Id="rId1" Type="http://schemas.openxmlformats.org/officeDocument/2006/relationships/notesSlide" Target="../notesSlides/notesSlide7.xml" /><Relationship Id="rId19" Type="http://schemas.openxmlformats.org/officeDocument/2006/relationships/image" Target="media/image134.png" /><Relationship Id="rId14" Type="http://schemas.openxmlformats.org/officeDocument/2006/relationships/image" Target="media/image129.png" /><Relationship Id="rId3" Type="http://schemas.openxmlformats.org/officeDocument/2006/relationships/image" Target="media/image118.png" /><Relationship Id="rId15" Type="http://schemas.openxmlformats.org/officeDocument/2006/relationships/image" Target="media/image130.png" /><Relationship Id="rId8" Type="http://schemas.openxmlformats.org/officeDocument/2006/relationships/image" Target="media/image123.png" /><Relationship Id="rId18" Type="http://schemas.openxmlformats.org/officeDocument/2006/relationships/image" Target="media/image133.png" /><Relationship Id="rId16" Type="http://schemas.openxmlformats.org/officeDocument/2006/relationships/image" Target="media/image131.png" /><Relationship Id="rId17" Type="http://schemas.openxmlformats.org/officeDocument/2006/relationships/image" Target="media/image132.png" /><Relationship Id="rId6" Type="http://schemas.openxmlformats.org/officeDocument/2006/relationships/image" Target="media/image121.png" /><Relationship Id="rId4" Type="http://schemas.openxmlformats.org/officeDocument/2006/relationships/image" Target="media/image119.png" /><Relationship Id="rId2" Type="http://schemas.openxmlformats.org/officeDocument/2006/relationships/image" Target="media/image117.png" /><Relationship Id="rId24" Type="http://schemas.openxmlformats.org/officeDocument/2006/relationships/image" Target="media/image15.png" /><Relationship Id="rId20" Type="http://schemas.openxmlformats.org/officeDocument/2006/relationships/image" Target="media/image135.png" /><Relationship Id="rId21" Type="http://schemas.openxmlformats.org/officeDocument/2006/relationships/image" Target="media/image136.png" /></Relationships>
</file>

<file path=ppt/slides/_rels/slide17.xml.rels><?xml version="1.0" encoding="UTF-8" standalone="yes"?><Relationships xmlns="http://schemas.openxmlformats.org/package/2006/relationships"><Relationship Id="rId9" Type="http://schemas.openxmlformats.org/officeDocument/2006/relationships/image" Target="media/image145.png" /><Relationship Id="rId8" Type="http://schemas.openxmlformats.org/officeDocument/2006/relationships/image" Target="media/image144.png" /><Relationship Id="rId7" Type="http://schemas.openxmlformats.org/officeDocument/2006/relationships/image" Target="media/image143.png" /><Relationship Id="rId6" Type="http://schemas.openxmlformats.org/officeDocument/2006/relationships/image" Target="media/image142.png" /><Relationship Id="rId5" Type="http://schemas.openxmlformats.org/officeDocument/2006/relationships/image" Target="media/image141.png" /><Relationship Id="rId45" Type="http://schemas.openxmlformats.org/officeDocument/2006/relationships/image" Target="media/image181.png" /><Relationship Id="rId43" Type="http://schemas.openxmlformats.org/officeDocument/2006/relationships/image" Target="media/image179.png" /><Relationship Id="rId41" Type="http://schemas.openxmlformats.org/officeDocument/2006/relationships/image" Target="media/image177.png" /><Relationship Id="rId19" Type="http://schemas.openxmlformats.org/officeDocument/2006/relationships/image" Target="media/image155.png" /><Relationship Id="rId17" Type="http://schemas.openxmlformats.org/officeDocument/2006/relationships/image" Target="media/image153.png" /><Relationship Id="rId1" Type="http://schemas.openxmlformats.org/officeDocument/2006/relationships/notesSlide" Target="../notesSlides/notesSlide8.xml" /><Relationship Id="rId15" Type="http://schemas.openxmlformats.org/officeDocument/2006/relationships/image" Target="media/image151.png" /><Relationship Id="rId16" Type="http://schemas.openxmlformats.org/officeDocument/2006/relationships/image" Target="media/image152.png" /><Relationship Id="rId42" Type="http://schemas.openxmlformats.org/officeDocument/2006/relationships/image" Target="media/image178.png" /><Relationship Id="rId22" Type="http://schemas.openxmlformats.org/officeDocument/2006/relationships/image" Target="media/image158.png" /><Relationship Id="rId33" Type="http://schemas.openxmlformats.org/officeDocument/2006/relationships/image" Target="media/image169.png" /><Relationship Id="rId2" Type="http://schemas.openxmlformats.org/officeDocument/2006/relationships/image" Target="media/image15.png" /><Relationship Id="rId11" Type="http://schemas.openxmlformats.org/officeDocument/2006/relationships/image" Target="media/image147.png" /><Relationship Id="rId25" Type="http://schemas.openxmlformats.org/officeDocument/2006/relationships/image" Target="media/image161.png" /><Relationship Id="rId14" Type="http://schemas.openxmlformats.org/officeDocument/2006/relationships/image" Target="media/image150.png" /><Relationship Id="rId34" Type="http://schemas.openxmlformats.org/officeDocument/2006/relationships/image" Target="media/image170.png" /><Relationship Id="rId18" Type="http://schemas.openxmlformats.org/officeDocument/2006/relationships/image" Target="media/image154.png" /><Relationship Id="rId20" Type="http://schemas.openxmlformats.org/officeDocument/2006/relationships/image" Target="media/image156.png" /><Relationship Id="rId0" Type="http://schemas.openxmlformats.org/officeDocument/2006/relationships/slideLayout" Target="../slideLayouts/slideLayout1.xml" /><Relationship Id="rId39" Type="http://schemas.openxmlformats.org/officeDocument/2006/relationships/image" Target="media/image175.png" /><Relationship Id="rId21" Type="http://schemas.openxmlformats.org/officeDocument/2006/relationships/image" Target="media/image157.png" /><Relationship Id="rId26" Type="http://schemas.openxmlformats.org/officeDocument/2006/relationships/image" Target="media/image162.png" /><Relationship Id="rId4" Type="http://schemas.openxmlformats.org/officeDocument/2006/relationships/image" Target="media/image140.png" /><Relationship Id="rId10" Type="http://schemas.openxmlformats.org/officeDocument/2006/relationships/image" Target="media/image146.png" /><Relationship Id="rId44" Type="http://schemas.openxmlformats.org/officeDocument/2006/relationships/image" Target="media/image180.png" /><Relationship Id="rId12" Type="http://schemas.openxmlformats.org/officeDocument/2006/relationships/image" Target="media/image148.png" /><Relationship Id="rId29" Type="http://schemas.openxmlformats.org/officeDocument/2006/relationships/image" Target="media/image165.png" /><Relationship Id="rId27" Type="http://schemas.openxmlformats.org/officeDocument/2006/relationships/image" Target="media/image163.png" /><Relationship Id="rId28" Type="http://schemas.openxmlformats.org/officeDocument/2006/relationships/image" Target="media/image164.png" /><Relationship Id="rId24" Type="http://schemas.openxmlformats.org/officeDocument/2006/relationships/image" Target="media/image160.png" /><Relationship Id="rId3" Type="http://schemas.openxmlformats.org/officeDocument/2006/relationships/image" Target="media/image139.png" /><Relationship Id="rId32" Type="http://schemas.openxmlformats.org/officeDocument/2006/relationships/image" Target="media/image168.png" /><Relationship Id="rId13" Type="http://schemas.openxmlformats.org/officeDocument/2006/relationships/image" Target="media/image149.png" /><Relationship Id="rId35" Type="http://schemas.openxmlformats.org/officeDocument/2006/relationships/image" Target="media/image171.png" /><Relationship Id="rId36" Type="http://schemas.openxmlformats.org/officeDocument/2006/relationships/image" Target="media/image172.png" /><Relationship Id="rId37" Type="http://schemas.openxmlformats.org/officeDocument/2006/relationships/image" Target="media/image173.png" /><Relationship Id="rId38" Type="http://schemas.openxmlformats.org/officeDocument/2006/relationships/image" Target="media/image174.png" /><Relationship Id="rId30" Type="http://schemas.openxmlformats.org/officeDocument/2006/relationships/image" Target="media/image166.png" /><Relationship Id="rId23" Type="http://schemas.openxmlformats.org/officeDocument/2006/relationships/image" Target="media/image159.png" /><Relationship Id="rId31" Type="http://schemas.openxmlformats.org/officeDocument/2006/relationships/image" Target="media/image167.png" /><Relationship Id="rId40" Type="http://schemas.openxmlformats.org/officeDocument/2006/relationships/image" Target="media/image176.png" /></Relationships>
</file>

<file path=ppt/slides/_rels/slide18.xml.rels><?xml version="1.0" encoding="UTF-8" standalone="yes"?><Relationships xmlns="http://schemas.openxmlformats.org/package/2006/relationships"><Relationship Id="rId9" Type="http://schemas.openxmlformats.org/officeDocument/2006/relationships/image" Target="media/image188.png" /><Relationship Id="rId22" Type="http://schemas.openxmlformats.org/officeDocument/2006/relationships/image" Target="media/image201.png" /><Relationship Id="rId21" Type="http://schemas.openxmlformats.org/officeDocument/2006/relationships/image" Target="media/image200.png" /><Relationship Id="rId10" Type="http://schemas.openxmlformats.org/officeDocument/2006/relationships/image" Target="media/image189.png" /><Relationship Id="rId25" Type="http://schemas.openxmlformats.org/officeDocument/2006/relationships/image" Target="media/image204.png" /><Relationship Id="rId2" Type="http://schemas.openxmlformats.org/officeDocument/2006/relationships/image" Target="media/image15.png" /><Relationship Id="rId5" Type="http://schemas.openxmlformats.org/officeDocument/2006/relationships/image" Target="media/image184.png" /><Relationship Id="rId17" Type="http://schemas.openxmlformats.org/officeDocument/2006/relationships/image" Target="media/image196.png" /><Relationship Id="rId32" Type="http://schemas.openxmlformats.org/officeDocument/2006/relationships/image" Target="media/image211.png" /><Relationship Id="rId1" Type="http://schemas.openxmlformats.org/officeDocument/2006/relationships/notesSlide" Target="../notesSlides/notesSlide9.xml" /><Relationship Id="rId18" Type="http://schemas.openxmlformats.org/officeDocument/2006/relationships/image" Target="media/image197.png" /><Relationship Id="rId15" Type="http://schemas.openxmlformats.org/officeDocument/2006/relationships/image" Target="media/image194.png" /><Relationship Id="rId0" Type="http://schemas.openxmlformats.org/officeDocument/2006/relationships/slideLayout" Target="../slideLayouts/slideLayout2.xml" /><Relationship Id="rId14" Type="http://schemas.openxmlformats.org/officeDocument/2006/relationships/image" Target="media/image193.png" /><Relationship Id="rId20" Type="http://schemas.openxmlformats.org/officeDocument/2006/relationships/image" Target="media/image199.png" /><Relationship Id="rId16" Type="http://schemas.openxmlformats.org/officeDocument/2006/relationships/image" Target="media/image195.png" /><Relationship Id="rId11" Type="http://schemas.openxmlformats.org/officeDocument/2006/relationships/image" Target="media/image190.png" /><Relationship Id="rId12" Type="http://schemas.openxmlformats.org/officeDocument/2006/relationships/image" Target="media/image191.png" /><Relationship Id="rId13" Type="http://schemas.openxmlformats.org/officeDocument/2006/relationships/image" Target="media/image192.png" /><Relationship Id="rId4" Type="http://schemas.openxmlformats.org/officeDocument/2006/relationships/image" Target="media/image183.png" /><Relationship Id="rId19" Type="http://schemas.openxmlformats.org/officeDocument/2006/relationships/image" Target="media/image198.png" /><Relationship Id="rId23" Type="http://schemas.openxmlformats.org/officeDocument/2006/relationships/image" Target="media/image202.png" /><Relationship Id="rId26" Type="http://schemas.openxmlformats.org/officeDocument/2006/relationships/image" Target="media/image205.png" /><Relationship Id="rId6" Type="http://schemas.openxmlformats.org/officeDocument/2006/relationships/image" Target="media/image185.png" /><Relationship Id="rId8" Type="http://schemas.openxmlformats.org/officeDocument/2006/relationships/image" Target="media/image187.png" /><Relationship Id="rId28" Type="http://schemas.openxmlformats.org/officeDocument/2006/relationships/image" Target="media/image207.png" /><Relationship Id="rId27" Type="http://schemas.openxmlformats.org/officeDocument/2006/relationships/image" Target="media/image206.png" /><Relationship Id="rId29" Type="http://schemas.openxmlformats.org/officeDocument/2006/relationships/image" Target="media/image208.png" /><Relationship Id="rId36" Type="http://schemas.openxmlformats.org/officeDocument/2006/relationships/image" Target="media/image215.png" /><Relationship Id="rId3" Type="http://schemas.openxmlformats.org/officeDocument/2006/relationships/image" Target="media/image182.png" /><Relationship Id="rId30" Type="http://schemas.openxmlformats.org/officeDocument/2006/relationships/image" Target="media/image209.png" /><Relationship Id="rId34" Type="http://schemas.openxmlformats.org/officeDocument/2006/relationships/image" Target="media/image213.png" /><Relationship Id="rId31" Type="http://schemas.openxmlformats.org/officeDocument/2006/relationships/image" Target="media/image210.png" /><Relationship Id="rId24" Type="http://schemas.openxmlformats.org/officeDocument/2006/relationships/image" Target="media/image203.png" /><Relationship Id="rId33" Type="http://schemas.openxmlformats.org/officeDocument/2006/relationships/image" Target="media/image212.png" /><Relationship Id="rId35" Type="http://schemas.openxmlformats.org/officeDocument/2006/relationships/image" Target="media/image214.png" /><Relationship Id="rId7" Type="http://schemas.openxmlformats.org/officeDocument/2006/relationships/image" Target="media/image186.png" /></Relationships>
</file>

<file path=ppt/slides/_rels/slide19.xml.rels><?xml version="1.0" encoding="UTF-8" standalone="yes"?><Relationships xmlns="http://schemas.openxmlformats.org/package/2006/relationships"><Relationship Id="rId9" Type="http://schemas.openxmlformats.org/officeDocument/2006/relationships/image" Target="media/image222.png" /><Relationship Id="rId8" Type="http://schemas.openxmlformats.org/officeDocument/2006/relationships/image" Target="media/image221.png" /><Relationship Id="rId7" Type="http://schemas.openxmlformats.org/officeDocument/2006/relationships/image" Target="media/image220.png" /><Relationship Id="rId6" Type="http://schemas.openxmlformats.org/officeDocument/2006/relationships/image" Target="media/image219.png" /><Relationship Id="rId5" Type="http://schemas.openxmlformats.org/officeDocument/2006/relationships/image" Target="media/image218.png" /><Relationship Id="rId4" Type="http://schemas.openxmlformats.org/officeDocument/2006/relationships/image" Target="media/image217.png" /><Relationship Id="rId26" Type="http://schemas.openxmlformats.org/officeDocument/2006/relationships/image" Target="media/image239.png" /><Relationship Id="rId25" Type="http://schemas.openxmlformats.org/officeDocument/2006/relationships/image" Target="media/image238.png" /><Relationship Id="rId24" Type="http://schemas.openxmlformats.org/officeDocument/2006/relationships/image" Target="media/image237.png" /><Relationship Id="rId27" Type="http://schemas.openxmlformats.org/officeDocument/2006/relationships/image" Target="media/image240.png" /><Relationship Id="rId13" Type="http://schemas.openxmlformats.org/officeDocument/2006/relationships/image" Target="media/image226.png" /><Relationship Id="rId22" Type="http://schemas.openxmlformats.org/officeDocument/2006/relationships/image" Target="media/image235.png" /><Relationship Id="rId11" Type="http://schemas.openxmlformats.org/officeDocument/2006/relationships/image" Target="media/image224.png" /><Relationship Id="rId19" Type="http://schemas.openxmlformats.org/officeDocument/2006/relationships/image" Target="media/image232.png" /><Relationship Id="rId18" Type="http://schemas.openxmlformats.org/officeDocument/2006/relationships/image" Target="media/image231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0.xml" /><Relationship Id="rId12" Type="http://schemas.openxmlformats.org/officeDocument/2006/relationships/image" Target="media/image225.png" /><Relationship Id="rId14" Type="http://schemas.openxmlformats.org/officeDocument/2006/relationships/image" Target="media/image227.png" /><Relationship Id="rId15" Type="http://schemas.openxmlformats.org/officeDocument/2006/relationships/image" Target="media/image228.png" /><Relationship Id="rId28" Type="http://schemas.openxmlformats.org/officeDocument/2006/relationships/image" Target="media/image241.png" /><Relationship Id="rId16" Type="http://schemas.openxmlformats.org/officeDocument/2006/relationships/image" Target="media/image229.png" /><Relationship Id="rId10" Type="http://schemas.openxmlformats.org/officeDocument/2006/relationships/image" Target="media/image223.png" /><Relationship Id="rId17" Type="http://schemas.openxmlformats.org/officeDocument/2006/relationships/image" Target="media/image230.png" /><Relationship Id="rId2" Type="http://schemas.openxmlformats.org/officeDocument/2006/relationships/image" Target="media/image15.png" /><Relationship Id="rId3" Type="http://schemas.openxmlformats.org/officeDocument/2006/relationships/image" Target="media/image216.png" /><Relationship Id="rId20" Type="http://schemas.openxmlformats.org/officeDocument/2006/relationships/image" Target="media/image233.png" /><Relationship Id="rId23" Type="http://schemas.openxmlformats.org/officeDocument/2006/relationships/image" Target="media/image236.png" /><Relationship Id="rId21" Type="http://schemas.openxmlformats.org/officeDocument/2006/relationships/image" Target="media/image234.png" /></Relationships>
</file>

<file path=ppt/slides/_rels/slide20.xml.rels><?xml version="1.0" encoding="UTF-8" standalone="yes"?><Relationships xmlns="http://schemas.openxmlformats.org/package/2006/relationships"><Relationship Id="rId8" Type="http://schemas.openxmlformats.org/officeDocument/2006/relationships/image" Target="media/image278.png" /><Relationship Id="rId7" Type="http://schemas.openxmlformats.org/officeDocument/2006/relationships/image" Target="media/image277.png" /><Relationship Id="rId6" Type="http://schemas.openxmlformats.org/officeDocument/2006/relationships/image" Target="media/image276.png" /><Relationship Id="rId12" Type="http://schemas.openxmlformats.org/officeDocument/2006/relationships/image" Target="media/image282.png" /><Relationship Id="rId19" Type="http://schemas.openxmlformats.org/officeDocument/2006/relationships/image" Target="media/image289.png" /><Relationship Id="rId11" Type="http://schemas.openxmlformats.org/officeDocument/2006/relationships/image" Target="media/image281.png" /><Relationship Id="rId10" Type="http://schemas.openxmlformats.org/officeDocument/2006/relationships/image" Target="media/image280.png" /><Relationship Id="rId13" Type="http://schemas.openxmlformats.org/officeDocument/2006/relationships/image" Target="media/image283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2.xml" /><Relationship Id="rId14" Type="http://schemas.openxmlformats.org/officeDocument/2006/relationships/image" Target="media/image284.png" /><Relationship Id="rId9" Type="http://schemas.openxmlformats.org/officeDocument/2006/relationships/image" Target="media/image279.png" /><Relationship Id="rId15" Type="http://schemas.openxmlformats.org/officeDocument/2006/relationships/image" Target="media/image285.png" /><Relationship Id="rId5" Type="http://schemas.openxmlformats.org/officeDocument/2006/relationships/image" Target="media/image275.png" /><Relationship Id="rId16" Type="http://schemas.openxmlformats.org/officeDocument/2006/relationships/image" Target="media/image286.png" /><Relationship Id="rId17" Type="http://schemas.openxmlformats.org/officeDocument/2006/relationships/image" Target="media/image287.png" /><Relationship Id="rId3" Type="http://schemas.openxmlformats.org/officeDocument/2006/relationships/image" Target="media/image273.png" /><Relationship Id="rId18" Type="http://schemas.openxmlformats.org/officeDocument/2006/relationships/image" Target="media/image288.png" /><Relationship Id="rId2" Type="http://schemas.openxmlformats.org/officeDocument/2006/relationships/image" Target="media/image15.png" /><Relationship Id="rId4" Type="http://schemas.openxmlformats.org/officeDocument/2006/relationships/image" Target="media/image274.png" /></Relationships>
</file>

<file path=ppt/slides/slide1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00"/>
          <p:cNvPicPr>
            <a:picLocks noChangeAspect="true" noChangeArrowheads="true"/>
          </p:cNvPicPr>
          <p:nvPr/>
        </p:nvPicPr>
        <p:blipFill>
          <a:blip r:embed="rId1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/>
        </p:blipFill>
        <p:spPr>
          <a:xfrm>
            <a:off x="765175" y="615950"/>
            <a:ext cx="1657350" cy="461963"/>
          </a:xfrm>
          <a:prstGeom prst="rect"/>
          <a:noFill/>
          <a:ln>
            <a:noFill/>
          </a:ln>
        </p:spPr>
      </p:pic>
      <p:sp>
        <p:nvSpPr>
          <p:cNvPr id="3" name="Text 3"/>
          <p:cNvSpPr/>
          <p:nvPr/>
        </p:nvSpPr>
        <p:spPr>
          <a:xfrm>
            <a:off x="2518410" y="1981200"/>
            <a:ext cx="71551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tru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OCAP 异常响应系统</a:t>
            </a:r>
            <a:endParaRPr/>
          </a:p>
        </p:txBody>
      </p:sp>
      <p:sp>
        <p:nvSpPr>
          <p:cNvPr id="4" name="Text 4"/>
          <p:cNvSpPr/>
          <p:nvPr/>
        </p:nvSpPr>
        <p:spPr>
          <a:xfrm>
            <a:off x="3114675" y="2667000"/>
            <a:ext cx="59626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true" dirty="false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（厂务场景）立项汇报</a:t>
            </a:r>
            <a:endParaRPr lang="en-US" sz="2250" dirty="false"/>
          </a:p>
        </p:txBody>
      </p:sp>
      <p:sp>
        <p:nvSpPr>
          <p:cNvPr id="5" name="Text 5"/>
          <p:cNvSpPr/>
          <p:nvPr/>
        </p:nvSpPr>
        <p:spPr>
          <a:xfrm>
            <a:off x="4450080" y="3390900"/>
            <a:ext cx="3291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false">
                <a:solidFill>
                  <a:srgbClr val="D1D5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智能化异常响应 · 知识驱动决策</a:t>
            </a:r>
            <a:endParaRPr lang="en-US" sz="1500" dirty="false"/>
          </a:p>
        </p:txBody>
      </p:sp>
      <p:sp>
        <p:nvSpPr>
          <p:cNvPr id="6" name="Text 6"/>
          <p:cNvSpPr/>
          <p:nvPr/>
        </p:nvSpPr>
        <p:spPr>
          <a:xfrm>
            <a:off x="3114675" y="4267200"/>
            <a:ext cx="5962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false">
                <a:solidFill>
                  <a:srgbClr val="D1D5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提升效率 · 降低停机时间</a:t>
            </a:r>
            <a:endParaRPr lang="en-US" sz="1350" dirty="false"/>
          </a:p>
        </p:txBody>
      </p:sp>
      <p:sp>
        <p:nvSpPr>
          <p:cNvPr id="7" name="Text 7"/>
          <p:cNvSpPr/>
          <p:nvPr/>
        </p:nvSpPr>
        <p:spPr>
          <a:xfrm>
            <a:off x="3114675" y="4610100"/>
            <a:ext cx="5962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false">
                <a:solidFill>
                  <a:srgbClr val="D1D5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固化知识 · 数据驱动决策</a:t>
            </a:r>
            <a:endParaRPr lang="en-US" sz="1350" dirty="false"/>
          </a:p>
        </p:txBody>
      </p:sp>
    </p:spTree>
  </p:cSld>
  <p:clrMapOvr>
    <a:masterClrMapping/>
  </p:clrMapOvr>
</p:sld>
</file>

<file path=ppt/slides/slide2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Slide 2">
    <p:spTree>
      <p:nvGrpSpPr>
        <p:cNvPr id="5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Image 2" descr="preencoded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81100"/>
            <a:ext cx="11125200" cy="571500"/>
          </a:xfrm>
          <a:prstGeom prst="rect">
            <a:avLst/>
          </a:prstGeom>
        </p:spPr>
      </p:pic>
      <p:pic>
        <p:nvPicPr>
          <p:cNvPr id="555" name="Image 3" descr="preencoded.png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33400" y="1981200"/>
            <a:ext cx="3555950" cy="255270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556" name="Image 4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33600"/>
            <a:ext cx="381000" cy="381000"/>
          </a:xfrm>
          <a:prstGeom prst="rect">
            <a:avLst/>
          </a:prstGeom>
        </p:spPr>
      </p:pic>
      <p:pic>
        <p:nvPicPr>
          <p:cNvPr id="557" name="Image 5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63" y="2190750"/>
            <a:ext cx="142875" cy="266700"/>
          </a:xfrm>
          <a:prstGeom prst="rect">
            <a:avLst/>
          </a:prstGeom>
        </p:spPr>
      </p:pic>
      <p:pic>
        <p:nvPicPr>
          <p:cNvPr id="558" name="Image 6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647950"/>
            <a:ext cx="133350" cy="133350"/>
          </a:xfrm>
          <a:prstGeom prst="rect">
            <a:avLst/>
          </a:prstGeom>
        </p:spPr>
      </p:pic>
      <p:pic>
        <p:nvPicPr>
          <p:cNvPr id="559" name="Image 7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914650"/>
            <a:ext cx="133350" cy="133350"/>
          </a:xfrm>
          <a:prstGeom prst="rect">
            <a:avLst/>
          </a:prstGeom>
        </p:spPr>
      </p:pic>
      <p:pic>
        <p:nvPicPr>
          <p:cNvPr id="560" name="Image 8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371850"/>
            <a:ext cx="133350" cy="133350"/>
          </a:xfrm>
          <a:prstGeom prst="rect">
            <a:avLst/>
          </a:prstGeom>
        </p:spPr>
      </p:pic>
      <p:pic>
        <p:nvPicPr>
          <p:cNvPr id="561" name="Image 9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638550"/>
            <a:ext cx="133350" cy="133350"/>
          </a:xfrm>
          <a:prstGeom prst="rect">
            <a:avLst/>
          </a:prstGeom>
        </p:spPr>
      </p:pic>
      <p:pic>
        <p:nvPicPr>
          <p:cNvPr id="562" name="Image 10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905250"/>
            <a:ext cx="133350" cy="133350"/>
          </a:xfrm>
          <a:prstGeom prst="rect">
            <a:avLst/>
          </a:prstGeom>
        </p:spPr>
      </p:pic>
      <p:pic>
        <p:nvPicPr>
          <p:cNvPr id="563" name="Image 11" descr="preencoded.png"/>
          <p:cNvPicPr>
            <a:picLocks noChangeAspect="true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>
            <a:off x="4317950" y="1981200"/>
            <a:ext cx="3555950" cy="255270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564" name="Image 12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 flipH="false" flipV="false">
            <a:off x="4470350" y="2133600"/>
            <a:ext cx="381000" cy="381000"/>
          </a:xfrm>
          <a:prstGeom prst="rect">
            <a:avLst/>
          </a:prstGeom>
        </p:spPr>
      </p:pic>
      <p:pic>
        <p:nvPicPr>
          <p:cNvPr id="565" name="Image 13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 flipH="false" flipV="false">
            <a:off x="4565600" y="2190750"/>
            <a:ext cx="190500" cy="266700"/>
          </a:xfrm>
          <a:prstGeom prst="rect">
            <a:avLst/>
          </a:prstGeom>
        </p:spPr>
      </p:pic>
      <p:pic>
        <p:nvPicPr>
          <p:cNvPr id="566" name="Image 14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 flipH="false" flipV="false">
            <a:off x="4584650" y="2647950"/>
            <a:ext cx="133350" cy="133350"/>
          </a:xfrm>
          <a:prstGeom prst="rect">
            <a:avLst/>
          </a:prstGeom>
        </p:spPr>
      </p:pic>
      <p:pic>
        <p:nvPicPr>
          <p:cNvPr id="567" name="Image 15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4584650" y="3105150"/>
            <a:ext cx="133350" cy="133350"/>
          </a:xfrm>
          <a:prstGeom prst="rect">
            <a:avLst/>
          </a:prstGeom>
        </p:spPr>
      </p:pic>
      <p:pic>
        <p:nvPicPr>
          <p:cNvPr id="568" name="Image 16" descr="preencoded.png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4584650" y="3562350"/>
            <a:ext cx="133350" cy="133350"/>
          </a:xfrm>
          <a:prstGeom prst="rect">
            <a:avLst/>
          </a:prstGeom>
        </p:spPr>
      </p:pic>
      <p:pic>
        <p:nvPicPr>
          <p:cNvPr id="569" name="Image 17" descr="preencoded.png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4584650" y="4019550"/>
            <a:ext cx="133350" cy="133350"/>
          </a:xfrm>
          <a:prstGeom prst="rect">
            <a:avLst/>
          </a:prstGeom>
        </p:spPr>
      </p:pic>
      <p:pic>
        <p:nvPicPr>
          <p:cNvPr id="570" name="Image 18" descr="preencoded.png"/>
          <p:cNvPicPr>
            <a:picLocks noChangeAspect="true"/>
          </p:cNvPicPr>
          <p:nvPr/>
        </p:nvPicPr>
        <p:blipFill>
          <a:blip r:embed="rId18">
            <a:alphaModFix amt="50000"/>
          </a:blip>
          <a:stretch>
            <a:fillRect/>
          </a:stretch>
        </p:blipFill>
        <p:spPr>
          <a:xfrm>
            <a:off x="8102501" y="1981200"/>
            <a:ext cx="3556099" cy="255270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571" name="Image 19" descr="preencoded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8254901" y="2133600"/>
            <a:ext cx="381000" cy="381000"/>
          </a:xfrm>
          <a:prstGeom prst="rect">
            <a:avLst/>
          </a:prstGeom>
        </p:spPr>
      </p:pic>
      <p:pic>
        <p:nvPicPr>
          <p:cNvPr id="572" name="Image 20" descr="preencoded.png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0151" y="2190750"/>
            <a:ext cx="190500" cy="266700"/>
          </a:xfrm>
          <a:prstGeom prst="rect">
            <a:avLst/>
          </a:prstGeom>
        </p:spPr>
      </p:pic>
      <p:pic>
        <p:nvPicPr>
          <p:cNvPr id="573" name="Image 21" descr="preencoded.png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8369201" y="2647950"/>
            <a:ext cx="133350" cy="133350"/>
          </a:xfrm>
          <a:prstGeom prst="rect">
            <a:avLst/>
          </a:prstGeom>
        </p:spPr>
      </p:pic>
      <p:pic>
        <p:nvPicPr>
          <p:cNvPr id="574" name="Image 22" descr="preencoded.png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8369201" y="3105150"/>
            <a:ext cx="133350" cy="133350"/>
          </a:xfrm>
          <a:prstGeom prst="rect">
            <a:avLst/>
          </a:prstGeom>
        </p:spPr>
      </p:pic>
      <p:pic>
        <p:nvPicPr>
          <p:cNvPr id="575" name="Image 23" descr="preencoded.png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8369201" y="3562350"/>
            <a:ext cx="133350" cy="133350"/>
          </a:xfrm>
          <a:prstGeom prst="rect">
            <a:avLst/>
          </a:prstGeom>
        </p:spPr>
      </p:pic>
      <p:pic>
        <p:nvPicPr>
          <p:cNvPr id="576" name="Image 24" descr="preencoded.png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8369201" y="4019550"/>
            <a:ext cx="133350" cy="133350"/>
          </a:xfrm>
          <a:prstGeom prst="rect">
            <a:avLst/>
          </a:prstGeom>
        </p:spPr>
      </p:pic>
      <p:pic>
        <p:nvPicPr>
          <p:cNvPr id="577" name="Image 25" descr="preencoded.png"/>
          <p:cNvPicPr>
            <a:picLocks noChangeAspect="true"/>
          </p:cNvPicPr>
          <p:nvPr/>
        </p:nvPicPr>
        <p:blipFill>
          <a:blip r:embed="rId25">
            <a:alphaModFix amt="50000"/>
          </a:blip>
          <a:stretch>
            <a:fillRect/>
          </a:stretch>
        </p:blipFill>
        <p:spPr>
          <a:xfrm>
            <a:off x="533400" y="4762500"/>
            <a:ext cx="5448300" cy="1638300"/>
          </a:xfrm>
          <a:prstGeom prst="rect">
            <a:avLst/>
          </a:prstGeom>
          <a:solidFill>
            <a:srgbClr val="E5EFFF">
              <a:alpha val="100000"/>
            </a:srgbClr>
          </a:solidFill>
        </p:spPr>
      </p:pic>
      <p:pic>
        <p:nvPicPr>
          <p:cNvPr id="578" name="Image 26" descr="preencoded.png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723900" y="4991100"/>
            <a:ext cx="190500" cy="190500"/>
          </a:xfrm>
          <a:prstGeom prst="rect">
            <a:avLst/>
          </a:prstGeom>
        </p:spPr>
      </p:pic>
      <p:pic>
        <p:nvPicPr>
          <p:cNvPr id="579" name="Image 27" descr="preencoded.png"/>
          <p:cNvPicPr>
            <a:picLocks noChangeAspect="true"/>
          </p:cNvPicPr>
          <p:nvPr/>
        </p:nvPicPr>
        <p:blipFill>
          <a:blip r:embed="rId27">
            <a:alphaModFix amt="50000"/>
          </a:blip>
          <a:stretch>
            <a:fillRect/>
          </a:stretch>
        </p:blipFill>
        <p:spPr>
          <a:xfrm>
            <a:off x="6210300" y="4762500"/>
            <a:ext cx="5448300" cy="1638300"/>
          </a:xfrm>
          <a:prstGeom prst="rect">
            <a:avLst/>
          </a:prstGeom>
          <a:solidFill>
            <a:srgbClr val="E5EFFF">
              <a:alpha val="100000"/>
            </a:srgbClr>
          </a:solidFill>
        </p:spPr>
      </p:pic>
      <p:pic>
        <p:nvPicPr>
          <p:cNvPr id="580" name="Image 28" descr="preencoded.png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0800" y="4991100"/>
            <a:ext cx="190500" cy="190500"/>
          </a:xfrm>
          <a:prstGeom prst="rect">
            <a:avLst/>
          </a:prstGeom>
        </p:spPr>
      </p:pic>
      <p:pic>
        <p:nvPicPr>
          <p:cNvPr id="581" name="Image 29" descr="preencoded.png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>
            <a:off x="7287964" y="5638800"/>
            <a:ext cx="838200" cy="266700"/>
          </a:xfrm>
          <a:prstGeom prst="rect">
            <a:avLst/>
          </a:prstGeom>
        </p:spPr>
      </p:pic>
      <p:pic>
        <p:nvPicPr>
          <p:cNvPr id="582" name="Image 30" descr="preencoded.png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8202364" y="5638800"/>
            <a:ext cx="838200" cy="266700"/>
          </a:xfrm>
          <a:prstGeom prst="rect">
            <a:avLst/>
          </a:prstGeom>
        </p:spPr>
      </p:pic>
      <p:pic>
        <p:nvPicPr>
          <p:cNvPr id="583" name="Image 31" descr="preencoded.png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 flipH="false" flipV="false">
            <a:off x="9129464" y="5638800"/>
            <a:ext cx="838200" cy="266700"/>
          </a:xfrm>
          <a:prstGeom prst="rect">
            <a:avLst/>
          </a:prstGeom>
        </p:spPr>
      </p:pic>
      <p:pic>
        <p:nvPicPr>
          <p:cNvPr id="584" name="Image 32" descr="preencoded.png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31164" y="5638800"/>
            <a:ext cx="549771" cy="266700"/>
          </a:xfrm>
          <a:prstGeom prst="rect">
            <a:avLst/>
          </a:prstGeom>
        </p:spPr>
      </p:pic>
      <p:sp>
        <p:nvSpPr>
          <p:cNvPr id="585" name="Text 1"/>
          <p:cNvSpPr/>
          <p:nvPr/>
        </p:nvSpPr>
        <p:spPr>
          <a:xfrm>
            <a:off x="-396240" y="1333500"/>
            <a:ext cx="12984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我们的核心理念：不做一次性的项目工具，而做可沉淀的智能化产品能力平台</a:t>
            </a:r>
            <a:endParaRPr lang="en-US" sz="1500" dirty="false"/>
          </a:p>
        </p:txBody>
      </p:sp>
      <p:sp>
        <p:nvSpPr>
          <p:cNvPr id="586" name="Text 2"/>
          <p:cNvSpPr/>
          <p:nvPr/>
        </p:nvSpPr>
        <p:spPr>
          <a:xfrm>
            <a:off x="1181100" y="2190750"/>
            <a:ext cx="822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设计哲学</a:t>
            </a:r>
            <a:endParaRPr lang="en-US" sz="1350" dirty="false"/>
          </a:p>
        </p:txBody>
      </p:sp>
      <p:sp>
        <p:nvSpPr>
          <p:cNvPr id="587" name="Text 3"/>
          <p:cNvSpPr/>
          <p:nvPr/>
        </p:nvSpPr>
        <p:spPr>
          <a:xfrm>
            <a:off x="1009650" y="2628900"/>
            <a:ext cx="3040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面向项目：快速落地、业务闭环、效果验证</a:t>
            </a:r>
            <a:endParaRPr lang="en-US" sz="1050" dirty="false"/>
          </a:p>
        </p:txBody>
      </p:sp>
      <p:sp>
        <p:nvSpPr>
          <p:cNvPr id="588" name="Text 4"/>
          <p:cNvSpPr/>
          <p:nvPr/>
        </p:nvSpPr>
        <p:spPr>
          <a:xfrm>
            <a:off x="1009650" y="2895600"/>
            <a:ext cx="2927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以厂务运行场景为导向，从真实故障报警闭环开始</a:t>
            </a:r>
            <a:endParaRPr lang="en-US" sz="1050" dirty="false"/>
          </a:p>
        </p:txBody>
      </p:sp>
      <p:sp>
        <p:nvSpPr>
          <p:cNvPr id="589" name="Text 5"/>
          <p:cNvSpPr/>
          <p:nvPr/>
        </p:nvSpPr>
        <p:spPr>
          <a:xfrm>
            <a:off x="1009650" y="3352800"/>
            <a:ext cx="3200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面向用户：工程师体验、知识沉淀、执行闭环</a:t>
            </a:r>
            <a:endParaRPr lang="en-US" sz="1050" dirty="false"/>
          </a:p>
        </p:txBody>
      </p:sp>
      <p:sp>
        <p:nvSpPr>
          <p:cNvPr id="590" name="Text 6"/>
          <p:cNvSpPr/>
          <p:nvPr/>
        </p:nvSpPr>
        <p:spPr>
          <a:xfrm>
            <a:off x="1009650" y="3619500"/>
            <a:ext cx="30421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支持多角色协同：工艺/厂务/维护/管理共用</a:t>
            </a:r>
            <a:endParaRPr lang="en-US" sz="1050" dirty="false"/>
          </a:p>
        </p:txBody>
      </p:sp>
      <p:sp>
        <p:nvSpPr>
          <p:cNvPr id="591" name="Text 7"/>
          <p:cNvSpPr/>
          <p:nvPr/>
        </p:nvSpPr>
        <p:spPr>
          <a:xfrm>
            <a:off x="1009650" y="3886200"/>
            <a:ext cx="22370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面向未来：AI学习、自演进体系</a:t>
            </a:r>
            <a:endParaRPr lang="en-US" sz="1050" dirty="false"/>
          </a:p>
        </p:txBody>
      </p:sp>
      <p:sp>
        <p:nvSpPr>
          <p:cNvPr id="592" name="Text 8"/>
          <p:cNvSpPr/>
          <p:nvPr/>
        </p:nvSpPr>
        <p:spPr>
          <a:xfrm rot="0" flipH="false" flipV="false">
            <a:off x="4965650" y="2190750"/>
            <a:ext cx="822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核心原则</a:t>
            </a:r>
            <a:endParaRPr lang="en-US" sz="1350" dirty="false"/>
          </a:p>
        </p:txBody>
      </p:sp>
      <p:sp>
        <p:nvSpPr>
          <p:cNvPr id="593" name="Text 9"/>
          <p:cNvSpPr/>
          <p:nvPr/>
        </p:nvSpPr>
        <p:spPr>
          <a:xfrm>
            <a:off x="4794200" y="2628900"/>
            <a:ext cx="2927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true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ui-sans-serif"/>
              </a:rPr>
              <a:t>先项目，后产品</a:t>
            </a:r>
            <a:r>
              <a:rPr sz="1000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+mn-cs"/>
              </a:rPr>
              <a:t>：通过试点跑通最小闭环，形成真实SOP与OCAP体系</a:t>
            </a:r>
            <a:endParaRPr/>
          </a:p>
        </p:txBody>
      </p:sp>
      <p:sp>
        <p:nvSpPr>
          <p:cNvPr id="594" name="Text 10"/>
          <p:cNvSpPr/>
          <p:nvPr/>
        </p:nvSpPr>
        <p:spPr>
          <a:xfrm>
            <a:off x="4794200" y="3086100"/>
            <a:ext cx="2927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true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ui-sans-serif"/>
              </a:rPr>
              <a:t>先落地，再抽象</a:t>
            </a:r>
            <a:r>
              <a:rPr sz="1000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+mn-cs"/>
              </a:rPr>
              <a:t>：功能来自真实点位、报警、工单与闭环执行，非凭空设计</a:t>
            </a:r>
            <a:endParaRPr/>
          </a:p>
        </p:txBody>
      </p:sp>
      <p:sp>
        <p:nvSpPr>
          <p:cNvPr id="595" name="Text 11"/>
          <p:cNvSpPr/>
          <p:nvPr/>
        </p:nvSpPr>
        <p:spPr>
          <a:xfrm>
            <a:off x="4794200" y="3543300"/>
            <a:ext cx="2927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true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ui-sans-serif"/>
              </a:rPr>
              <a:t>以用户视角为中心</a:t>
            </a:r>
            <a:r>
              <a:rPr sz="1000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+mn-cs"/>
              </a:rPr>
              <a:t>：设计给厂务工程师，而非为需求文档做系统</a:t>
            </a:r>
            <a:endParaRPr/>
          </a:p>
        </p:txBody>
      </p:sp>
      <p:sp>
        <p:nvSpPr>
          <p:cNvPr id="596" name="Text 12"/>
          <p:cNvSpPr/>
          <p:nvPr/>
        </p:nvSpPr>
        <p:spPr>
          <a:xfrm>
            <a:off x="4794200" y="4000500"/>
            <a:ext cx="2927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true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ui-sans-serif"/>
              </a:rPr>
              <a:t>长期主义产品心态</a:t>
            </a:r>
            <a:r>
              <a:rPr sz="1000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+mn-cs"/>
              </a:rPr>
              <a:t>：每次报警、每次处置都积累成模型与知识</a:t>
            </a:r>
            <a:endParaRPr/>
          </a:p>
        </p:txBody>
      </p:sp>
      <p:sp>
        <p:nvSpPr>
          <p:cNvPr id="597" name="Text 13"/>
          <p:cNvSpPr/>
          <p:nvPr/>
        </p:nvSpPr>
        <p:spPr>
          <a:xfrm>
            <a:off x="8750201" y="2190750"/>
            <a:ext cx="1234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关键设计策略</a:t>
            </a:r>
            <a:endParaRPr lang="en-US" sz="1350" dirty="false"/>
          </a:p>
        </p:txBody>
      </p:sp>
      <p:sp>
        <p:nvSpPr>
          <p:cNvPr id="598" name="Text 14"/>
          <p:cNvSpPr/>
          <p:nvPr/>
        </p:nvSpPr>
        <p:spPr>
          <a:xfrm>
            <a:off x="8578751" y="2628900"/>
            <a:ext cx="29274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true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ui-sans-serif"/>
              </a:rPr>
              <a:t>从项目实践中抽象产品能力</a:t>
            </a:r>
            <a:r>
              <a:rPr sz="1000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+mn-cs"/>
              </a:rPr>
              <a:t>：SCADA接口→容器化→模块化→低代码表单→AI模块插槽化</a:t>
            </a:r>
            <a:endParaRPr/>
          </a:p>
        </p:txBody>
      </p:sp>
      <p:sp>
        <p:nvSpPr>
          <p:cNvPr id="599" name="Text 15"/>
          <p:cNvSpPr/>
          <p:nvPr/>
        </p:nvSpPr>
        <p:spPr>
          <a:xfrm>
            <a:off x="8578751" y="3086100"/>
            <a:ext cx="29274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true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ui-sans-serif"/>
              </a:rPr>
              <a:t>用户体验驱动产品决策</a:t>
            </a:r>
            <a:r>
              <a:rPr sz="1000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+mn-cs"/>
              </a:rPr>
              <a:t>："工程师少点一次，就是价值"</a:t>
            </a:r>
            <a:endParaRPr/>
          </a:p>
        </p:txBody>
      </p:sp>
      <p:sp>
        <p:nvSpPr>
          <p:cNvPr id="600" name="Text 16"/>
          <p:cNvSpPr/>
          <p:nvPr/>
        </p:nvSpPr>
        <p:spPr>
          <a:xfrm>
            <a:off x="8578751" y="3543300"/>
            <a:ext cx="29274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true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ui-sans-serif"/>
              </a:rPr>
              <a:t>真实数据训练AI</a:t>
            </a:r>
            <a:r>
              <a:rPr sz="1000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+mn-cs"/>
              </a:rPr>
              <a:t>：用真实UPW/空压/特气/排废报警与事件驱动AI成长</a:t>
            </a:r>
            <a:endParaRPr/>
          </a:p>
        </p:txBody>
      </p:sp>
      <p:sp>
        <p:nvSpPr>
          <p:cNvPr id="601" name="Text 17"/>
          <p:cNvSpPr/>
          <p:nvPr/>
        </p:nvSpPr>
        <p:spPr>
          <a:xfrm>
            <a:off x="8578751" y="4000500"/>
            <a:ext cx="29274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true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ui-sans-serif"/>
              </a:rPr>
              <a:t>智能厂务方法库</a:t>
            </a:r>
            <a:r>
              <a:rPr sz="1000">
                <a:solidFill>
                  <a:srgbClr val="374151">
                    <a:alpha val="100000"/>
                  </a:srgbClr>
                </a:solidFill>
                <a:latin typeface="ui-sans-serif"/>
                <a:ea typeface="ui-sans-serif"/>
                <a:cs typeface="+mn-cs"/>
              </a:rPr>
              <a:t>：SOP库、异常库、模型库、规则库、评估库</a:t>
            </a:r>
            <a:endParaRPr/>
          </a:p>
        </p:txBody>
      </p:sp>
      <p:sp>
        <p:nvSpPr>
          <p:cNvPr id="602" name="Text 18"/>
          <p:cNvSpPr/>
          <p:nvPr/>
        </p:nvSpPr>
        <p:spPr>
          <a:xfrm>
            <a:off x="990600" y="4953000"/>
            <a:ext cx="5067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最终解决的矛盾</a:t>
            </a:r>
            <a:endParaRPr lang="en-US" sz="1500" dirty="false"/>
          </a:p>
        </p:txBody>
      </p:sp>
      <p:sp>
        <p:nvSpPr>
          <p:cNvPr id="603" name="Text 19"/>
          <p:cNvSpPr/>
          <p:nvPr/>
        </p:nvSpPr>
        <p:spPr>
          <a:xfrm>
            <a:off x="723900" y="5295900"/>
            <a:ext cx="5067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lvl="0"/>
            <a:r>
              <a:rPr sz="1300" strike="sngStrike">
                <a:solidFill>
                  <a:srgbClr val="6B7280">
                    <a:alpha val="100000"/>
                  </a:srgbClr>
                </a:solidFill>
                <a:latin typeface="ui-sans-serif"/>
                <a:ea typeface="ui-sans-serif"/>
                <a:cs typeface="+mn-cs"/>
              </a:rPr>
              <a:t>不是给一个厂做一个系统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等线"/>
              <a:cs typeface="+mn-cs"/>
            </a:endParaRPr>
          </a:p>
          <a:p>
            <a:pPr lvl="0"/>
            <a:r>
              <a:rPr sz="1300" b="true">
                <a:solidFill>
                  <a:srgbClr val="115E59">
                    <a:alpha val="100000"/>
                  </a:srgbClr>
                </a:solidFill>
                <a:latin typeface="ui-sans-serif"/>
                <a:ea typeface="ui-sans-serif"/>
                <a:cs typeface="+mn-cs"/>
              </a:rPr>
              <a:t>而是通过一个厂打磨出能服务100个厂的智能能力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等线"/>
              <a:cs typeface="+mn-cs"/>
            </a:endParaRPr>
          </a:p>
        </p:txBody>
      </p:sp>
      <p:sp>
        <p:nvSpPr>
          <p:cNvPr id="604" name="Text 20"/>
          <p:cNvSpPr/>
          <p:nvPr/>
        </p:nvSpPr>
        <p:spPr>
          <a:xfrm>
            <a:off x="6667500" y="4953000"/>
            <a:ext cx="5067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一句话理念</a:t>
            </a:r>
            <a:endParaRPr lang="en-US" sz="1500" dirty="false"/>
          </a:p>
        </p:txBody>
      </p:sp>
      <p:sp>
        <p:nvSpPr>
          <p:cNvPr id="605" name="Text 21"/>
          <p:cNvSpPr/>
          <p:nvPr/>
        </p:nvSpPr>
        <p:spPr>
          <a:xfrm>
            <a:off x="6400800" y="52959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产品从项目中出生，但不能死在项目里</a:t>
            </a:r>
            <a:endParaRPr lang="en-US" sz="1200" dirty="false"/>
          </a:p>
        </p:txBody>
      </p:sp>
      <p:sp>
        <p:nvSpPr>
          <p:cNvPr id="606" name="Text 22"/>
          <p:cNvSpPr/>
          <p:nvPr/>
        </p:nvSpPr>
        <p:spPr>
          <a:xfrm rot="0" flipH="false" flipV="false">
            <a:off x="7408614" y="5664200"/>
            <a:ext cx="1005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项目交付</a:t>
            </a:r>
            <a:endParaRPr lang="en-US" sz="1050" dirty="false"/>
          </a:p>
        </p:txBody>
      </p:sp>
      <p:sp>
        <p:nvSpPr>
          <p:cNvPr id="607" name="Text 23"/>
          <p:cNvSpPr/>
          <p:nvPr/>
        </p:nvSpPr>
        <p:spPr>
          <a:xfrm rot="0" flipH="false" flipV="false">
            <a:off x="8297614" y="5689600"/>
            <a:ext cx="1005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用户沉淀</a:t>
            </a:r>
            <a:endParaRPr lang="en-US" sz="1050" dirty="false"/>
          </a:p>
        </p:txBody>
      </p:sp>
      <p:sp>
        <p:nvSpPr>
          <p:cNvPr id="608" name="Text 24"/>
          <p:cNvSpPr/>
          <p:nvPr/>
        </p:nvSpPr>
        <p:spPr>
          <a:xfrm rot="0" flipH="false" flipV="false">
            <a:off x="9212014" y="5689600"/>
            <a:ext cx="1005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产品进化</a:t>
            </a:r>
            <a:endParaRPr lang="en-US" sz="1050" dirty="false"/>
          </a:p>
        </p:txBody>
      </p:sp>
      <p:sp>
        <p:nvSpPr>
          <p:cNvPr id="609" name="Text 25"/>
          <p:cNvSpPr/>
          <p:nvPr/>
        </p:nvSpPr>
        <p:spPr>
          <a:xfrm rot="0" flipH="false" flipV="false">
            <a:off x="10113714" y="5689600"/>
            <a:ext cx="6597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AI成长</a:t>
            </a:r>
            <a:endParaRPr lang="en-US" sz="1050" dirty="false"/>
          </a:p>
        </p:txBody>
      </p:sp>
      <p:sp>
        <p:nvSpPr>
          <p:cNvPr id="610" name="Text 26"/>
          <p:cNvSpPr/>
          <p:nvPr/>
        </p:nvSpPr>
        <p:spPr>
          <a:xfrm>
            <a:off x="6400800" y="59817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最终形成"自学习厂务智能平台"</a:t>
            </a:r>
            <a:endParaRPr lang="en-US" sz="1200" dirty="false"/>
          </a:p>
        </p:txBody>
      </p:sp>
      <p:sp>
        <p:nvSpPr>
          <p:cNvPr id="611" name="Text 28"/>
          <p:cNvSpPr/>
          <p:nvPr/>
        </p:nvSpPr>
        <p:spPr>
          <a:xfrm>
            <a:off x="11435209" y="66294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2/29</a:t>
            </a:r>
            <a:endParaRPr lang="en-US" sz="1050" dirty="false"/>
          </a:p>
        </p:txBody>
      </p:sp>
      <p:pic>
        <p:nvPicPr>
          <p:cNvPr id="612" name=""/>
          <p:cNvPicPr>
            <a:picLocks noChangeAspect="true"/>
          </p:cNvPicPr>
          <p:nvPr/>
        </p:nvPicPr>
        <p:blipFill>
          <a:blip r:embed="rId33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sp>
        <p:nvSpPr>
          <p:cNvPr id="613" name=""/>
          <p:cNvSpPr txBox="true"/>
          <p:nvPr/>
        </p:nvSpPr>
        <p:spPr>
          <a:xfrm>
            <a:off x="119903" y="108615"/>
            <a:ext cx="6642100" cy="577850"/>
          </a:xfrm>
          <a:prstGeom prst="rect"/>
          <a:noFill/>
        </p:spPr>
        <p:txBody>
          <a:bodyPr lIns="91440" tIns="45720" rIns="91440" bIns="45720" anchor="ctr">
            <a:spAutoFit/>
          </a:bodyPr>
          <a:p>
            <a:pPr marL="0" lvl="0" indent="0">
              <a:buNone/>
            </a:pPr>
            <a:r>
              <a:rPr lang="zh-CN" sz="3200" b="tru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产品设计理念</a:t>
            </a:r>
            <a:r>
              <a:rPr lang="en-US" sz="3200" b="tru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:</a:t>
            </a:r>
            <a:r>
              <a:rPr lang="zh-CN" sz="3200" b="tru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面向项目</a:t>
            </a:r>
            <a:r>
              <a:rPr lang="en-US" sz="3200" b="tru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 vs </a:t>
            </a:r>
            <a:r>
              <a:rPr lang="zh-CN" sz="3200" b="tru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面向用户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6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"/>
          <p:cNvPicPr>
            <a:picLocks noChangeAspect="true"/>
          </p:cNvPicPr>
          <p:nvPr/>
        </p:nvPicPr>
        <p:blipFill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pic>
        <p:nvPicPr>
          <p:cNvPr id="650" name="Image 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651" name="Image 2" descr="preencoded.png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81000" y="1181100"/>
            <a:ext cx="5600700" cy="487680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652" name="Image 3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47800"/>
            <a:ext cx="285750" cy="228600"/>
          </a:xfrm>
          <a:prstGeom prst="rect">
            <a:avLst/>
          </a:prstGeom>
        </p:spPr>
      </p:pic>
      <p:pic>
        <p:nvPicPr>
          <p:cNvPr id="653" name="Image 4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 flipH="false" flipV="false">
            <a:off x="558105" y="2356556"/>
            <a:ext cx="514350" cy="457200"/>
          </a:xfrm>
          <a:prstGeom prst="rect">
            <a:avLst/>
          </a:prstGeom>
        </p:spPr>
      </p:pic>
      <p:pic>
        <p:nvPicPr>
          <p:cNvPr id="654" name="Image 5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 flipH="false" flipV="false">
            <a:off x="558105" y="3156656"/>
            <a:ext cx="457200" cy="457200"/>
          </a:xfrm>
          <a:prstGeom prst="rect">
            <a:avLst/>
          </a:prstGeom>
        </p:spPr>
      </p:pic>
      <p:pic>
        <p:nvPicPr>
          <p:cNvPr id="655" name="Image 6" descr="preencoded.png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6210300" y="1181100"/>
            <a:ext cx="5600700" cy="487680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656" name="Image 7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447800"/>
            <a:ext cx="228600" cy="228600"/>
          </a:xfrm>
          <a:prstGeom prst="rect">
            <a:avLst/>
          </a:prstGeom>
        </p:spPr>
      </p:pic>
      <p:pic>
        <p:nvPicPr>
          <p:cNvPr id="657" name="Image 8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 flipH="false" flipV="false">
            <a:off x="6438900" y="2185106"/>
            <a:ext cx="285750" cy="381000"/>
          </a:xfrm>
          <a:prstGeom prst="rect">
            <a:avLst/>
          </a:prstGeom>
        </p:spPr>
      </p:pic>
      <p:pic>
        <p:nvPicPr>
          <p:cNvPr id="658" name="Image 9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 flipH="false" flipV="false">
            <a:off x="6515100" y="2280356"/>
            <a:ext cx="133350" cy="152400"/>
          </a:xfrm>
          <a:prstGeom prst="rect">
            <a:avLst/>
          </a:prstGeom>
        </p:spPr>
      </p:pic>
      <p:pic>
        <p:nvPicPr>
          <p:cNvPr id="659" name="Image 10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 flipH="false" flipV="false">
            <a:off x="6438900" y="2909006"/>
            <a:ext cx="304800" cy="381000"/>
          </a:xfrm>
          <a:prstGeom prst="rect">
            <a:avLst/>
          </a:prstGeom>
        </p:spPr>
      </p:pic>
      <p:pic>
        <p:nvPicPr>
          <p:cNvPr id="660" name="Image 11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 flipH="false" flipV="false">
            <a:off x="6515100" y="3004256"/>
            <a:ext cx="152400" cy="152400"/>
          </a:xfrm>
          <a:prstGeom prst="rect">
            <a:avLst/>
          </a:prstGeom>
        </p:spPr>
      </p:pic>
      <p:pic>
        <p:nvPicPr>
          <p:cNvPr id="661" name="Image 12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 flipH="false" flipV="false">
            <a:off x="6438900" y="3632906"/>
            <a:ext cx="285750" cy="381000"/>
          </a:xfrm>
          <a:prstGeom prst="rect">
            <a:avLst/>
          </a:prstGeom>
        </p:spPr>
      </p:pic>
      <p:pic>
        <p:nvPicPr>
          <p:cNvPr id="662" name="Image 13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 flipH="false" flipV="false">
            <a:off x="6515100" y="3728156"/>
            <a:ext cx="133350" cy="152400"/>
          </a:xfrm>
          <a:prstGeom prst="rect">
            <a:avLst/>
          </a:prstGeom>
        </p:spPr>
      </p:pic>
      <p:sp>
        <p:nvSpPr>
          <p:cNvPr id="663" name="Text 0"/>
          <p:cNvSpPr/>
          <p:nvPr/>
        </p:nvSpPr>
        <p:spPr>
          <a:xfrm rot="0" flipH="false" flipV="false">
            <a:off x="266700" y="1524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立项背景</a:t>
            </a:r>
            <a:endParaRPr lang="en-US" sz="2700" dirty="false"/>
          </a:p>
        </p:txBody>
      </p:sp>
      <p:sp>
        <p:nvSpPr>
          <p:cNvPr id="664" name="Text 1"/>
          <p:cNvSpPr/>
          <p:nvPr/>
        </p:nvSpPr>
        <p:spPr>
          <a:xfrm>
            <a:off x="1009650" y="14097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现状</a:t>
            </a:r>
            <a:endParaRPr lang="en-US" sz="1800" dirty="false"/>
          </a:p>
        </p:txBody>
      </p:sp>
      <p:sp>
        <p:nvSpPr>
          <p:cNvPr id="665" name="Text 2"/>
          <p:cNvSpPr/>
          <p:nvPr/>
        </p:nvSpPr>
        <p:spPr>
          <a:xfrm rot="0" flipH="false" flipV="false">
            <a:off x="1224855" y="2356556"/>
            <a:ext cx="40896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zh-CN" sz="1500">
                <a:solidFill>
                  <a:srgbClr val="00000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厂务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OCAP已初步实现</a:t>
            </a:r>
            <a:endParaRPr/>
          </a:p>
        </p:txBody>
      </p:sp>
      <p:sp>
        <p:nvSpPr>
          <p:cNvPr id="666" name="Text 3"/>
          <p:cNvSpPr/>
          <p:nvPr/>
        </p:nvSpPr>
        <p:spPr>
          <a:xfrm rot="0" flipH="false" flipV="false">
            <a:off x="1224855" y="2699456"/>
            <a:ext cx="40896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采用BPMN工作流完成报警派单和处理反馈</a:t>
            </a:r>
            <a:endParaRPr lang="en-US" sz="1200" dirty="false"/>
          </a:p>
        </p:txBody>
      </p:sp>
      <p:sp>
        <p:nvSpPr>
          <p:cNvPr id="667" name="Text 4"/>
          <p:cNvSpPr/>
          <p:nvPr/>
        </p:nvSpPr>
        <p:spPr>
          <a:xfrm rot="0" flipH="false" flipV="false">
            <a:off x="1167705" y="3156656"/>
            <a:ext cx="50425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不同类型报警通过</a:t>
            </a:r>
            <a:endParaRPr/>
          </a:p>
        </p:txBody>
      </p:sp>
      <p:sp>
        <p:nvSpPr>
          <p:cNvPr id="668" name="Text 5"/>
          <p:cNvSpPr/>
          <p:nvPr/>
        </p:nvSpPr>
        <p:spPr>
          <a:xfrm rot="0" flipH="false" flipV="false">
            <a:off x="1167705" y="3499556"/>
            <a:ext cx="42021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指导现场人员进行异常处理</a:t>
            </a:r>
            <a:endParaRPr lang="en-US" sz="1200" dirty="false"/>
          </a:p>
        </p:txBody>
      </p:sp>
      <p:sp>
        <p:nvSpPr>
          <p:cNvPr id="669" name="Text 6"/>
          <p:cNvSpPr/>
          <p:nvPr/>
        </p:nvSpPr>
        <p:spPr>
          <a:xfrm>
            <a:off x="6781800" y="14097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必要性</a:t>
            </a:r>
            <a:endParaRPr lang="en-US" sz="1800" dirty="false"/>
          </a:p>
        </p:txBody>
      </p:sp>
      <p:sp>
        <p:nvSpPr>
          <p:cNvPr id="670" name="Text 7"/>
          <p:cNvSpPr/>
          <p:nvPr/>
        </p:nvSpPr>
        <p:spPr>
          <a:xfrm rot="0" flipH="false" flipV="false">
            <a:off x="6877050" y="2185106"/>
            <a:ext cx="2743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流程和Action Plan固化</a:t>
            </a:r>
            <a:endParaRPr lang="en-US" sz="1500" dirty="false"/>
          </a:p>
        </p:txBody>
      </p:sp>
      <p:sp>
        <p:nvSpPr>
          <p:cNvPr id="671" name="Text 8"/>
          <p:cNvSpPr/>
          <p:nvPr/>
        </p:nvSpPr>
        <p:spPr>
          <a:xfrm rot="0" flipH="false" flipV="false">
            <a:off x="6877050" y="2451806"/>
            <a:ext cx="2743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缺乏根据现场情况灵活调整的能力</a:t>
            </a:r>
            <a:endParaRPr lang="en-US" sz="1200" dirty="false"/>
          </a:p>
        </p:txBody>
      </p:sp>
      <p:sp>
        <p:nvSpPr>
          <p:cNvPr id="672" name="Text 9"/>
          <p:cNvSpPr/>
          <p:nvPr/>
        </p:nvSpPr>
        <p:spPr>
          <a:xfrm rot="0" flipH="false" flipV="false">
            <a:off x="6896100" y="2909006"/>
            <a:ext cx="335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缺少知识库支撑</a:t>
            </a:r>
            <a:endParaRPr lang="en-US" sz="1500" dirty="false"/>
          </a:p>
        </p:txBody>
      </p:sp>
      <p:sp>
        <p:nvSpPr>
          <p:cNvPr id="673" name="Text 10"/>
          <p:cNvSpPr/>
          <p:nvPr/>
        </p:nvSpPr>
        <p:spPr>
          <a:xfrm rot="0" flipH="false" flipV="false">
            <a:off x="6896100" y="3175706"/>
            <a:ext cx="4023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工程师判断完全依赖个人经验，存在经验传承困难</a:t>
            </a:r>
            <a:endParaRPr lang="en-US" sz="1200" dirty="false"/>
          </a:p>
        </p:txBody>
      </p:sp>
      <p:sp>
        <p:nvSpPr>
          <p:cNvPr id="674" name="Text 11"/>
          <p:cNvSpPr/>
          <p:nvPr/>
        </p:nvSpPr>
        <p:spPr>
          <a:xfrm rot="0" flipH="false" flipV="false">
            <a:off x="6877050" y="3632906"/>
            <a:ext cx="3474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Action Plan</a:t>
            </a:r>
            <a:r>
              <a:rPr lang="zh-CN" sz="1500">
                <a:solidFill>
                  <a:srgbClr val="00000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经验数据</a:t>
            </a: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未沉淀</a:t>
            </a:r>
            <a:endParaRPr/>
          </a:p>
        </p:txBody>
      </p:sp>
      <p:sp>
        <p:nvSpPr>
          <p:cNvPr id="675" name="Text 12"/>
          <p:cNvSpPr/>
          <p:nvPr/>
        </p:nvSpPr>
        <p:spPr>
          <a:xfrm rot="0" flipH="false" flipV="false">
            <a:off x="6877050" y="3899606"/>
            <a:ext cx="3474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经验无法积累形成长期指导，难以形成闭环</a:t>
            </a:r>
            <a:endParaRPr lang="en-US" sz="1200" dirty="false"/>
          </a:p>
        </p:txBody>
      </p:sp>
      <p:sp>
        <p:nvSpPr>
          <p:cNvPr id="676" name="Text 13"/>
          <p:cNvSpPr/>
          <p:nvPr/>
        </p:nvSpPr>
        <p:spPr>
          <a:xfrm>
            <a:off x="381000" y="6286500"/>
            <a:ext cx="36809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206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OCAP+SPC+AI异常响应系统（厂务场景）立项汇报</a:t>
            </a:r>
            <a:endParaRPr lang="en-US" sz="1050"/>
          </a:p>
        </p:txBody>
      </p:sp>
      <p:sp>
        <p:nvSpPr>
          <p:cNvPr id="677" name="Text 14"/>
          <p:cNvSpPr/>
          <p:nvPr/>
        </p:nvSpPr>
        <p:spPr>
          <a:xfrm>
            <a:off x="11551444" y="6286500"/>
            <a:ext cx="3114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2/11</a:t>
            </a:r>
            <a:endParaRPr lang="en-US" sz="1050" dirty="false"/>
          </a:p>
        </p:txBody>
      </p:sp>
    </p:spTree>
  </p:cSld>
  <p:clrMapOvr>
    <a:masterClrMapping/>
  </p:clrMapOvr>
</p:sld>
</file>

<file path=ppt/slides/slide4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6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"/>
          <p:cNvPicPr>
            <a:picLocks noChangeAspect="true"/>
          </p:cNvPicPr>
          <p:nvPr/>
        </p:nvPicPr>
        <p:blipFill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pic>
        <p:nvPicPr>
          <p:cNvPr id="680" name="Image 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681" name="Image 2" descr="preencoded.png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81000" y="1181100"/>
            <a:ext cx="11430000" cy="129540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682" name="Image 3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95425"/>
            <a:ext cx="666750" cy="666750"/>
          </a:xfrm>
          <a:prstGeom prst="rect">
            <a:avLst/>
          </a:prstGeom>
        </p:spPr>
      </p:pic>
      <p:pic>
        <p:nvPicPr>
          <p:cNvPr id="683" name="Image 4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638300"/>
            <a:ext cx="476250" cy="381000"/>
          </a:xfrm>
          <a:prstGeom prst="rect">
            <a:avLst/>
          </a:prstGeom>
        </p:spPr>
      </p:pic>
      <p:pic>
        <p:nvPicPr>
          <p:cNvPr id="684" name="Image 5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3300" y="1371600"/>
            <a:ext cx="304800" cy="381000"/>
          </a:xfrm>
          <a:prstGeom prst="rect">
            <a:avLst/>
          </a:prstGeom>
        </p:spPr>
      </p:pic>
      <p:pic>
        <p:nvPicPr>
          <p:cNvPr id="685" name="Image 6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1239500" y="1466850"/>
            <a:ext cx="152400" cy="152400"/>
          </a:xfrm>
          <a:prstGeom prst="rect">
            <a:avLst/>
          </a:prstGeom>
        </p:spPr>
      </p:pic>
      <p:pic>
        <p:nvPicPr>
          <p:cNvPr id="686" name="Image 7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11163300" y="1905000"/>
            <a:ext cx="304800" cy="381000"/>
          </a:xfrm>
          <a:prstGeom prst="rect">
            <a:avLst/>
          </a:prstGeom>
        </p:spPr>
      </p:pic>
      <p:pic>
        <p:nvPicPr>
          <p:cNvPr id="687" name="Image 8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9500" y="2000250"/>
            <a:ext cx="152400" cy="152400"/>
          </a:xfrm>
          <a:prstGeom prst="rect">
            <a:avLst/>
          </a:prstGeom>
        </p:spPr>
      </p:pic>
      <p:pic>
        <p:nvPicPr>
          <p:cNvPr id="688" name="Image 9" descr="preencoded.png"/>
          <p:cNvPicPr>
            <a:picLocks noChangeAspect="true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>
            <a:off x="381000" y="2705100"/>
            <a:ext cx="11430000" cy="129540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689" name="Image 10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019425"/>
            <a:ext cx="666750" cy="666750"/>
          </a:xfrm>
          <a:prstGeom prst="rect">
            <a:avLst/>
          </a:prstGeom>
        </p:spPr>
      </p:pic>
      <p:pic>
        <p:nvPicPr>
          <p:cNvPr id="690" name="Image 11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3162300"/>
            <a:ext cx="381000" cy="381000"/>
          </a:xfrm>
          <a:prstGeom prst="rect">
            <a:avLst/>
          </a:prstGeom>
        </p:spPr>
      </p:pic>
      <p:pic>
        <p:nvPicPr>
          <p:cNvPr id="691" name="Image 12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68000" y="2895600"/>
            <a:ext cx="266700" cy="381000"/>
          </a:xfrm>
          <a:prstGeom prst="rect">
            <a:avLst/>
          </a:prstGeom>
        </p:spPr>
      </p:pic>
      <p:pic>
        <p:nvPicPr>
          <p:cNvPr id="692" name="Image 13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44200" y="2990850"/>
            <a:ext cx="114300" cy="152400"/>
          </a:xfrm>
          <a:prstGeom prst="rect">
            <a:avLst/>
          </a:prstGeom>
        </p:spPr>
      </p:pic>
      <p:pic>
        <p:nvPicPr>
          <p:cNvPr id="693" name="Image 14" descr="preencoded.png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10900" y="2895600"/>
            <a:ext cx="266700" cy="381000"/>
          </a:xfrm>
          <a:prstGeom prst="rect">
            <a:avLst/>
          </a:prstGeom>
        </p:spPr>
      </p:pic>
      <p:pic>
        <p:nvPicPr>
          <p:cNvPr id="694" name="Image 15" descr="preencoded.png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87100" y="2990850"/>
            <a:ext cx="114300" cy="152400"/>
          </a:xfrm>
          <a:prstGeom prst="rect">
            <a:avLst/>
          </a:prstGeom>
        </p:spPr>
      </p:pic>
      <p:pic>
        <p:nvPicPr>
          <p:cNvPr id="695" name="Image 16" descr="preencoded.png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53800" y="2895600"/>
            <a:ext cx="266700" cy="381000"/>
          </a:xfrm>
          <a:prstGeom prst="rect">
            <a:avLst/>
          </a:prstGeom>
        </p:spPr>
      </p:pic>
      <p:pic>
        <p:nvPicPr>
          <p:cNvPr id="696" name="Image 17" descr="preencoded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30000" y="2990850"/>
            <a:ext cx="114300" cy="152400"/>
          </a:xfrm>
          <a:prstGeom prst="rect">
            <a:avLst/>
          </a:prstGeom>
        </p:spPr>
      </p:pic>
      <p:pic>
        <p:nvPicPr>
          <p:cNvPr id="697" name="Image 18" descr="preencoded.png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01375" y="3429000"/>
            <a:ext cx="285750" cy="381000"/>
          </a:xfrm>
          <a:prstGeom prst="rect">
            <a:avLst/>
          </a:prstGeom>
        </p:spPr>
      </p:pic>
      <p:pic>
        <p:nvPicPr>
          <p:cNvPr id="698" name="Image 19" descr="preencoded.png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77575" y="3524250"/>
            <a:ext cx="133350" cy="152400"/>
          </a:xfrm>
          <a:prstGeom prst="rect">
            <a:avLst/>
          </a:prstGeom>
        </p:spPr>
      </p:pic>
      <p:pic>
        <p:nvPicPr>
          <p:cNvPr id="699" name="Image 20" descr="preencoded.png"/>
          <p:cNvPicPr>
            <a:picLocks noChangeAspect="true"/>
          </p:cNvPicPr>
          <p:nvPr/>
        </p:nvPicPr>
        <p:blipFill>
          <a:blip r:embed="rId22">
            <a:alphaModFix amt="50000"/>
          </a:blip>
          <a:stretch>
            <a:fillRect/>
          </a:stretch>
        </p:blipFill>
        <p:spPr>
          <a:xfrm>
            <a:off x="381000" y="4229100"/>
            <a:ext cx="11430000" cy="198120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700" name="Image 21" descr="preencoded.png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886325"/>
            <a:ext cx="666750" cy="666750"/>
          </a:xfrm>
          <a:prstGeom prst="rect">
            <a:avLst/>
          </a:prstGeom>
        </p:spPr>
      </p:pic>
      <p:pic>
        <p:nvPicPr>
          <p:cNvPr id="701" name="Image 22" descr="preencoded.png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666750" y="5029200"/>
            <a:ext cx="476250" cy="381000"/>
          </a:xfrm>
          <a:prstGeom prst="rect">
            <a:avLst/>
          </a:prstGeom>
        </p:spPr>
      </p:pic>
      <p:pic>
        <p:nvPicPr>
          <p:cNvPr id="702" name="Image 23" descr="preencoded.png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72800" y="4419600"/>
            <a:ext cx="190500" cy="304800"/>
          </a:xfrm>
          <a:prstGeom prst="rect">
            <a:avLst/>
          </a:prstGeom>
        </p:spPr>
      </p:pic>
      <p:pic>
        <p:nvPicPr>
          <p:cNvPr id="703" name="Image 24" descr="preencoded.png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10900" y="4467225"/>
            <a:ext cx="114300" cy="190500"/>
          </a:xfrm>
          <a:prstGeom prst="rect">
            <a:avLst/>
          </a:prstGeom>
        </p:spPr>
      </p:pic>
      <p:pic>
        <p:nvPicPr>
          <p:cNvPr id="704" name="Image 25" descr="preencoded.png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>
            <a:off x="11201400" y="4419600"/>
            <a:ext cx="190500" cy="304800"/>
          </a:xfrm>
          <a:prstGeom prst="rect">
            <a:avLst/>
          </a:prstGeom>
        </p:spPr>
      </p:pic>
      <p:pic>
        <p:nvPicPr>
          <p:cNvPr id="705" name="Image 26" descr="preencoded.png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11239500" y="4467225"/>
            <a:ext cx="114300" cy="190500"/>
          </a:xfrm>
          <a:prstGeom prst="rect">
            <a:avLst/>
          </a:prstGeom>
        </p:spPr>
      </p:pic>
      <p:pic>
        <p:nvPicPr>
          <p:cNvPr id="706" name="Image 27" descr="preencoded.png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>
            <a:off x="11430000" y="4419600"/>
            <a:ext cx="190500" cy="304800"/>
          </a:xfrm>
          <a:prstGeom prst="rect">
            <a:avLst/>
          </a:prstGeom>
        </p:spPr>
      </p:pic>
      <p:pic>
        <p:nvPicPr>
          <p:cNvPr id="707" name="Image 28" descr="preencoded.png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11468100" y="4467225"/>
            <a:ext cx="114300" cy="190500"/>
          </a:xfrm>
          <a:prstGeom prst="rect">
            <a:avLst/>
          </a:prstGeom>
        </p:spPr>
      </p:pic>
      <p:pic>
        <p:nvPicPr>
          <p:cNvPr id="708" name="Image 29" descr="preencoded.png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>
            <a:off x="10972800" y="4800600"/>
            <a:ext cx="190500" cy="304800"/>
          </a:xfrm>
          <a:prstGeom prst="rect">
            <a:avLst/>
          </a:prstGeom>
        </p:spPr>
      </p:pic>
      <p:pic>
        <p:nvPicPr>
          <p:cNvPr id="709" name="Image 30" descr="preencoded.png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11010900" y="4848225"/>
            <a:ext cx="114300" cy="190500"/>
          </a:xfrm>
          <a:prstGeom prst="rect">
            <a:avLst/>
          </a:prstGeom>
        </p:spPr>
      </p:pic>
      <p:pic>
        <p:nvPicPr>
          <p:cNvPr id="710" name="Image 31" descr="preencoded.png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>
            <a:off x="11201400" y="4800600"/>
            <a:ext cx="190500" cy="304800"/>
          </a:xfrm>
          <a:prstGeom prst="rect">
            <a:avLst/>
          </a:prstGeom>
        </p:spPr>
      </p:pic>
      <p:pic>
        <p:nvPicPr>
          <p:cNvPr id="711" name="Image 32" descr="preencoded.png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11239500" y="4848225"/>
            <a:ext cx="114300" cy="190500"/>
          </a:xfrm>
          <a:prstGeom prst="rect">
            <a:avLst/>
          </a:prstGeom>
        </p:spPr>
      </p:pic>
      <p:pic>
        <p:nvPicPr>
          <p:cNvPr id="712" name="Image 33" descr="preencoded.png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>
            <a:off x="11430000" y="4800600"/>
            <a:ext cx="190500" cy="304800"/>
          </a:xfrm>
          <a:prstGeom prst="rect">
            <a:avLst/>
          </a:prstGeom>
        </p:spPr>
      </p:pic>
      <p:pic>
        <p:nvPicPr>
          <p:cNvPr id="713" name="Image 34" descr="preencoded.png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11468100" y="4848225"/>
            <a:ext cx="114300" cy="190500"/>
          </a:xfrm>
          <a:prstGeom prst="rect">
            <a:avLst/>
          </a:prstGeom>
        </p:spPr>
      </p:pic>
      <p:pic>
        <p:nvPicPr>
          <p:cNvPr id="714" name="Image 35" descr="preencoded.png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>
            <a:off x="10972800" y="5181600"/>
            <a:ext cx="190500" cy="304800"/>
          </a:xfrm>
          <a:prstGeom prst="rect">
            <a:avLst/>
          </a:prstGeom>
        </p:spPr>
      </p:pic>
      <p:pic>
        <p:nvPicPr>
          <p:cNvPr id="715" name="Image 36" descr="preencoded.png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11010900" y="5229225"/>
            <a:ext cx="114300" cy="190500"/>
          </a:xfrm>
          <a:prstGeom prst="rect">
            <a:avLst/>
          </a:prstGeom>
        </p:spPr>
      </p:pic>
      <p:pic>
        <p:nvPicPr>
          <p:cNvPr id="716" name="Image 37" descr="preencoded.png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>
            <a:off x="11201400" y="5181600"/>
            <a:ext cx="190500" cy="304800"/>
          </a:xfrm>
          <a:prstGeom prst="rect">
            <a:avLst/>
          </a:prstGeom>
        </p:spPr>
      </p:pic>
      <p:pic>
        <p:nvPicPr>
          <p:cNvPr id="717" name="Image 38" descr="preencoded.png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11239500" y="5229225"/>
            <a:ext cx="114300" cy="190500"/>
          </a:xfrm>
          <a:prstGeom prst="rect">
            <a:avLst/>
          </a:prstGeom>
        </p:spPr>
      </p:pic>
      <p:pic>
        <p:nvPicPr>
          <p:cNvPr id="718" name="Image 39" descr="preencoded.png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>
            <a:off x="11430000" y="5181600"/>
            <a:ext cx="190500" cy="304800"/>
          </a:xfrm>
          <a:prstGeom prst="rect">
            <a:avLst/>
          </a:prstGeom>
        </p:spPr>
      </p:pic>
      <p:pic>
        <p:nvPicPr>
          <p:cNvPr id="719" name="Image 40" descr="preencoded.png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11468100" y="5229225"/>
            <a:ext cx="114300" cy="190500"/>
          </a:xfrm>
          <a:prstGeom prst="rect">
            <a:avLst/>
          </a:prstGeom>
        </p:spPr>
      </p:pic>
      <p:pic>
        <p:nvPicPr>
          <p:cNvPr id="720" name="Image 41" descr="preencoded.png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>
            <a:off x="11125200" y="5638800"/>
            <a:ext cx="342900" cy="381000"/>
          </a:xfrm>
          <a:prstGeom prst="rect">
            <a:avLst/>
          </a:prstGeom>
        </p:spPr>
      </p:pic>
      <p:pic>
        <p:nvPicPr>
          <p:cNvPr id="721" name="Image 42" descr="preencoded.png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11201400" y="5734050"/>
            <a:ext cx="190500" cy="152400"/>
          </a:xfrm>
          <a:prstGeom prst="rect">
            <a:avLst/>
          </a:prstGeom>
        </p:spPr>
      </p:pic>
      <p:sp>
        <p:nvSpPr>
          <p:cNvPr id="722" name="Text 0"/>
          <p:cNvSpPr/>
          <p:nvPr/>
        </p:nvSpPr>
        <p:spPr>
          <a:xfrm rot="0" flipH="false" flipV="false">
            <a:off x="276225" y="2286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业务痛点</a:t>
            </a:r>
            <a:endParaRPr lang="en-US" sz="2700" dirty="false"/>
          </a:p>
        </p:txBody>
      </p:sp>
      <p:sp>
        <p:nvSpPr>
          <p:cNvPr id="723" name="Text 1"/>
          <p:cNvSpPr/>
          <p:nvPr/>
        </p:nvSpPr>
        <p:spPr>
          <a:xfrm>
            <a:off x="1466850" y="1543050"/>
            <a:ext cx="9391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SPC报警与OCAP处置流程脱节，未形成闭环</a:t>
            </a:r>
            <a:endParaRPr lang="en-US" sz="1500" dirty="false"/>
          </a:p>
        </p:txBody>
      </p:sp>
      <p:sp>
        <p:nvSpPr>
          <p:cNvPr id="724" name="Text 2"/>
          <p:cNvSpPr/>
          <p:nvPr/>
        </p:nvSpPr>
        <p:spPr>
          <a:xfrm>
            <a:off x="1466850" y="1885950"/>
            <a:ext cx="112699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SPC报警虽可自动触发，但缺乏后续OCAP处置流程联动，异常处理未能形成完整的闭环管理系统</a:t>
            </a:r>
            <a:endParaRPr lang="en-US" sz="1200" dirty="false"/>
          </a:p>
        </p:txBody>
      </p:sp>
      <p:sp>
        <p:nvSpPr>
          <p:cNvPr id="725" name="Text 3"/>
          <p:cNvSpPr/>
          <p:nvPr/>
        </p:nvSpPr>
        <p:spPr>
          <a:xfrm>
            <a:off x="1466850" y="3067050"/>
            <a:ext cx="9048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Action Plan响应流程碎片化，缺乏统一规范</a:t>
            </a:r>
            <a:endParaRPr lang="en-US" sz="1500" dirty="false"/>
          </a:p>
        </p:txBody>
      </p:sp>
      <p:sp>
        <p:nvSpPr>
          <p:cNvPr id="726" name="Text 4"/>
          <p:cNvSpPr/>
          <p:nvPr/>
        </p:nvSpPr>
        <p:spPr>
          <a:xfrm>
            <a:off x="1466850" y="3409950"/>
            <a:ext cx="10858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响应流程呈现碎片化状态，缺乏统一的规范和标准，经验难以沉淀为可复用的知识库</a:t>
            </a:r>
            <a:endParaRPr lang="en-US" sz="1200" dirty="false"/>
          </a:p>
        </p:txBody>
      </p:sp>
      <p:sp>
        <p:nvSpPr>
          <p:cNvPr id="727" name="Text 5"/>
          <p:cNvSpPr/>
          <p:nvPr/>
        </p:nvSpPr>
        <p:spPr>
          <a:xfrm>
            <a:off x="1466850" y="4933950"/>
            <a:ext cx="9353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多重报警频繁、重复触发，导致"响应疲劳"</a:t>
            </a:r>
            <a:endParaRPr lang="en-US" sz="1500" dirty="false"/>
          </a:p>
        </p:txBody>
      </p:sp>
      <p:sp>
        <p:nvSpPr>
          <p:cNvPr id="728" name="Text 6"/>
          <p:cNvSpPr/>
          <p:nvPr/>
        </p:nvSpPr>
        <p:spPr>
          <a:xfrm>
            <a:off x="1466850" y="5276850"/>
            <a:ext cx="11224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系统中存在大量无效或重复的报警信息，干扰工程师正常工作，降低对报警的敏感度</a:t>
            </a:r>
            <a:endParaRPr lang="en-US" sz="1200" dirty="false"/>
          </a:p>
        </p:txBody>
      </p:sp>
      <p:sp>
        <p:nvSpPr>
          <p:cNvPr id="729" name="Text 7"/>
          <p:cNvSpPr/>
          <p:nvPr/>
        </p:nvSpPr>
        <p:spPr>
          <a:xfrm>
            <a:off x="381000" y="6438900"/>
            <a:ext cx="36809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206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OCAP+SPC+AI异常响应系统（厂务场景）立项汇报</a:t>
            </a:r>
            <a:endParaRPr lang="en-US" sz="1050"/>
          </a:p>
        </p:txBody>
      </p:sp>
      <p:sp>
        <p:nvSpPr>
          <p:cNvPr id="730" name="Text 8"/>
          <p:cNvSpPr/>
          <p:nvPr/>
        </p:nvSpPr>
        <p:spPr>
          <a:xfrm>
            <a:off x="11551444" y="6438900"/>
            <a:ext cx="3114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3/11</a:t>
            </a:r>
            <a:endParaRPr lang="en-US" sz="1050" dirty="false"/>
          </a:p>
        </p:txBody>
      </p:sp>
    </p:spTree>
  </p:cSld>
  <p:clrMapOvr>
    <a:masterClrMapping/>
  </p:clrMapOvr>
</p:sld>
</file>

<file path=ppt/slides/slide5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Slide 2">
    <p:spTree>
      <p:nvGrpSpPr>
        <p:cNvPr id="7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Image 2" descr="preencoded.png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 flipH="false" flipV="false">
            <a:off x="6374970" y="3644194"/>
            <a:ext cx="5436030" cy="116205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733" name="Image 2" descr="preencoded.png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 flipH="false" flipV="false">
            <a:off x="545670" y="3644194"/>
            <a:ext cx="5436030" cy="116205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734" name="Image 2" descr="preencoded.png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 flipH="false" flipV="false">
            <a:off x="6374970" y="2051756"/>
            <a:ext cx="5436030" cy="116205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735" name="Image 2" descr="preencoded.png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 flipH="false" flipV="false">
            <a:off x="545670" y="2051756"/>
            <a:ext cx="5436030" cy="116205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736" name="Image 3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09800"/>
            <a:ext cx="571500" cy="571500"/>
          </a:xfrm>
          <a:prstGeom prst="rect">
            <a:avLst/>
          </a:prstGeom>
        </p:spPr>
      </p:pic>
      <p:pic>
        <p:nvPicPr>
          <p:cNvPr id="737" name="Image 4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343150"/>
            <a:ext cx="285750" cy="304800"/>
          </a:xfrm>
          <a:prstGeom prst="rect">
            <a:avLst/>
          </a:prstGeom>
        </p:spPr>
      </p:pic>
      <p:pic>
        <p:nvPicPr>
          <p:cNvPr id="738" name="Image 6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2209800"/>
            <a:ext cx="571500" cy="571500"/>
          </a:xfrm>
          <a:prstGeom prst="rect">
            <a:avLst/>
          </a:prstGeom>
        </p:spPr>
      </p:pic>
      <p:pic>
        <p:nvPicPr>
          <p:cNvPr id="739" name="Image 7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343150"/>
            <a:ext cx="171450" cy="304800"/>
          </a:xfrm>
          <a:prstGeom prst="rect">
            <a:avLst/>
          </a:prstGeom>
        </p:spPr>
      </p:pic>
      <p:pic>
        <p:nvPicPr>
          <p:cNvPr id="740" name="Image 9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771900"/>
            <a:ext cx="571500" cy="571500"/>
          </a:xfrm>
          <a:prstGeom prst="rect">
            <a:avLst/>
          </a:prstGeom>
        </p:spPr>
      </p:pic>
      <p:pic>
        <p:nvPicPr>
          <p:cNvPr id="741" name="Image 10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3905250"/>
            <a:ext cx="228600" cy="304800"/>
          </a:xfrm>
          <a:prstGeom prst="rect">
            <a:avLst/>
          </a:prstGeom>
        </p:spPr>
      </p:pic>
      <p:pic>
        <p:nvPicPr>
          <p:cNvPr id="742" name="Image 12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3771900"/>
            <a:ext cx="571500" cy="571500"/>
          </a:xfrm>
          <a:prstGeom prst="rect">
            <a:avLst/>
          </a:prstGeom>
        </p:spPr>
      </p:pic>
      <p:pic>
        <p:nvPicPr>
          <p:cNvPr id="743" name="Image 13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8450" y="3905250"/>
            <a:ext cx="228600" cy="304800"/>
          </a:xfrm>
          <a:prstGeom prst="rect">
            <a:avLst/>
          </a:prstGeom>
        </p:spPr>
      </p:pic>
      <p:sp>
        <p:nvSpPr>
          <p:cNvPr id="744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700"/>
              </a:lnSpc>
              <a:buNone/>
            </a:pPr>
            <a:endParaRPr lang="en-US" sz="2250" b="true">
              <a:solidFill>
                <a:srgbClr val="FFFFFF">
                  <a:alpha val="100000"/>
                </a:srgb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45" name="Text 1"/>
          <p:cNvSpPr/>
          <p:nvPr/>
        </p:nvSpPr>
        <p:spPr>
          <a:xfrm>
            <a:off x="381000" y="1143000"/>
            <a:ext cx="11430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在高度自动化的半导体晶圆厂中，异常管理计划（OCAP）是指导工程师处理工艺或设备异常的关键工具。然而，传统异常响应方式存在以下四大核心痛点：</a:t>
            </a:r>
            <a:endParaRPr lang="en-US" sz="1500"/>
          </a:p>
        </p:txBody>
      </p:sp>
      <p:sp>
        <p:nvSpPr>
          <p:cNvPr id="746" name="Text 2"/>
          <p:cNvSpPr/>
          <p:nvPr/>
        </p:nvSpPr>
        <p:spPr>
          <a:xfrm>
            <a:off x="1333500" y="2209800"/>
            <a:ext cx="4381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FB92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人为失误</a:t>
            </a:r>
            <a:endParaRPr lang="en-US" sz="1500" dirty="false"/>
          </a:p>
        </p:txBody>
      </p:sp>
      <p:sp>
        <p:nvSpPr>
          <p:cNvPr id="747" name="Text 3"/>
          <p:cNvSpPr/>
          <p:nvPr/>
        </p:nvSpPr>
        <p:spPr>
          <a:xfrm>
            <a:off x="1333500" y="2552700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传统异常处理流程中，人为错误是导致晶圆报废和设备停机的最大原因，据统计，接近</a:t>
            </a:r>
            <a:endParaRPr/>
          </a:p>
        </p:txBody>
      </p:sp>
      <p:sp>
        <p:nvSpPr>
          <p:cNvPr id="748" name="Text 4"/>
          <p:cNvSpPr/>
          <p:nvPr/>
        </p:nvSpPr>
        <p:spPr>
          <a:xfrm>
            <a:off x="7200900" y="2209800"/>
            <a:ext cx="4381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FACC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响应效率低下</a:t>
            </a:r>
            <a:endParaRPr lang="en-US" sz="1500" dirty="false"/>
          </a:p>
        </p:txBody>
      </p:sp>
      <p:sp>
        <p:nvSpPr>
          <p:cNvPr id="749" name="Text 5"/>
          <p:cNvSpPr/>
          <p:nvPr/>
        </p:nvSpPr>
        <p:spPr>
          <a:xfrm>
            <a:off x="7200900" y="2552700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人工处理异常流程繁琐，决策依赖经验，导致平均修复时间（MTTR）过长，影响生产效率。</a:t>
            </a:r>
            <a:endParaRPr lang="en-US" sz="1200"/>
          </a:p>
        </p:txBody>
      </p:sp>
      <p:sp>
        <p:nvSpPr>
          <p:cNvPr id="750" name="Text 6"/>
          <p:cNvSpPr/>
          <p:nvPr/>
        </p:nvSpPr>
        <p:spPr>
          <a:xfrm>
            <a:off x="1333500" y="3771900"/>
            <a:ext cx="4381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知识流失与传承困难</a:t>
            </a:r>
            <a:endParaRPr lang="en-US" sz="1500" dirty="false"/>
          </a:p>
        </p:txBody>
      </p:sp>
      <p:sp>
        <p:nvSpPr>
          <p:cNvPr id="751" name="Text 7"/>
          <p:cNvSpPr/>
          <p:nvPr/>
        </p:nvSpPr>
        <p:spPr>
          <a:xfrm>
            <a:off x="1333500" y="4114800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专家经验难以有效固化和传承，新员工培训周期长、成本高，且不同班次或人员处理方式可能存在差异。</a:t>
            </a:r>
            <a:endParaRPr lang="en-US" sz="1200"/>
          </a:p>
        </p:txBody>
      </p:sp>
      <p:sp>
        <p:nvSpPr>
          <p:cNvPr id="752" name="Text 8"/>
          <p:cNvSpPr/>
          <p:nvPr/>
        </p:nvSpPr>
        <p:spPr>
          <a:xfrm>
            <a:off x="7200900" y="3771900"/>
            <a:ext cx="4381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>
                <a:solidFill>
                  <a:srgbClr val="00B05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过程不透明与难以追溯</a:t>
            </a:r>
            <a:endParaRPr lang="en-US" sz="1500"/>
          </a:p>
        </p:txBody>
      </p:sp>
      <p:sp>
        <p:nvSpPr>
          <p:cNvPr id="753" name="Text 9"/>
          <p:cNvSpPr/>
          <p:nvPr/>
        </p:nvSpPr>
        <p:spPr>
          <a:xfrm>
            <a:off x="7200900" y="4114800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异常处理过程缺乏系统性的追踪和闭环管理，难以进行有效的根本原因分析（RCA）和持续改进，导致问题反复发生。</a:t>
            </a:r>
            <a:endParaRPr lang="en-US" sz="1200"/>
          </a:p>
        </p:txBody>
      </p:sp>
      <p:pic>
        <p:nvPicPr>
          <p:cNvPr id="754" name=""/>
          <p:cNvPicPr>
            <a:picLocks noChangeAspect="true"/>
          </p:cNvPicPr>
          <p:nvPr/>
        </p:nvPicPr>
        <p:blipFill>
          <a:blip r:embed="rId11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>
            <a:fillRect/>
          </a:stretch>
        </p:blipFill>
        <p:spPr>
          <a:xfrm rot="0" flipH="false" flipV="false">
            <a:off x="0" y="0"/>
            <a:ext cx="12192000" cy="767644"/>
          </a:xfrm>
          <a:prstGeom prst="rect"/>
        </p:spPr>
      </p:pic>
      <p:sp>
        <p:nvSpPr>
          <p:cNvPr id="755" name="Text 0"/>
          <p:cNvSpPr/>
          <p:nvPr/>
        </p:nvSpPr>
        <p:spPr>
          <a:xfrm rot="0" flipH="false" flipV="false">
            <a:off x="266700" y="1524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250" b="tru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项目背景与行业痛点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7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"/>
          <p:cNvPicPr>
            <a:picLocks noChangeAspect="true"/>
          </p:cNvPicPr>
          <p:nvPr/>
        </p:nvPicPr>
        <p:blipFill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pic>
        <p:nvPicPr>
          <p:cNvPr id="758" name="Image 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759" name="Image 2" descr="preencoded.png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81000" y="1104900"/>
            <a:ext cx="4482554" cy="495300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760" name="Image 3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228600" cy="228600"/>
          </a:xfrm>
          <a:prstGeom prst="rect">
            <a:avLst/>
          </a:prstGeom>
        </p:spPr>
      </p:pic>
      <p:pic>
        <p:nvPicPr>
          <p:cNvPr id="761" name="Image 4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90700"/>
            <a:ext cx="469255" cy="571500"/>
          </a:xfrm>
          <a:prstGeom prst="rect">
            <a:avLst/>
          </a:prstGeom>
        </p:spPr>
      </p:pic>
      <p:pic>
        <p:nvPicPr>
          <p:cNvPr id="762" name="Image 5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66" y="1924050"/>
            <a:ext cx="257175" cy="304800"/>
          </a:xfrm>
          <a:prstGeom prst="rect">
            <a:avLst/>
          </a:prstGeom>
        </p:spPr>
      </p:pic>
      <p:pic>
        <p:nvPicPr>
          <p:cNvPr id="763" name="Image 6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819400"/>
            <a:ext cx="571500" cy="571500"/>
          </a:xfrm>
          <a:prstGeom prst="rect">
            <a:avLst/>
          </a:prstGeom>
        </p:spPr>
      </p:pic>
      <p:pic>
        <p:nvPicPr>
          <p:cNvPr id="764" name="Image 7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952750"/>
            <a:ext cx="285750" cy="304800"/>
          </a:xfrm>
          <a:prstGeom prst="rect">
            <a:avLst/>
          </a:prstGeom>
        </p:spPr>
      </p:pic>
      <p:pic>
        <p:nvPicPr>
          <p:cNvPr id="765" name="Image 8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229100"/>
            <a:ext cx="914400" cy="914400"/>
          </a:xfrm>
          <a:prstGeom prst="rect">
            <a:avLst/>
          </a:prstGeom>
        </p:spPr>
      </p:pic>
      <p:pic>
        <p:nvPicPr>
          <p:cNvPr id="766" name="Image 9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75" y="4552950"/>
            <a:ext cx="171450" cy="266700"/>
          </a:xfrm>
          <a:prstGeom prst="rect">
            <a:avLst/>
          </a:prstGeom>
        </p:spPr>
      </p:pic>
      <p:pic>
        <p:nvPicPr>
          <p:cNvPr id="767" name="Image 10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0554" y="4229100"/>
            <a:ext cx="914400" cy="914400"/>
          </a:xfrm>
          <a:prstGeom prst="rect">
            <a:avLst/>
          </a:prstGeom>
        </p:spPr>
      </p:pic>
      <p:pic>
        <p:nvPicPr>
          <p:cNvPr id="768" name="Image 11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4092029" y="4552950"/>
            <a:ext cx="171450" cy="266700"/>
          </a:xfrm>
          <a:prstGeom prst="rect">
            <a:avLst/>
          </a:prstGeom>
        </p:spPr>
      </p:pic>
      <p:pic>
        <p:nvPicPr>
          <p:cNvPr id="769" name="Image 12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533900"/>
            <a:ext cx="914400" cy="914400"/>
          </a:xfrm>
          <a:prstGeom prst="rect">
            <a:avLst/>
          </a:prstGeom>
        </p:spPr>
      </p:pic>
      <p:pic>
        <p:nvPicPr>
          <p:cNvPr id="770" name="Image 13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971550" y="4857750"/>
            <a:ext cx="190500" cy="266700"/>
          </a:xfrm>
          <a:prstGeom prst="rect">
            <a:avLst/>
          </a:prstGeom>
        </p:spPr>
      </p:pic>
      <p:pic>
        <p:nvPicPr>
          <p:cNvPr id="771" name="Image 14" descr="preencoded.png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3720554" y="4533900"/>
            <a:ext cx="914400" cy="914400"/>
          </a:xfrm>
          <a:prstGeom prst="rect">
            <a:avLst/>
          </a:prstGeom>
        </p:spPr>
      </p:pic>
      <p:pic>
        <p:nvPicPr>
          <p:cNvPr id="772" name="Image 15" descr="preencoded.png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4082504" y="4857750"/>
            <a:ext cx="190500" cy="266700"/>
          </a:xfrm>
          <a:prstGeom prst="rect">
            <a:avLst/>
          </a:prstGeom>
        </p:spPr>
      </p:pic>
      <p:pic>
        <p:nvPicPr>
          <p:cNvPr id="773" name="Image 16" descr="preencoded.png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2012603" y="4229100"/>
            <a:ext cx="1219200" cy="1219200"/>
          </a:xfrm>
          <a:prstGeom prst="rect">
            <a:avLst/>
          </a:prstGeom>
        </p:spPr>
      </p:pic>
      <p:pic>
        <p:nvPicPr>
          <p:cNvPr id="774" name="Image 17" descr="preencoded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2507903" y="4567238"/>
            <a:ext cx="228600" cy="304800"/>
          </a:xfrm>
          <a:prstGeom prst="rect">
            <a:avLst/>
          </a:prstGeom>
        </p:spPr>
      </p:pic>
      <p:pic>
        <p:nvPicPr>
          <p:cNvPr id="775" name="Image 18" descr="preencoded.png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4229100"/>
            <a:ext cx="4025354" cy="1219200"/>
          </a:xfrm>
          <a:prstGeom prst="rect">
            <a:avLst/>
          </a:prstGeom>
        </p:spPr>
      </p:pic>
      <p:pic>
        <p:nvPicPr>
          <p:cNvPr id="776" name="Image 19" descr="preencoded.png"/>
          <p:cNvPicPr>
            <a:picLocks noChangeAspect="true"/>
          </p:cNvPicPr>
          <p:nvPr/>
        </p:nvPicPr>
        <p:blipFill>
          <a:blip r:embed="rId21">
            <a:alphaModFix amt="50000"/>
          </a:blip>
          <a:stretch>
            <a:fillRect/>
          </a:stretch>
        </p:blipFill>
        <p:spPr>
          <a:xfrm>
            <a:off x="5092154" y="1104900"/>
            <a:ext cx="6718846" cy="495300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777" name="Image 20" descr="preencoded.png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5320754" y="1371600"/>
            <a:ext cx="257175" cy="228600"/>
          </a:xfrm>
          <a:prstGeom prst="rect">
            <a:avLst/>
          </a:prstGeom>
        </p:spPr>
      </p:pic>
      <p:pic>
        <p:nvPicPr>
          <p:cNvPr id="778" name="Image 21" descr="preencoded.png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5320754" y="1790700"/>
            <a:ext cx="6261646" cy="800100"/>
          </a:xfrm>
          <a:prstGeom prst="rect">
            <a:avLst/>
          </a:prstGeom>
        </p:spPr>
      </p:pic>
      <p:pic>
        <p:nvPicPr>
          <p:cNvPr id="779" name="Image 22" descr="preencoded.png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5549354" y="2028825"/>
            <a:ext cx="361950" cy="285750"/>
          </a:xfrm>
          <a:prstGeom prst="rect">
            <a:avLst/>
          </a:prstGeom>
        </p:spPr>
      </p:pic>
      <p:pic>
        <p:nvPicPr>
          <p:cNvPr id="780" name="Image 23" descr="preencoded.png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>
            <a:off x="5320754" y="2743200"/>
            <a:ext cx="6261646" cy="800100"/>
          </a:xfrm>
          <a:prstGeom prst="rect">
            <a:avLst/>
          </a:prstGeom>
        </p:spPr>
      </p:pic>
      <p:pic>
        <p:nvPicPr>
          <p:cNvPr id="781" name="Image 24" descr="preencoded.png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5549354" y="2981325"/>
            <a:ext cx="285750" cy="285750"/>
          </a:xfrm>
          <a:prstGeom prst="rect">
            <a:avLst/>
          </a:prstGeom>
        </p:spPr>
      </p:pic>
      <p:pic>
        <p:nvPicPr>
          <p:cNvPr id="782" name="Image 25" descr="preencoded.png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>
            <a:off x="5320754" y="3695700"/>
            <a:ext cx="6261646" cy="800100"/>
          </a:xfrm>
          <a:prstGeom prst="rect">
            <a:avLst/>
          </a:prstGeom>
        </p:spPr>
      </p:pic>
      <p:pic>
        <p:nvPicPr>
          <p:cNvPr id="783" name="Image 26" descr="preencoded.png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5549354" y="3933825"/>
            <a:ext cx="285750" cy="285750"/>
          </a:xfrm>
          <a:prstGeom prst="rect">
            <a:avLst/>
          </a:prstGeom>
        </p:spPr>
      </p:pic>
      <p:sp>
        <p:nvSpPr>
          <p:cNvPr id="784" name="Text 0"/>
          <p:cNvSpPr/>
          <p:nvPr/>
        </p:nvSpPr>
        <p:spPr>
          <a:xfrm rot="0" flipH="false" flipV="false">
            <a:off x="272504" y="1905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zh-CN" sz="2700" b="true">
                <a:solidFill>
                  <a:srgbClr val="FFFFFF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产品</a:t>
            </a:r>
            <a:r>
              <a:rPr lang="en-US" sz="2700" b="true">
                <a:solidFill>
                  <a:srgbClr val="FFFFFF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目标与愿景</a:t>
            </a:r>
            <a:endParaRPr/>
          </a:p>
        </p:txBody>
      </p:sp>
      <p:sp>
        <p:nvSpPr>
          <p:cNvPr id="785" name="Text 1"/>
          <p:cNvSpPr/>
          <p:nvPr/>
        </p:nvSpPr>
        <p:spPr>
          <a:xfrm>
            <a:off x="952500" y="1333500"/>
            <a:ext cx="402535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目标</a:t>
            </a:r>
            <a:endParaRPr lang="en-US" sz="1800" dirty="false"/>
          </a:p>
        </p:txBody>
      </p:sp>
      <p:sp>
        <p:nvSpPr>
          <p:cNvPr id="786" name="Text 2"/>
          <p:cNvSpPr/>
          <p:nvPr/>
        </p:nvSpPr>
        <p:spPr>
          <a:xfrm>
            <a:off x="1193155" y="1809750"/>
            <a:ext cx="344179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构建面向厂务系统的OCAP+SPC+AI异常响应平台</a:t>
            </a:r>
            <a:endParaRPr lang="en-US" sz="1500" dirty="false"/>
          </a:p>
        </p:txBody>
      </p:sp>
      <p:sp>
        <p:nvSpPr>
          <p:cNvPr id="787" name="Text 3"/>
          <p:cNvSpPr/>
          <p:nvPr/>
        </p:nvSpPr>
        <p:spPr>
          <a:xfrm>
            <a:off x="1219200" y="2438400"/>
            <a:ext cx="4830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实现报警监控、知识库与处置流程的闭环整合</a:t>
            </a:r>
            <a:endParaRPr lang="en-US" sz="1200" dirty="false"/>
          </a:p>
        </p:txBody>
      </p:sp>
      <p:sp>
        <p:nvSpPr>
          <p:cNvPr id="788" name="Text 4"/>
          <p:cNvSpPr/>
          <p:nvPr/>
        </p:nvSpPr>
        <p:spPr>
          <a:xfrm>
            <a:off x="1295400" y="2971800"/>
            <a:ext cx="15876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引入AI分析技术</a:t>
            </a:r>
            <a:endParaRPr lang="en-US" sz="1500" dirty="false"/>
          </a:p>
        </p:txBody>
      </p:sp>
      <p:sp>
        <p:nvSpPr>
          <p:cNvPr id="789" name="Text 5"/>
          <p:cNvSpPr/>
          <p:nvPr/>
        </p:nvSpPr>
        <p:spPr>
          <a:xfrm>
            <a:off x="1219200" y="3467100"/>
            <a:ext cx="4830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提高报警诊断精准度与响应效率</a:t>
            </a:r>
            <a:endParaRPr lang="en-US" sz="1200" dirty="false"/>
          </a:p>
        </p:txBody>
      </p:sp>
      <p:sp>
        <p:nvSpPr>
          <p:cNvPr id="790" name="Text 6"/>
          <p:cNvSpPr/>
          <p:nvPr/>
        </p:nvSpPr>
        <p:spPr>
          <a:xfrm rot="0" flipH="false" flipV="false">
            <a:off x="2302163" y="4919663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闭环整合</a:t>
            </a:r>
            <a:endParaRPr lang="en-US" sz="1050" dirty="false"/>
          </a:p>
        </p:txBody>
      </p:sp>
      <p:sp>
        <p:nvSpPr>
          <p:cNvPr id="791" name="Text 7"/>
          <p:cNvSpPr/>
          <p:nvPr/>
        </p:nvSpPr>
        <p:spPr>
          <a:xfrm>
            <a:off x="5692229" y="1333500"/>
            <a:ext cx="62616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愿景</a:t>
            </a:r>
            <a:endParaRPr lang="en-US" sz="1800" dirty="false"/>
          </a:p>
        </p:txBody>
      </p:sp>
      <p:sp>
        <p:nvSpPr>
          <p:cNvPr id="792" name="Text 8"/>
          <p:cNvSpPr/>
          <p:nvPr/>
        </p:nvSpPr>
        <p:spPr>
          <a:xfrm>
            <a:off x="6063704" y="1943100"/>
            <a:ext cx="34750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融合集成SPC统计控制和OCAP知识库</a:t>
            </a:r>
            <a:endParaRPr lang="en-US" sz="1350" dirty="false"/>
          </a:p>
        </p:txBody>
      </p:sp>
      <p:sp>
        <p:nvSpPr>
          <p:cNvPr id="793" name="Text 9"/>
          <p:cNvSpPr/>
          <p:nvPr/>
        </p:nvSpPr>
        <p:spPr>
          <a:xfrm>
            <a:off x="6063704" y="2209800"/>
            <a:ext cx="34750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赋能异常响应决策，减少人为判断误差</a:t>
            </a:r>
            <a:endParaRPr lang="en-US" sz="1200" dirty="false"/>
          </a:p>
        </p:txBody>
      </p:sp>
      <p:sp>
        <p:nvSpPr>
          <p:cNvPr id="794" name="Text 10"/>
          <p:cNvSpPr/>
          <p:nvPr/>
        </p:nvSpPr>
        <p:spPr>
          <a:xfrm>
            <a:off x="5987504" y="2895600"/>
            <a:ext cx="41385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基于Action Plan的反馈数据反哺SPC报警规则</a:t>
            </a:r>
            <a:endParaRPr lang="en-US" sz="1350" dirty="false"/>
          </a:p>
        </p:txBody>
      </p:sp>
      <p:sp>
        <p:nvSpPr>
          <p:cNvPr id="795" name="Text 11"/>
          <p:cNvSpPr/>
          <p:nvPr/>
        </p:nvSpPr>
        <p:spPr>
          <a:xfrm>
            <a:off x="5987504" y="3162300"/>
            <a:ext cx="41385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优化报警策略，提高决策效率，形成良性循环</a:t>
            </a:r>
            <a:endParaRPr lang="en-US" sz="1200" dirty="false"/>
          </a:p>
        </p:txBody>
      </p:sp>
      <p:sp>
        <p:nvSpPr>
          <p:cNvPr id="796" name="Text 12"/>
          <p:cNvSpPr/>
          <p:nvPr/>
        </p:nvSpPr>
        <p:spPr>
          <a:xfrm>
            <a:off x="5987504" y="3848100"/>
            <a:ext cx="3474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日常厂务报警事件降噪处理</a:t>
            </a:r>
            <a:endParaRPr lang="en-US" sz="1350" dirty="false"/>
          </a:p>
        </p:txBody>
      </p:sp>
      <p:sp>
        <p:nvSpPr>
          <p:cNvPr id="797" name="Text 13"/>
          <p:cNvSpPr/>
          <p:nvPr/>
        </p:nvSpPr>
        <p:spPr>
          <a:xfrm>
            <a:off x="5987504" y="4114800"/>
            <a:ext cx="3474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减少工程师不必要响应，提升整体运维效率</a:t>
            </a:r>
            <a:endParaRPr lang="en-US" sz="1200" dirty="false"/>
          </a:p>
        </p:txBody>
      </p:sp>
      <p:sp>
        <p:nvSpPr>
          <p:cNvPr id="798" name="Text 14"/>
          <p:cNvSpPr/>
          <p:nvPr/>
        </p:nvSpPr>
        <p:spPr>
          <a:xfrm>
            <a:off x="381000" y="6286500"/>
            <a:ext cx="36809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206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OCAP+SPC+AI异常响应系统（厂务场景）立项汇报</a:t>
            </a:r>
            <a:endParaRPr lang="en-US" sz="1050"/>
          </a:p>
        </p:txBody>
      </p:sp>
      <p:sp>
        <p:nvSpPr>
          <p:cNvPr id="799" name="Text 15"/>
          <p:cNvSpPr/>
          <p:nvPr/>
        </p:nvSpPr>
        <p:spPr>
          <a:xfrm>
            <a:off x="11551444" y="6286500"/>
            <a:ext cx="3114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4/11</a:t>
            </a:r>
            <a:endParaRPr lang="en-US" sz="1050" dirty="false"/>
          </a:p>
        </p:txBody>
      </p:sp>
    </p:spTree>
  </p:cSld>
  <p:clrMapOvr>
    <a:masterClrMapping/>
  </p:clrMapOvr>
</p:sld>
</file>

<file path=ppt/slides/slide7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Slide 6">
    <p:spTree>
      <p:nvGrpSpPr>
        <p:cNvPr id="8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Image 14" descr="preencoded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305300"/>
            <a:ext cx="5619750" cy="1181100"/>
          </a:xfrm>
          <a:prstGeom prst="rect">
            <a:avLst/>
          </a:prstGeom>
        </p:spPr>
      </p:pic>
      <p:sp>
        <p:nvSpPr>
          <p:cNvPr id="802" name=""/>
          <p:cNvSpPr/>
          <p:nvPr/>
        </p:nvSpPr>
        <p:spPr>
          <a:xfrm rot="0" flipH="false" flipV="false">
            <a:off x="416497" y="4305300"/>
            <a:ext cx="5616003" cy="1180782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pic>
        <p:nvPicPr>
          <p:cNvPr id="803" name="Image 17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4305300"/>
            <a:ext cx="5619750" cy="1181100"/>
          </a:xfrm>
          <a:prstGeom prst="rect">
            <a:avLst/>
          </a:prstGeom>
        </p:spPr>
      </p:pic>
      <p:pic>
        <p:nvPicPr>
          <p:cNvPr id="804" name="Image 5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562100"/>
            <a:ext cx="5619750" cy="1181100"/>
          </a:xfrm>
          <a:prstGeom prst="rect">
            <a:avLst/>
          </a:prstGeom>
        </p:spPr>
      </p:pic>
      <p:pic>
        <p:nvPicPr>
          <p:cNvPr id="805" name="Image 11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933700"/>
            <a:ext cx="5619750" cy="1181100"/>
          </a:xfrm>
          <a:prstGeom prst="rect">
            <a:avLst/>
          </a:prstGeom>
        </p:spPr>
      </p:pic>
      <p:sp>
        <p:nvSpPr>
          <p:cNvPr id="806" name=""/>
          <p:cNvSpPr/>
          <p:nvPr/>
        </p:nvSpPr>
        <p:spPr>
          <a:xfrm rot="0" flipH="false" flipV="false">
            <a:off x="6220397" y="1562100"/>
            <a:ext cx="5616003" cy="1180782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807" name=""/>
          <p:cNvSpPr/>
          <p:nvPr/>
        </p:nvSpPr>
        <p:spPr>
          <a:xfrm rot="0" flipH="false" flipV="false">
            <a:off x="6220397" y="2933700"/>
            <a:ext cx="5616003" cy="1180782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808" name=""/>
          <p:cNvSpPr/>
          <p:nvPr/>
        </p:nvSpPr>
        <p:spPr>
          <a:xfrm rot="0" flipH="false" flipV="false">
            <a:off x="6220397" y="4305618"/>
            <a:ext cx="5616003" cy="1180782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pic>
        <p:nvPicPr>
          <p:cNvPr id="809" name="Image 8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933700"/>
            <a:ext cx="5619750" cy="1181100"/>
          </a:xfrm>
          <a:prstGeom prst="rect">
            <a:avLst/>
          </a:prstGeom>
        </p:spPr>
      </p:pic>
      <p:sp>
        <p:nvSpPr>
          <p:cNvPr id="810" name=""/>
          <p:cNvSpPr/>
          <p:nvPr/>
        </p:nvSpPr>
        <p:spPr>
          <a:xfrm rot="0" flipH="false" flipV="false">
            <a:off x="416497" y="2934018"/>
            <a:ext cx="5616003" cy="1180782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pic>
        <p:nvPicPr>
          <p:cNvPr id="811" name="Image 2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562100"/>
            <a:ext cx="5619750" cy="1181100"/>
          </a:xfrm>
          <a:prstGeom prst="rect">
            <a:avLst/>
          </a:prstGeom>
        </p:spPr>
      </p:pic>
      <p:pic>
        <p:nvPicPr>
          <p:cNvPr id="812" name="Image 6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1714500"/>
            <a:ext cx="533400" cy="533400"/>
          </a:xfrm>
          <a:prstGeom prst="rect">
            <a:avLst/>
          </a:prstGeom>
        </p:spPr>
      </p:pic>
      <p:pic>
        <p:nvPicPr>
          <p:cNvPr id="813" name="Image 7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338" y="1828800"/>
            <a:ext cx="200025" cy="304800"/>
          </a:xfrm>
          <a:prstGeom prst="rect">
            <a:avLst/>
          </a:prstGeom>
        </p:spPr>
      </p:pic>
      <p:pic>
        <p:nvPicPr>
          <p:cNvPr id="814" name="Image 12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3086100"/>
            <a:ext cx="533400" cy="533400"/>
          </a:xfrm>
          <a:prstGeom prst="rect">
            <a:avLst/>
          </a:prstGeom>
        </p:spPr>
      </p:pic>
      <p:pic>
        <p:nvPicPr>
          <p:cNvPr id="815" name="Image 13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6050" y="3200400"/>
            <a:ext cx="228600" cy="304800"/>
          </a:xfrm>
          <a:prstGeom prst="rect">
            <a:avLst/>
          </a:prstGeom>
        </p:spPr>
      </p:pic>
      <p:pic>
        <p:nvPicPr>
          <p:cNvPr id="816" name="Image 15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4457700"/>
            <a:ext cx="533400" cy="533400"/>
          </a:xfrm>
          <a:prstGeom prst="rect">
            <a:avLst/>
          </a:prstGeom>
        </p:spPr>
      </p:pic>
      <p:pic>
        <p:nvPicPr>
          <p:cNvPr id="817" name="Image 16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572000"/>
            <a:ext cx="228600" cy="304800"/>
          </a:xfrm>
          <a:prstGeom prst="rect">
            <a:avLst/>
          </a:prstGeom>
        </p:spPr>
      </p:pic>
      <p:pic>
        <p:nvPicPr>
          <p:cNvPr id="818" name="Image 18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3650" y="4457700"/>
            <a:ext cx="533400" cy="533400"/>
          </a:xfrm>
          <a:prstGeom prst="rect">
            <a:avLst/>
          </a:prstGeom>
        </p:spPr>
      </p:pic>
      <p:pic>
        <p:nvPicPr>
          <p:cNvPr id="819" name="Image 19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6050" y="4572000"/>
            <a:ext cx="228600" cy="304800"/>
          </a:xfrm>
          <a:prstGeom prst="rect">
            <a:avLst/>
          </a:prstGeom>
        </p:spPr>
      </p:pic>
      <p:sp>
        <p:nvSpPr>
          <p:cNvPr id="820" name="Text 1"/>
          <p:cNvSpPr/>
          <p:nvPr/>
        </p:nvSpPr>
        <p:spPr>
          <a:xfrm>
            <a:off x="381000" y="10668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OCAP产品包含六大核心功能模块，协同工作以实现异常响应的智能化和闭环管理：</a:t>
            </a:r>
            <a:endParaRPr lang="en-US" sz="1350"/>
          </a:p>
        </p:txBody>
      </p:sp>
      <p:sp>
        <p:nvSpPr>
          <p:cNvPr id="821" name="Text 4"/>
          <p:cNvSpPr/>
          <p:nvPr/>
        </p:nvSpPr>
        <p:spPr>
          <a:xfrm>
            <a:off x="7029450" y="17145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FACC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OCAP知识库管理</a:t>
            </a:r>
            <a:endParaRPr lang="en-US" sz="1350" dirty="false"/>
          </a:p>
        </p:txBody>
      </p:sp>
      <p:sp>
        <p:nvSpPr>
          <p:cNvPr id="822" name="Text 5"/>
          <p:cNvSpPr/>
          <p:nvPr/>
        </p:nvSpPr>
        <p:spPr>
          <a:xfrm>
            <a:off x="7029450" y="2019300"/>
            <a:ext cx="46291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存储结构化OCAP条目，包含触发条件、处理步骤、所需工具/物料、参考文档、责任角色等信息。提供用户自定义与编辑界面，支持版本控制与审计，实现分层分类与检索。</a:t>
            </a:r>
            <a:endParaRPr lang="en-US" sz="1050"/>
          </a:p>
        </p:txBody>
      </p:sp>
      <p:grpSp>
        <p:nvGrpSpPr>
          <p:cNvPr id="823" name=""/>
          <p:cNvGrpSpPr/>
          <p:nvPr/>
        </p:nvGrpSpPr>
        <p:grpSpPr>
          <a:xfrm>
            <a:off x="533400" y="3086100"/>
            <a:ext cx="5314950" cy="876300"/>
            <a:chOff x="533400" y="3086100"/>
            <a:chExt cx="5314950" cy="876300"/>
          </a:xfrm>
        </p:grpSpPr>
        <p:pic>
          <p:nvPicPr>
            <p:cNvPr id="824" name="Image 9" descr="preencoded.png"/>
            <p:cNvPicPr>
              <a:picLocks noChangeAspect="true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33400" y="3086100"/>
              <a:ext cx="533400" cy="533400"/>
            </a:xfrm>
            <a:prstGeom prst="rect">
              <a:avLst/>
            </a:prstGeom>
          </p:spPr>
        </p:pic>
        <p:pic>
          <p:nvPicPr>
            <p:cNvPr id="825" name="Image 10" descr="preencoded.png"/>
            <p:cNvPicPr>
              <a:picLocks noChangeAspect="true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85800" y="3200400"/>
              <a:ext cx="228600" cy="304800"/>
            </a:xfrm>
            <a:prstGeom prst="rect">
              <a:avLst/>
            </a:prstGeom>
          </p:spPr>
        </p:pic>
        <p:sp>
          <p:nvSpPr>
            <p:cNvPr id="826" name="Text 6"/>
            <p:cNvSpPr/>
            <p:nvPr/>
          </p:nvSpPr>
          <p:spPr>
            <a:xfrm>
              <a:off x="1219200" y="3086100"/>
              <a:ext cx="462915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false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true" dirty="false">
                  <a:solidFill>
                    <a:srgbClr val="60A5FA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任务派发与闭环管理</a:t>
              </a:r>
              <a:endParaRPr lang="en-US" sz="1350" dirty="false"/>
            </a:p>
          </p:txBody>
        </p:sp>
        <p:sp>
          <p:nvSpPr>
            <p:cNvPr id="827" name="Text 7"/>
            <p:cNvSpPr/>
            <p:nvPr/>
          </p:nvSpPr>
          <p:spPr>
            <a:xfrm>
              <a:off x="1219200" y="3390900"/>
              <a:ext cx="4629150" cy="571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false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与维护管理系统集成，自动生成包含异常详情、推荐OCAP步骤的电子工单。根据异常类型、设备位置、班次和人员技能等智能派发任务，支持状态跟踪与升级，多渠道通知。</a:t>
              </a:r>
              <a:endParaRPr lang="en-US" sz="1050"/>
            </a:p>
          </p:txBody>
        </p:sp>
      </p:grpSp>
      <p:sp>
        <p:nvSpPr>
          <p:cNvPr id="828" name="Text 8"/>
          <p:cNvSpPr/>
          <p:nvPr/>
        </p:nvSpPr>
        <p:spPr>
          <a:xfrm>
            <a:off x="7029450" y="30861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4ADE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多维根因分析(RCA)</a:t>
            </a:r>
            <a:endParaRPr lang="en-US" sz="1350" dirty="false"/>
          </a:p>
        </p:txBody>
      </p:sp>
      <p:sp>
        <p:nvSpPr>
          <p:cNvPr id="829" name="Text 9"/>
          <p:cNvSpPr/>
          <p:nvPr/>
        </p:nvSpPr>
        <p:spPr>
          <a:xfrm>
            <a:off x="7029450" y="3390900"/>
            <a:ext cx="46291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提供事件链追溯（记录异常发生前后的相关事件）、设备链分析（维护设备间的拓扑关系和依赖关系图谱）和工艺链追溯（对接MES系统，获取产品批次的工艺流转信息）。</a:t>
            </a:r>
            <a:endParaRPr lang="en-US" sz="1050"/>
          </a:p>
        </p:txBody>
      </p:sp>
      <p:sp>
        <p:nvSpPr>
          <p:cNvPr id="830" name="Text 10"/>
          <p:cNvSpPr/>
          <p:nvPr/>
        </p:nvSpPr>
        <p:spPr>
          <a:xfrm>
            <a:off x="1219200" y="44577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C084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数据驱动决策</a:t>
            </a:r>
            <a:endParaRPr lang="en-US" sz="1350" dirty="false"/>
          </a:p>
        </p:txBody>
      </p:sp>
      <p:sp>
        <p:nvSpPr>
          <p:cNvPr id="831" name="Text 11"/>
          <p:cNvSpPr/>
          <p:nvPr/>
        </p:nvSpPr>
        <p:spPr>
          <a:xfrm>
            <a:off x="1219200" y="4762500"/>
            <a:ext cx="46291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实现异常处理过程的全程数据记录和可追溯分析，支持根本原因定位和预防性维护，推动工厂管理从经验驱动转向数据和知识驱动，提高决策的科学性和准确性。</a:t>
            </a:r>
            <a:endParaRPr lang="en-US" sz="1050"/>
          </a:p>
        </p:txBody>
      </p:sp>
      <p:sp>
        <p:nvSpPr>
          <p:cNvPr id="832" name="Text 12"/>
          <p:cNvSpPr/>
          <p:nvPr/>
        </p:nvSpPr>
        <p:spPr>
          <a:xfrm>
            <a:off x="7029450" y="44577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知识沉淀与传承</a:t>
            </a:r>
            <a:endParaRPr lang="en-US" sz="1350" dirty="false"/>
          </a:p>
        </p:txBody>
      </p:sp>
      <p:sp>
        <p:nvSpPr>
          <p:cNvPr id="833" name="Text 13"/>
          <p:cNvSpPr/>
          <p:nvPr/>
        </p:nvSpPr>
        <p:spPr>
          <a:xfrm>
            <a:off x="7029450" y="4762500"/>
            <a:ext cx="46291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构建动态演进的OCAP知识库，固化专家经验，降低对个人经验的依赖，并支持新员工快速上手。通过版本控制与审计，确保知识库的可追溯性和准确性。</a:t>
            </a:r>
            <a:endParaRPr lang="en-US" sz="1050"/>
          </a:p>
        </p:txBody>
      </p:sp>
      <p:pic>
        <p:nvPicPr>
          <p:cNvPr id="834" name=""/>
          <p:cNvPicPr>
            <a:picLocks noChangeAspect="true"/>
          </p:cNvPicPr>
          <p:nvPr/>
        </p:nvPicPr>
        <p:blipFill>
          <a:blip r:embed="rId18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>
            <a:fillRect/>
          </a:stretch>
        </p:blipFill>
        <p:spPr>
          <a:xfrm rot="0" flipH="false" flipV="false">
            <a:off x="0" y="0"/>
            <a:ext cx="12192000" cy="767644"/>
          </a:xfrm>
          <a:prstGeom prst="rect"/>
        </p:spPr>
      </p:pic>
      <p:sp>
        <p:nvSpPr>
          <p:cNvPr id="835" name="Text 0"/>
          <p:cNvSpPr/>
          <p:nvPr/>
        </p:nvSpPr>
        <p:spPr>
          <a:xfrm rot="0" flipH="false" flipV="false">
            <a:off x="266700" y="1524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zh-CN" sz="2250" b="tru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核心功能模块</a:t>
            </a:r>
            <a:endParaRPr/>
          </a:p>
        </p:txBody>
      </p:sp>
      <p:sp>
        <p:nvSpPr>
          <p:cNvPr id="836" name=""/>
          <p:cNvSpPr/>
          <p:nvPr/>
        </p:nvSpPr>
        <p:spPr>
          <a:xfrm rot="0" flipH="false" flipV="false">
            <a:off x="422338" y="1562418"/>
            <a:ext cx="5616003" cy="1180782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837" name="Text 3"/>
          <p:cNvSpPr/>
          <p:nvPr/>
        </p:nvSpPr>
        <p:spPr>
          <a:xfrm>
            <a:off x="1219200" y="2019300"/>
            <a:ext cx="46291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结合SPC规则引擎（如Western Electric判异规则）和AI异常检测算法，将误报率从60-80%降至约10%，检出率达98%。支持多源数据融合，提高异常检测的及时性和准确性。</a:t>
            </a:r>
            <a:endParaRPr lang="en-US" sz="1050"/>
          </a:p>
        </p:txBody>
      </p:sp>
      <p:sp>
        <p:nvSpPr>
          <p:cNvPr id="838" name="Text 2"/>
          <p:cNvSpPr/>
          <p:nvPr/>
        </p:nvSpPr>
        <p:spPr>
          <a:xfrm>
            <a:off x="1219200" y="17145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FB92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智能监控与异常检测</a:t>
            </a:r>
            <a:endParaRPr lang="en-US" sz="1350" dirty="false"/>
          </a:p>
        </p:txBody>
      </p:sp>
      <p:pic>
        <p:nvPicPr>
          <p:cNvPr id="839" name="Image 3" descr="preencoded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1714500"/>
            <a:ext cx="533400" cy="533400"/>
          </a:xfrm>
          <a:prstGeom prst="rect">
            <a:avLst/>
          </a:prstGeom>
        </p:spPr>
      </p:pic>
      <p:pic>
        <p:nvPicPr>
          <p:cNvPr id="840" name="Image 4" descr="preencoded.png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1828800"/>
            <a:ext cx="2286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8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"/>
          <p:cNvPicPr>
            <a:picLocks noChangeAspect="true"/>
          </p:cNvPicPr>
          <p:nvPr/>
        </p:nvPicPr>
        <p:blipFill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pic>
        <p:nvPicPr>
          <p:cNvPr id="843" name="Image 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844" name="Image 2" descr="preencoded.png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1104900"/>
            <a:ext cx="11430000" cy="2524125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845" name="Image 3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228600" cy="228600"/>
          </a:xfrm>
          <a:prstGeom prst="rect">
            <a:avLst/>
          </a:prstGeom>
        </p:spPr>
      </p:pic>
      <p:pic>
        <p:nvPicPr>
          <p:cNvPr id="846" name="Image 4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685925" y="1885950"/>
            <a:ext cx="590550" cy="657225"/>
          </a:xfrm>
          <a:prstGeom prst="rect">
            <a:avLst/>
          </a:prstGeom>
        </p:spPr>
      </p:pic>
      <p:pic>
        <p:nvPicPr>
          <p:cNvPr id="847" name="Image 5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1838325" y="2038350"/>
            <a:ext cx="285750" cy="342900"/>
          </a:xfrm>
          <a:prstGeom prst="rect">
            <a:avLst/>
          </a:prstGeom>
        </p:spPr>
      </p:pic>
      <p:pic>
        <p:nvPicPr>
          <p:cNvPr id="848" name="Image 6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4462463" y="1885950"/>
            <a:ext cx="523875" cy="657225"/>
          </a:xfrm>
          <a:prstGeom prst="rect">
            <a:avLst/>
          </a:prstGeom>
        </p:spPr>
      </p:pic>
      <p:pic>
        <p:nvPicPr>
          <p:cNvPr id="849" name="Image 7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4614863" y="2038350"/>
            <a:ext cx="219075" cy="342900"/>
          </a:xfrm>
          <a:prstGeom prst="rect">
            <a:avLst/>
          </a:prstGeom>
        </p:spPr>
      </p:pic>
      <p:pic>
        <p:nvPicPr>
          <p:cNvPr id="850" name="Image 8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2325" y="1790700"/>
            <a:ext cx="590550" cy="657225"/>
          </a:xfrm>
          <a:prstGeom prst="rect">
            <a:avLst/>
          </a:prstGeom>
        </p:spPr>
      </p:pic>
      <p:pic>
        <p:nvPicPr>
          <p:cNvPr id="851" name="Image 9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4725" y="1943100"/>
            <a:ext cx="285750" cy="342900"/>
          </a:xfrm>
          <a:prstGeom prst="rect">
            <a:avLst/>
          </a:prstGeom>
        </p:spPr>
      </p:pic>
      <p:pic>
        <p:nvPicPr>
          <p:cNvPr id="852" name="Image 10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9915525" y="1790700"/>
            <a:ext cx="590550" cy="657225"/>
          </a:xfrm>
          <a:prstGeom prst="rect">
            <a:avLst/>
          </a:prstGeom>
        </p:spPr>
      </p:pic>
      <p:pic>
        <p:nvPicPr>
          <p:cNvPr id="853" name="Image 11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67925" y="1943100"/>
            <a:ext cx="285750" cy="342900"/>
          </a:xfrm>
          <a:prstGeom prst="rect">
            <a:avLst/>
          </a:prstGeom>
        </p:spPr>
      </p:pic>
      <p:pic>
        <p:nvPicPr>
          <p:cNvPr id="854" name="Image 12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895725"/>
            <a:ext cx="257175" cy="228600"/>
          </a:xfrm>
          <a:prstGeom prst="rect">
            <a:avLst/>
          </a:prstGeom>
        </p:spPr>
      </p:pic>
      <p:pic>
        <p:nvPicPr>
          <p:cNvPr id="855" name="Image 13" descr="preencoded.png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4314825"/>
            <a:ext cx="5638800" cy="10287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856" name="Image 14" descr="preencoded.png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4476750"/>
            <a:ext cx="257175" cy="342900"/>
          </a:xfrm>
          <a:prstGeom prst="rect">
            <a:avLst/>
          </a:prstGeom>
        </p:spPr>
      </p:pic>
      <p:pic>
        <p:nvPicPr>
          <p:cNvPr id="857" name="Image 15" descr="preencoded.png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72200" y="4314825"/>
            <a:ext cx="5638800" cy="10287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858" name="Image 16" descr="preencoded.png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4476750"/>
            <a:ext cx="342900" cy="342900"/>
          </a:xfrm>
          <a:prstGeom prst="rect">
            <a:avLst/>
          </a:prstGeom>
        </p:spPr>
      </p:pic>
      <p:pic>
        <p:nvPicPr>
          <p:cNvPr id="859" name="Image 17" descr="preencoded.png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5495925"/>
            <a:ext cx="5638800" cy="10287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860" name="Image 18" descr="preencoded.png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400" y="5657850"/>
            <a:ext cx="304800" cy="342900"/>
          </a:xfrm>
          <a:prstGeom prst="rect">
            <a:avLst/>
          </a:prstGeom>
        </p:spPr>
      </p:pic>
      <p:pic>
        <p:nvPicPr>
          <p:cNvPr id="861" name="Image 19" descr="preencoded.png"/>
          <p:cNvPicPr>
            <a:picLocks noChangeAspect="true"/>
          </p:cNvPicPr>
          <p:nvPr/>
        </p:nvPicPr>
        <p:blipFill>
          <a:blip r:embed="rId21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72200" y="5495925"/>
            <a:ext cx="5638800" cy="10287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862" name="Image 20" descr="preencoded.png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5657850"/>
            <a:ext cx="342900" cy="342900"/>
          </a:xfrm>
          <a:prstGeom prst="rect">
            <a:avLst/>
          </a:prstGeom>
        </p:spPr>
      </p:pic>
      <p:sp>
        <p:nvSpPr>
          <p:cNvPr id="863" name="Text 0"/>
          <p:cNvSpPr/>
          <p:nvPr/>
        </p:nvSpPr>
        <p:spPr>
          <a:xfrm rot="0" flipH="false" flipV="false">
            <a:off x="381000" y="32385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OCAP执行能力</a:t>
            </a:r>
            <a:endParaRPr lang="en-US" sz="2700" dirty="false"/>
          </a:p>
        </p:txBody>
      </p:sp>
      <p:sp>
        <p:nvSpPr>
          <p:cNvPr id="864" name="Text 1"/>
          <p:cNvSpPr/>
          <p:nvPr/>
        </p:nvSpPr>
        <p:spPr>
          <a:xfrm>
            <a:off x="952500" y="1333500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OCAP行动闭环流程</a:t>
            </a:r>
            <a:endParaRPr lang="en-US" sz="1800" dirty="false"/>
          </a:p>
        </p:txBody>
      </p:sp>
      <p:sp>
        <p:nvSpPr>
          <p:cNvPr id="865" name="Text 2"/>
          <p:cNvSpPr/>
          <p:nvPr/>
        </p:nvSpPr>
        <p:spPr>
          <a:xfrm>
            <a:off x="1569720" y="2657475"/>
            <a:ext cx="822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异常检测</a:t>
            </a:r>
            <a:endParaRPr lang="en-US" sz="1350" dirty="false"/>
          </a:p>
        </p:txBody>
      </p:sp>
      <p:sp>
        <p:nvSpPr>
          <p:cNvPr id="866" name="Text 3"/>
          <p:cNvSpPr/>
          <p:nvPr/>
        </p:nvSpPr>
        <p:spPr>
          <a:xfrm>
            <a:off x="609600" y="2924175"/>
            <a:ext cx="274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当SPC规则被触发或AI模型检测到异常时，系统自动启动OCAP流程</a:t>
            </a:r>
            <a:endParaRPr lang="en-US" sz="1050" dirty="false"/>
          </a:p>
        </p:txBody>
      </p:sp>
      <p:sp>
        <p:nvSpPr>
          <p:cNvPr id="867" name="Text 4"/>
          <p:cNvSpPr/>
          <p:nvPr/>
        </p:nvSpPr>
        <p:spPr>
          <a:xfrm>
            <a:off x="3786976" y="2657475"/>
            <a:ext cx="18746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SOP推荐与智能诊断</a:t>
            </a:r>
            <a:endParaRPr lang="en-US" sz="1350" dirty="false"/>
          </a:p>
        </p:txBody>
      </p:sp>
      <p:sp>
        <p:nvSpPr>
          <p:cNvPr id="868" name="Text 5"/>
          <p:cNvSpPr/>
          <p:nvPr/>
        </p:nvSpPr>
        <p:spPr>
          <a:xfrm>
            <a:off x="3352800" y="2924175"/>
            <a:ext cx="274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根据异常类型、设备历史故障数据和预设SOP，自动推荐最可能的故障原因和处置方案</a:t>
            </a:r>
            <a:endParaRPr lang="en-US" sz="1050" dirty="false"/>
          </a:p>
        </p:txBody>
      </p:sp>
      <p:sp>
        <p:nvSpPr>
          <p:cNvPr id="869" name="Text 6"/>
          <p:cNvSpPr/>
          <p:nvPr/>
        </p:nvSpPr>
        <p:spPr>
          <a:xfrm>
            <a:off x="6541770" y="2562225"/>
            <a:ext cx="1851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任务派发与执行确认</a:t>
            </a:r>
            <a:endParaRPr lang="en-US" sz="1350" dirty="false"/>
          </a:p>
        </p:txBody>
      </p:sp>
      <p:sp>
        <p:nvSpPr>
          <p:cNvPr id="870" name="Text 7"/>
          <p:cNvSpPr/>
          <p:nvPr/>
        </p:nvSpPr>
        <p:spPr>
          <a:xfrm>
            <a:off x="6096000" y="2828925"/>
            <a:ext cx="27432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自动将处置任务派发给相关运维人员，要求在系统中进行任务接收、执行过程记录和完成确认</a:t>
            </a:r>
            <a:endParaRPr lang="en-US" sz="1050" dirty="false"/>
          </a:p>
        </p:txBody>
      </p:sp>
      <p:sp>
        <p:nvSpPr>
          <p:cNvPr id="871" name="Text 8"/>
          <p:cNvSpPr/>
          <p:nvPr/>
        </p:nvSpPr>
        <p:spPr>
          <a:xfrm>
            <a:off x="9490710" y="2562225"/>
            <a:ext cx="14401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效果验证与复盘</a:t>
            </a:r>
            <a:endParaRPr lang="en-US" sz="1350" dirty="false"/>
          </a:p>
        </p:txBody>
      </p:sp>
      <p:sp>
        <p:nvSpPr>
          <p:cNvPr id="872" name="Text 9"/>
          <p:cNvSpPr/>
          <p:nvPr/>
        </p:nvSpPr>
        <p:spPr>
          <a:xfrm>
            <a:off x="8839200" y="2828925"/>
            <a:ext cx="27432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持续监控相关参数，验证SOP执行效果，并进行详细归档，记录异常发生时间、诊断结果、执行SOP、处置耗时等</a:t>
            </a:r>
            <a:endParaRPr lang="en-US" sz="1050" dirty="false"/>
          </a:p>
        </p:txBody>
      </p:sp>
      <p:sp>
        <p:nvSpPr>
          <p:cNvPr id="873" name="Text 10"/>
          <p:cNvSpPr/>
          <p:nvPr/>
        </p:nvSpPr>
        <p:spPr>
          <a:xfrm>
            <a:off x="752475" y="3857625"/>
            <a:ext cx="1143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核心特性</a:t>
            </a:r>
            <a:endParaRPr lang="en-US" sz="1800" dirty="false"/>
          </a:p>
        </p:txBody>
      </p:sp>
      <p:sp>
        <p:nvSpPr>
          <p:cNvPr id="874" name="Text 11"/>
          <p:cNvSpPr/>
          <p:nvPr/>
        </p:nvSpPr>
        <p:spPr>
          <a:xfrm>
            <a:off x="942975" y="4467225"/>
            <a:ext cx="49244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实时状态跟踪</a:t>
            </a:r>
            <a:endParaRPr lang="en-US" sz="1350" dirty="false"/>
          </a:p>
        </p:txBody>
      </p:sp>
      <p:sp>
        <p:nvSpPr>
          <p:cNvPr id="875" name="Text 12"/>
          <p:cNvSpPr/>
          <p:nvPr/>
        </p:nvSpPr>
        <p:spPr>
          <a:xfrm>
            <a:off x="942975" y="4733925"/>
            <a:ext cx="49244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通过移动端App实时更新任务状态、上传现场照片/视频，确保管理层和相关团队对处置进展一目了然</a:t>
            </a:r>
            <a:endParaRPr lang="en-US" sz="1200" dirty="false"/>
          </a:p>
        </p:txBody>
      </p:sp>
      <p:sp>
        <p:nvSpPr>
          <p:cNvPr id="876" name="Text 13"/>
          <p:cNvSpPr/>
          <p:nvPr/>
        </p:nvSpPr>
        <p:spPr>
          <a:xfrm>
            <a:off x="6819900" y="4467225"/>
            <a:ext cx="483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智能诊断引擎</a:t>
            </a:r>
            <a:endParaRPr lang="en-US" sz="1350" dirty="false"/>
          </a:p>
        </p:txBody>
      </p:sp>
      <p:sp>
        <p:nvSpPr>
          <p:cNvPr id="877" name="Text 14"/>
          <p:cNvSpPr/>
          <p:nvPr/>
        </p:nvSpPr>
        <p:spPr>
          <a:xfrm>
            <a:off x="6819900" y="4733925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基于历史故障数据和专家经验，提供智能故障诊断，推荐最可能的故障原因和处置SOP</a:t>
            </a:r>
            <a:endParaRPr lang="en-US" sz="1200" dirty="false"/>
          </a:p>
        </p:txBody>
      </p:sp>
      <p:sp>
        <p:nvSpPr>
          <p:cNvPr id="878" name="Text 15"/>
          <p:cNvSpPr/>
          <p:nvPr/>
        </p:nvSpPr>
        <p:spPr>
          <a:xfrm>
            <a:off x="990600" y="5648325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知识库固化与自学习</a:t>
            </a:r>
            <a:endParaRPr lang="en-US" sz="1350" dirty="false"/>
          </a:p>
        </p:txBody>
      </p:sp>
      <p:sp>
        <p:nvSpPr>
          <p:cNvPr id="879" name="Text 16"/>
          <p:cNvSpPr/>
          <p:nvPr/>
        </p:nvSpPr>
        <p:spPr>
          <a:xfrm>
            <a:off x="990600" y="5915025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每次异常处置的成功经验和失败教训都将沉淀到知识库中，用于优化SOP、改进AI模型，并为未来类似事件提供参考</a:t>
            </a:r>
            <a:endParaRPr lang="en-US" sz="1200" dirty="false"/>
          </a:p>
        </p:txBody>
      </p:sp>
      <p:sp>
        <p:nvSpPr>
          <p:cNvPr id="880" name="Text 17"/>
          <p:cNvSpPr/>
          <p:nvPr/>
        </p:nvSpPr>
        <p:spPr>
          <a:xfrm>
            <a:off x="6819900" y="5648325"/>
            <a:ext cx="483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MTTR统计与分析</a:t>
            </a:r>
            <a:endParaRPr lang="en-US" sz="1350" dirty="false"/>
          </a:p>
        </p:txBody>
      </p:sp>
      <p:sp>
        <p:nvSpPr>
          <p:cNvPr id="881" name="Text 18"/>
          <p:cNvSpPr/>
          <p:nvPr/>
        </p:nvSpPr>
        <p:spPr>
          <a:xfrm>
            <a:off x="6819900" y="5915025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自动统计平均处置时间，分析处置效率，识别瓶颈，持续优化异常处理流程</a:t>
            </a:r>
            <a:endParaRPr lang="en-US" sz="1200" dirty="false"/>
          </a:p>
        </p:txBody>
      </p:sp>
      <p:sp>
        <p:nvSpPr>
          <p:cNvPr id="882" name="Text 19"/>
          <p:cNvSpPr/>
          <p:nvPr/>
        </p:nvSpPr>
        <p:spPr>
          <a:xfrm>
            <a:off x="381000" y="6677025"/>
            <a:ext cx="36809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OCAP+SPC+AI异常响应系统（厂务场景）立项汇报</a:t>
            </a:r>
            <a:endParaRPr lang="en-US" sz="1050" dirty="false"/>
          </a:p>
        </p:txBody>
      </p:sp>
      <p:sp>
        <p:nvSpPr>
          <p:cNvPr id="883" name="Text 20"/>
          <p:cNvSpPr/>
          <p:nvPr/>
        </p:nvSpPr>
        <p:spPr>
          <a:xfrm>
            <a:off x="11551444" y="6677025"/>
            <a:ext cx="3114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6/11</a:t>
            </a:r>
            <a:endParaRPr lang="en-US" sz="1050" dirty="false"/>
          </a:p>
        </p:txBody>
      </p:sp>
    </p:spTree>
  </p:cSld>
  <p:clrMapOvr>
    <a:masterClrMapping/>
  </p:clrMapOvr>
</p:sld>
</file>

<file path=ppt/slides/slide9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Slide 14">
    <p:spTree>
      <p:nvGrpSpPr>
        <p:cNvPr id="8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5" name="Image 0" descr="preencoded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86" name="Image 3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95400"/>
            <a:ext cx="5410200" cy="3276600"/>
          </a:xfrm>
          <a:prstGeom prst="rect">
            <a:avLst/>
          </a:prstGeom>
        </p:spPr>
      </p:pic>
      <p:pic>
        <p:nvPicPr>
          <p:cNvPr id="887" name="Image 4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28800"/>
            <a:ext cx="2476500" cy="1219200"/>
          </a:xfrm>
          <a:prstGeom prst="rect">
            <a:avLst/>
          </a:prstGeom>
        </p:spPr>
      </p:pic>
      <p:pic>
        <p:nvPicPr>
          <p:cNvPr id="888" name="Image 5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1943100"/>
            <a:ext cx="304800" cy="304800"/>
          </a:xfrm>
          <a:prstGeom prst="rect">
            <a:avLst/>
          </a:prstGeom>
        </p:spPr>
      </p:pic>
      <p:pic>
        <p:nvPicPr>
          <p:cNvPr id="889" name="Image 6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2019300"/>
            <a:ext cx="152400" cy="152400"/>
          </a:xfrm>
          <a:prstGeom prst="rect">
            <a:avLst/>
          </a:prstGeom>
        </p:spPr>
      </p:pic>
      <p:pic>
        <p:nvPicPr>
          <p:cNvPr id="890" name="Image 7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3390900" y="1828800"/>
            <a:ext cx="2476500" cy="1219200"/>
          </a:xfrm>
          <a:prstGeom prst="rect">
            <a:avLst/>
          </a:prstGeom>
        </p:spPr>
      </p:pic>
      <p:pic>
        <p:nvPicPr>
          <p:cNvPr id="891" name="Image 8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3505200" y="1943100"/>
            <a:ext cx="304800" cy="304800"/>
          </a:xfrm>
          <a:prstGeom prst="rect">
            <a:avLst/>
          </a:prstGeom>
        </p:spPr>
      </p:pic>
      <p:pic>
        <p:nvPicPr>
          <p:cNvPr id="892" name="Image 9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3581400" y="2019300"/>
            <a:ext cx="152400" cy="152400"/>
          </a:xfrm>
          <a:prstGeom prst="rect">
            <a:avLst/>
          </a:prstGeom>
        </p:spPr>
      </p:pic>
      <p:pic>
        <p:nvPicPr>
          <p:cNvPr id="893" name="Image 10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200400"/>
            <a:ext cx="2476500" cy="1219200"/>
          </a:xfrm>
          <a:prstGeom prst="rect">
            <a:avLst/>
          </a:prstGeom>
        </p:spPr>
      </p:pic>
      <p:pic>
        <p:nvPicPr>
          <p:cNvPr id="894" name="Image 11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314700"/>
            <a:ext cx="304800" cy="304800"/>
          </a:xfrm>
          <a:prstGeom prst="rect">
            <a:avLst/>
          </a:prstGeom>
        </p:spPr>
      </p:pic>
      <p:pic>
        <p:nvPicPr>
          <p:cNvPr id="895" name="Image 12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975" y="3390900"/>
            <a:ext cx="171450" cy="152400"/>
          </a:xfrm>
          <a:prstGeom prst="rect">
            <a:avLst/>
          </a:prstGeom>
        </p:spPr>
      </p:pic>
      <p:pic>
        <p:nvPicPr>
          <p:cNvPr id="896" name="Image 13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3390900" y="3200400"/>
            <a:ext cx="2476500" cy="1219200"/>
          </a:xfrm>
          <a:prstGeom prst="rect">
            <a:avLst/>
          </a:prstGeom>
        </p:spPr>
      </p:pic>
      <p:pic>
        <p:nvPicPr>
          <p:cNvPr id="897" name="Image 14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5200" y="3314700"/>
            <a:ext cx="304800" cy="304800"/>
          </a:xfrm>
          <a:prstGeom prst="rect">
            <a:avLst/>
          </a:prstGeom>
        </p:spPr>
      </p:pic>
      <p:pic>
        <p:nvPicPr>
          <p:cNvPr id="898" name="Image 15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3562350" y="3390900"/>
            <a:ext cx="190500" cy="152400"/>
          </a:xfrm>
          <a:prstGeom prst="rect">
            <a:avLst/>
          </a:prstGeom>
        </p:spPr>
      </p:pic>
      <p:pic>
        <p:nvPicPr>
          <p:cNvPr id="899" name="Image 16" descr="preencoded.png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6172200" y="1295400"/>
            <a:ext cx="5410200" cy="3276600"/>
          </a:xfrm>
          <a:prstGeom prst="rect">
            <a:avLst/>
          </a:prstGeom>
        </p:spPr>
      </p:pic>
      <p:pic>
        <p:nvPicPr>
          <p:cNvPr id="900" name="Image 17" descr="preencoded.png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1828800"/>
            <a:ext cx="2476500" cy="1066800"/>
          </a:xfrm>
          <a:prstGeom prst="rect">
            <a:avLst/>
          </a:prstGeom>
        </p:spPr>
      </p:pic>
      <p:pic>
        <p:nvPicPr>
          <p:cNvPr id="901" name="Image 18" descr="preencoded.png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1971675"/>
            <a:ext cx="133350" cy="133350"/>
          </a:xfrm>
          <a:prstGeom prst="rect">
            <a:avLst/>
          </a:prstGeom>
        </p:spPr>
      </p:pic>
      <p:pic>
        <p:nvPicPr>
          <p:cNvPr id="902" name="Image 19" descr="preencoded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2552700"/>
            <a:ext cx="2247900" cy="228600"/>
          </a:xfrm>
          <a:prstGeom prst="rect">
            <a:avLst/>
          </a:prstGeom>
        </p:spPr>
      </p:pic>
      <p:pic>
        <p:nvPicPr>
          <p:cNvPr id="903" name="Image 20" descr="preencoded.png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8953500" y="1828800"/>
            <a:ext cx="2476500" cy="1066800"/>
          </a:xfrm>
          <a:prstGeom prst="rect">
            <a:avLst/>
          </a:prstGeom>
        </p:spPr>
      </p:pic>
      <p:pic>
        <p:nvPicPr>
          <p:cNvPr id="904" name="Image 21" descr="preencoded.png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9067800" y="1971675"/>
            <a:ext cx="171450" cy="133350"/>
          </a:xfrm>
          <a:prstGeom prst="rect">
            <a:avLst/>
          </a:prstGeom>
        </p:spPr>
      </p:pic>
      <p:pic>
        <p:nvPicPr>
          <p:cNvPr id="905" name="Image 22" descr="preencoded.png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9067800" y="2552700"/>
            <a:ext cx="2247900" cy="228600"/>
          </a:xfrm>
          <a:prstGeom prst="rect">
            <a:avLst/>
          </a:prstGeom>
        </p:spPr>
      </p:pic>
      <p:pic>
        <p:nvPicPr>
          <p:cNvPr id="906" name="Image 23" descr="preencoded.png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3048000"/>
            <a:ext cx="2476500" cy="1066800"/>
          </a:xfrm>
          <a:prstGeom prst="rect">
            <a:avLst/>
          </a:prstGeom>
        </p:spPr>
      </p:pic>
      <p:pic>
        <p:nvPicPr>
          <p:cNvPr id="907" name="Image 24" descr="preencoded.png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6438900" y="3190875"/>
            <a:ext cx="114300" cy="133350"/>
          </a:xfrm>
          <a:prstGeom prst="rect">
            <a:avLst/>
          </a:prstGeom>
        </p:spPr>
      </p:pic>
      <p:pic>
        <p:nvPicPr>
          <p:cNvPr id="908" name="Image 25" descr="preencoded.png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>
            <a:off x="6438900" y="3771900"/>
            <a:ext cx="2247900" cy="228600"/>
          </a:xfrm>
          <a:prstGeom prst="rect">
            <a:avLst/>
          </a:prstGeom>
        </p:spPr>
      </p:pic>
      <p:pic>
        <p:nvPicPr>
          <p:cNvPr id="909" name="Image 26" descr="preencoded.png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8953500" y="3048000"/>
            <a:ext cx="2476500" cy="1066800"/>
          </a:xfrm>
          <a:prstGeom prst="rect">
            <a:avLst/>
          </a:prstGeom>
        </p:spPr>
      </p:pic>
      <p:pic>
        <p:nvPicPr>
          <p:cNvPr id="910" name="Image 27" descr="preencoded.png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>
            <a:off x="9067800" y="3190875"/>
            <a:ext cx="114300" cy="133350"/>
          </a:xfrm>
          <a:prstGeom prst="rect">
            <a:avLst/>
          </a:prstGeom>
        </p:spPr>
      </p:pic>
      <p:pic>
        <p:nvPicPr>
          <p:cNvPr id="911" name="Image 28" descr="preencoded.png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9067800" y="3771900"/>
            <a:ext cx="2247900" cy="228600"/>
          </a:xfrm>
          <a:prstGeom prst="rect">
            <a:avLst/>
          </a:prstGeom>
        </p:spPr>
      </p:pic>
      <p:pic>
        <p:nvPicPr>
          <p:cNvPr id="912" name="Image 29" descr="preencoded.png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" y="4724400"/>
            <a:ext cx="10972800" cy="2438400"/>
          </a:xfrm>
          <a:prstGeom prst="rect">
            <a:avLst/>
          </a:prstGeom>
        </p:spPr>
      </p:pic>
      <p:pic>
        <p:nvPicPr>
          <p:cNvPr id="913" name="Image 30" descr="preencoded.png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762000" y="5257800"/>
            <a:ext cx="2042071" cy="1028700"/>
          </a:xfrm>
          <a:prstGeom prst="rect">
            <a:avLst/>
          </a:prstGeom>
        </p:spPr>
      </p:pic>
      <p:pic>
        <p:nvPicPr>
          <p:cNvPr id="914" name="Image 31" descr="preencoded.png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>
            <a:off x="1592461" y="5372100"/>
            <a:ext cx="381000" cy="381000"/>
          </a:xfrm>
          <a:prstGeom prst="rect">
            <a:avLst/>
          </a:prstGeom>
        </p:spPr>
      </p:pic>
      <p:pic>
        <p:nvPicPr>
          <p:cNvPr id="915" name="Image 32" descr="preencoded.png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1706761" y="5486400"/>
            <a:ext cx="152400" cy="152400"/>
          </a:xfrm>
          <a:prstGeom prst="rect">
            <a:avLst/>
          </a:prstGeom>
        </p:spPr>
      </p:pic>
      <p:pic>
        <p:nvPicPr>
          <p:cNvPr id="916" name="Image 33" descr="preencoded.png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>
            <a:off x="2918371" y="5257800"/>
            <a:ext cx="2042220" cy="1028700"/>
          </a:xfrm>
          <a:prstGeom prst="rect">
            <a:avLst/>
          </a:prstGeom>
        </p:spPr>
      </p:pic>
      <p:pic>
        <p:nvPicPr>
          <p:cNvPr id="917" name="Image 34" descr="preencoded.png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3748980" y="5372100"/>
            <a:ext cx="381000" cy="381000"/>
          </a:xfrm>
          <a:prstGeom prst="rect">
            <a:avLst/>
          </a:prstGeom>
        </p:spPr>
      </p:pic>
      <p:pic>
        <p:nvPicPr>
          <p:cNvPr id="918" name="Image 35" descr="preencoded.png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>
            <a:off x="3863280" y="5486400"/>
            <a:ext cx="152400" cy="152400"/>
          </a:xfrm>
          <a:prstGeom prst="rect">
            <a:avLst/>
          </a:prstGeom>
        </p:spPr>
      </p:pic>
      <p:pic>
        <p:nvPicPr>
          <p:cNvPr id="919" name="Image 36" descr="preencoded.png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5074890" y="5257800"/>
            <a:ext cx="2042071" cy="1028700"/>
          </a:xfrm>
          <a:prstGeom prst="rect">
            <a:avLst/>
          </a:prstGeom>
        </p:spPr>
      </p:pic>
      <p:pic>
        <p:nvPicPr>
          <p:cNvPr id="920" name="Image 37" descr="preencoded.png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>
            <a:off x="5905351" y="5372100"/>
            <a:ext cx="381000" cy="381000"/>
          </a:xfrm>
          <a:prstGeom prst="rect">
            <a:avLst/>
          </a:prstGeom>
        </p:spPr>
      </p:pic>
      <p:pic>
        <p:nvPicPr>
          <p:cNvPr id="921" name="Image 38" descr="preencoded.png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6038701" y="5486400"/>
            <a:ext cx="114300" cy="152400"/>
          </a:xfrm>
          <a:prstGeom prst="rect">
            <a:avLst/>
          </a:prstGeom>
        </p:spPr>
      </p:pic>
      <p:pic>
        <p:nvPicPr>
          <p:cNvPr id="922" name="Image 39" descr="preencoded.png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>
            <a:off x="7231261" y="5257800"/>
            <a:ext cx="2042220" cy="1028700"/>
          </a:xfrm>
          <a:prstGeom prst="rect">
            <a:avLst/>
          </a:prstGeom>
        </p:spPr>
      </p:pic>
      <p:pic>
        <p:nvPicPr>
          <p:cNvPr id="923" name="Image 40" descr="preencoded.png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8061871" y="5372100"/>
            <a:ext cx="381000" cy="381000"/>
          </a:xfrm>
          <a:prstGeom prst="rect">
            <a:avLst/>
          </a:prstGeom>
        </p:spPr>
      </p:pic>
      <p:pic>
        <p:nvPicPr>
          <p:cNvPr id="924" name="Image 41" descr="preencoded.png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>
            <a:off x="8176171" y="5486400"/>
            <a:ext cx="152400" cy="152400"/>
          </a:xfrm>
          <a:prstGeom prst="rect">
            <a:avLst/>
          </a:prstGeom>
        </p:spPr>
      </p:pic>
      <p:pic>
        <p:nvPicPr>
          <p:cNvPr id="925" name="Image 42" descr="preencoded.png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9387780" y="5257800"/>
            <a:ext cx="2042071" cy="1028700"/>
          </a:xfrm>
          <a:prstGeom prst="rect">
            <a:avLst/>
          </a:prstGeom>
        </p:spPr>
      </p:pic>
      <p:pic>
        <p:nvPicPr>
          <p:cNvPr id="926" name="Image 43" descr="preencoded.png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>
            <a:off x="10218241" y="5372100"/>
            <a:ext cx="381000" cy="381000"/>
          </a:xfrm>
          <a:prstGeom prst="rect">
            <a:avLst/>
          </a:prstGeom>
        </p:spPr>
      </p:pic>
      <p:pic>
        <p:nvPicPr>
          <p:cNvPr id="927" name="Image 44" descr="preencoded.png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10342066" y="5486400"/>
            <a:ext cx="133350" cy="152400"/>
          </a:xfrm>
          <a:prstGeom prst="rect">
            <a:avLst/>
          </a:prstGeom>
        </p:spPr>
      </p:pic>
      <p:pic>
        <p:nvPicPr>
          <p:cNvPr id="928" name="Image 45" descr="preencoded.png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>
            <a:off x="762000" y="6400800"/>
            <a:ext cx="10668000" cy="609600"/>
          </a:xfrm>
          <a:prstGeom prst="rect">
            <a:avLst/>
          </a:prstGeom>
        </p:spPr>
      </p:pic>
      <p:pic>
        <p:nvPicPr>
          <p:cNvPr id="929" name="Image 46" descr="preencoded.png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876300" y="6638925"/>
            <a:ext cx="104775" cy="133350"/>
          </a:xfrm>
          <a:prstGeom prst="rect">
            <a:avLst/>
          </a:prstGeom>
        </p:spPr>
      </p:pic>
      <p:sp>
        <p:nvSpPr>
          <p:cNvPr id="930" name="Text 1"/>
          <p:cNvSpPr/>
          <p:nvPr/>
        </p:nvSpPr>
        <p:spPr>
          <a:xfrm>
            <a:off x="609600" y="9144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false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知识沉淀与闭环管理是AI-SPC系统的关键能力，确保监控与分析效果能持续优化，积累专家经验。</a:t>
            </a:r>
            <a:endParaRPr lang="en-US" sz="1350" dirty="false"/>
          </a:p>
        </p:txBody>
      </p:sp>
      <p:sp>
        <p:nvSpPr>
          <p:cNvPr id="931" name="Text 2"/>
          <p:cNvSpPr/>
          <p:nvPr/>
        </p:nvSpPr>
        <p:spPr>
          <a:xfrm>
            <a:off x="762000" y="14478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知识库组成</a:t>
            </a:r>
            <a:endParaRPr lang="en-US" sz="1350" dirty="false"/>
          </a:p>
        </p:txBody>
      </p:sp>
      <p:sp>
        <p:nvSpPr>
          <p:cNvPr id="932" name="Text 3"/>
          <p:cNvSpPr/>
          <p:nvPr/>
        </p:nvSpPr>
        <p:spPr>
          <a:xfrm>
            <a:off x="1257300" y="2000250"/>
            <a:ext cx="800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异常模式库</a:t>
            </a:r>
            <a:endParaRPr lang="en-US" sz="1050" dirty="false"/>
          </a:p>
        </p:txBody>
      </p:sp>
      <p:sp>
        <p:nvSpPr>
          <p:cNvPr id="933" name="Text 4"/>
          <p:cNvSpPr/>
          <p:nvPr/>
        </p:nvSpPr>
        <p:spPr>
          <a:xfrm>
            <a:off x="838200" y="23241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设备波动特征模式</a:t>
            </a:r>
            <a:endParaRPr lang="en-US" sz="900" dirty="false"/>
          </a:p>
        </p:txBody>
      </p:sp>
      <p:sp>
        <p:nvSpPr>
          <p:cNvPr id="934" name="Text 5"/>
          <p:cNvSpPr/>
          <p:nvPr/>
        </p:nvSpPr>
        <p:spPr>
          <a:xfrm>
            <a:off x="838200" y="24765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各类故障典型曲线</a:t>
            </a:r>
            <a:endParaRPr lang="en-US" sz="900" dirty="false"/>
          </a:p>
        </p:txBody>
      </p:sp>
      <p:sp>
        <p:nvSpPr>
          <p:cNvPr id="935" name="Text 6"/>
          <p:cNvSpPr/>
          <p:nvPr/>
        </p:nvSpPr>
        <p:spPr>
          <a:xfrm>
            <a:off x="838200" y="26289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异常前兆信号模式</a:t>
            </a:r>
            <a:endParaRPr lang="en-US" sz="900" dirty="false"/>
          </a:p>
        </p:txBody>
      </p:sp>
      <p:sp>
        <p:nvSpPr>
          <p:cNvPr id="936" name="Text 7"/>
          <p:cNvSpPr/>
          <p:nvPr/>
        </p:nvSpPr>
        <p:spPr>
          <a:xfrm>
            <a:off x="838200" y="27813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已标记异常数据集</a:t>
            </a:r>
            <a:endParaRPr lang="en-US" sz="900" dirty="false"/>
          </a:p>
        </p:txBody>
      </p:sp>
      <p:sp>
        <p:nvSpPr>
          <p:cNvPr id="937" name="Text 8"/>
          <p:cNvSpPr/>
          <p:nvPr/>
        </p:nvSpPr>
        <p:spPr>
          <a:xfrm>
            <a:off x="3886200" y="2000250"/>
            <a:ext cx="800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解决方案库</a:t>
            </a:r>
            <a:endParaRPr lang="en-US" sz="1050" dirty="false"/>
          </a:p>
        </p:txBody>
      </p:sp>
      <p:sp>
        <p:nvSpPr>
          <p:cNvPr id="938" name="Text 9"/>
          <p:cNvSpPr/>
          <p:nvPr/>
        </p:nvSpPr>
        <p:spPr>
          <a:xfrm>
            <a:off x="3467100" y="23241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标准处理流程(SOP)</a:t>
            </a:r>
            <a:endParaRPr lang="en-US" sz="900" dirty="false"/>
          </a:p>
        </p:txBody>
      </p:sp>
      <p:sp>
        <p:nvSpPr>
          <p:cNvPr id="939" name="Text 10"/>
          <p:cNvSpPr/>
          <p:nvPr/>
        </p:nvSpPr>
        <p:spPr>
          <a:xfrm>
            <a:off x="3467100" y="24765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成功案例解决方法</a:t>
            </a:r>
            <a:endParaRPr lang="en-US" sz="900" dirty="false"/>
          </a:p>
        </p:txBody>
      </p:sp>
      <p:sp>
        <p:nvSpPr>
          <p:cNvPr id="940" name="Text 11"/>
          <p:cNvSpPr/>
          <p:nvPr/>
        </p:nvSpPr>
        <p:spPr>
          <a:xfrm>
            <a:off x="3467100" y="26289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维修记录与效果</a:t>
            </a:r>
            <a:endParaRPr lang="en-US" sz="900" dirty="false"/>
          </a:p>
        </p:txBody>
      </p:sp>
      <p:sp>
        <p:nvSpPr>
          <p:cNvPr id="941" name="Text 12"/>
          <p:cNvSpPr/>
          <p:nvPr/>
        </p:nvSpPr>
        <p:spPr>
          <a:xfrm>
            <a:off x="3467100" y="27813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故障-解决方案映射</a:t>
            </a:r>
            <a:endParaRPr lang="en-US" sz="900" dirty="false"/>
          </a:p>
        </p:txBody>
      </p:sp>
      <p:sp>
        <p:nvSpPr>
          <p:cNvPr id="942" name="Text 13"/>
          <p:cNvSpPr/>
          <p:nvPr/>
        </p:nvSpPr>
        <p:spPr>
          <a:xfrm>
            <a:off x="1257300" y="3371850"/>
            <a:ext cx="960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设备知识图谱</a:t>
            </a:r>
            <a:endParaRPr lang="en-US" sz="1050" dirty="false"/>
          </a:p>
        </p:txBody>
      </p:sp>
      <p:sp>
        <p:nvSpPr>
          <p:cNvPr id="943" name="Text 14"/>
          <p:cNvSpPr/>
          <p:nvPr/>
        </p:nvSpPr>
        <p:spPr>
          <a:xfrm>
            <a:off x="838200" y="36957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组件关系图谱</a:t>
            </a:r>
            <a:endParaRPr lang="en-US" sz="900" dirty="false"/>
          </a:p>
        </p:txBody>
      </p:sp>
      <p:sp>
        <p:nvSpPr>
          <p:cNvPr id="944" name="Text 15"/>
          <p:cNvSpPr/>
          <p:nvPr/>
        </p:nvSpPr>
        <p:spPr>
          <a:xfrm>
            <a:off x="838200" y="38481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参数关联关系</a:t>
            </a:r>
            <a:endParaRPr lang="en-US" sz="900" dirty="false"/>
          </a:p>
        </p:txBody>
      </p:sp>
      <p:sp>
        <p:nvSpPr>
          <p:cNvPr id="945" name="Text 16"/>
          <p:cNvSpPr/>
          <p:nvPr/>
        </p:nvSpPr>
        <p:spPr>
          <a:xfrm>
            <a:off x="838200" y="40005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故障传递路径</a:t>
            </a:r>
            <a:endParaRPr lang="en-US" sz="900" dirty="false"/>
          </a:p>
        </p:txBody>
      </p:sp>
      <p:sp>
        <p:nvSpPr>
          <p:cNvPr id="946" name="Text 17"/>
          <p:cNvSpPr/>
          <p:nvPr/>
        </p:nvSpPr>
        <p:spPr>
          <a:xfrm>
            <a:off x="838200" y="41529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设备厂商技术文档</a:t>
            </a:r>
            <a:endParaRPr lang="en-US" sz="900" dirty="false"/>
          </a:p>
        </p:txBody>
      </p:sp>
      <p:sp>
        <p:nvSpPr>
          <p:cNvPr id="947" name="Text 18"/>
          <p:cNvSpPr/>
          <p:nvPr/>
        </p:nvSpPr>
        <p:spPr>
          <a:xfrm>
            <a:off x="3886200" y="3371850"/>
            <a:ext cx="800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参数优化库</a:t>
            </a:r>
            <a:endParaRPr lang="en-US" sz="1050" dirty="false"/>
          </a:p>
        </p:txBody>
      </p:sp>
      <p:sp>
        <p:nvSpPr>
          <p:cNvPr id="948" name="Text 19"/>
          <p:cNvSpPr/>
          <p:nvPr/>
        </p:nvSpPr>
        <p:spPr>
          <a:xfrm>
            <a:off x="3467100" y="36957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SPC控制限历史</a:t>
            </a:r>
            <a:endParaRPr lang="en-US" sz="900" dirty="false"/>
          </a:p>
        </p:txBody>
      </p:sp>
      <p:sp>
        <p:nvSpPr>
          <p:cNvPr id="949" name="Text 20"/>
          <p:cNvSpPr/>
          <p:nvPr/>
        </p:nvSpPr>
        <p:spPr>
          <a:xfrm>
            <a:off x="3467100" y="38481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参数关联规则集</a:t>
            </a:r>
            <a:endParaRPr lang="en-US" sz="900" dirty="false"/>
          </a:p>
        </p:txBody>
      </p:sp>
      <p:sp>
        <p:nvSpPr>
          <p:cNvPr id="950" name="Text 21"/>
          <p:cNvSpPr/>
          <p:nvPr/>
        </p:nvSpPr>
        <p:spPr>
          <a:xfrm>
            <a:off x="3467100" y="40005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最优设备工况数据</a:t>
            </a:r>
            <a:endParaRPr lang="en-US" sz="900" dirty="false"/>
          </a:p>
        </p:txBody>
      </p:sp>
      <p:sp>
        <p:nvSpPr>
          <p:cNvPr id="951" name="Text 22"/>
          <p:cNvSpPr/>
          <p:nvPr/>
        </p:nvSpPr>
        <p:spPr>
          <a:xfrm>
            <a:off x="3467100" y="41529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算法参数配置集</a:t>
            </a:r>
            <a:endParaRPr lang="en-US" sz="900" dirty="false"/>
          </a:p>
        </p:txBody>
      </p:sp>
      <p:sp>
        <p:nvSpPr>
          <p:cNvPr id="952" name="Text 23"/>
          <p:cNvSpPr/>
          <p:nvPr/>
        </p:nvSpPr>
        <p:spPr>
          <a:xfrm>
            <a:off x="6324600" y="14478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知识进化与学习</a:t>
            </a:r>
            <a:endParaRPr lang="en-US" sz="1350" dirty="false"/>
          </a:p>
        </p:txBody>
      </p:sp>
      <p:sp>
        <p:nvSpPr>
          <p:cNvPr id="953" name="Text 24"/>
          <p:cNvSpPr/>
          <p:nvPr/>
        </p:nvSpPr>
        <p:spPr>
          <a:xfrm>
            <a:off x="6648450" y="1943100"/>
            <a:ext cx="2247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模型自动调优</a:t>
            </a:r>
            <a:endParaRPr lang="en-US" sz="1050" dirty="false"/>
          </a:p>
        </p:txBody>
      </p:sp>
      <p:sp>
        <p:nvSpPr>
          <p:cNvPr id="954" name="Text 25"/>
          <p:cNvSpPr/>
          <p:nvPr/>
        </p:nvSpPr>
        <p:spPr>
          <a:xfrm>
            <a:off x="6438900" y="2171700"/>
            <a:ext cx="2247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系统持续追踪警报准确率，自动优化模型参数和阈值设置，使判断准确度随时间提升。</a:t>
            </a:r>
            <a:endParaRPr lang="en-US" sz="900" dirty="false"/>
          </a:p>
        </p:txBody>
      </p:sp>
      <p:sp>
        <p:nvSpPr>
          <p:cNvPr id="955" name="Text 26"/>
          <p:cNvSpPr/>
          <p:nvPr/>
        </p:nvSpPr>
        <p:spPr>
          <a:xfrm>
            <a:off x="6477000" y="25527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核心指标：误报率降低45%</a:t>
            </a:r>
            <a:endParaRPr lang="en-US" sz="900" dirty="false"/>
          </a:p>
        </p:txBody>
      </p:sp>
      <p:sp>
        <p:nvSpPr>
          <p:cNvPr id="956" name="Text 27"/>
          <p:cNvSpPr/>
          <p:nvPr/>
        </p:nvSpPr>
        <p:spPr>
          <a:xfrm>
            <a:off x="9315450" y="1943100"/>
            <a:ext cx="2247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专家反馈整合</a:t>
            </a:r>
            <a:endParaRPr lang="en-US" sz="1050" dirty="false"/>
          </a:p>
        </p:txBody>
      </p:sp>
      <p:sp>
        <p:nvSpPr>
          <p:cNvPr id="957" name="Text 28"/>
          <p:cNvSpPr/>
          <p:nvPr/>
        </p:nvSpPr>
        <p:spPr>
          <a:xfrm>
            <a:off x="9067800" y="2171700"/>
            <a:ext cx="2247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捕捉工程师对系统建议的操作反馈与评价，提取隐含知识，完善根因分析准确性。</a:t>
            </a:r>
            <a:endParaRPr lang="en-US" sz="900" dirty="false"/>
          </a:p>
        </p:txBody>
      </p:sp>
      <p:sp>
        <p:nvSpPr>
          <p:cNvPr id="958" name="Text 29"/>
          <p:cNvSpPr/>
          <p:nvPr/>
        </p:nvSpPr>
        <p:spPr>
          <a:xfrm>
            <a:off x="9105900" y="25527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核心指标：根因确认率85%+</a:t>
            </a:r>
            <a:endParaRPr lang="en-US" sz="900" dirty="false"/>
          </a:p>
        </p:txBody>
      </p:sp>
      <p:sp>
        <p:nvSpPr>
          <p:cNvPr id="959" name="Text 30"/>
          <p:cNvSpPr/>
          <p:nvPr/>
        </p:nvSpPr>
        <p:spPr>
          <a:xfrm>
            <a:off x="6629400" y="3162300"/>
            <a:ext cx="2247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案例自动归纳</a:t>
            </a:r>
            <a:endParaRPr lang="en-US" sz="1050" dirty="false"/>
          </a:p>
        </p:txBody>
      </p:sp>
      <p:sp>
        <p:nvSpPr>
          <p:cNvPr id="960" name="Text 31"/>
          <p:cNvSpPr/>
          <p:nvPr/>
        </p:nvSpPr>
        <p:spPr>
          <a:xfrm>
            <a:off x="6438900" y="3390900"/>
            <a:ext cx="2247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从大量历史故障案例中自动提炼共性特征和解决模式，形成可复用的故障识别规则。</a:t>
            </a:r>
            <a:endParaRPr lang="en-US" sz="900" dirty="false"/>
          </a:p>
        </p:txBody>
      </p:sp>
      <p:sp>
        <p:nvSpPr>
          <p:cNvPr id="961" name="Text 32"/>
          <p:cNvSpPr/>
          <p:nvPr/>
        </p:nvSpPr>
        <p:spPr>
          <a:xfrm>
            <a:off x="6477000" y="37719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核心指标：识别模式数+250</a:t>
            </a:r>
            <a:endParaRPr lang="en-US" sz="900" dirty="false"/>
          </a:p>
        </p:txBody>
      </p:sp>
      <p:sp>
        <p:nvSpPr>
          <p:cNvPr id="962" name="Text 33"/>
          <p:cNvSpPr/>
          <p:nvPr/>
        </p:nvSpPr>
        <p:spPr>
          <a:xfrm>
            <a:off x="9258300" y="3162300"/>
            <a:ext cx="2247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跨厂交叉验证</a:t>
            </a:r>
            <a:endParaRPr lang="en-US" sz="1050" dirty="false"/>
          </a:p>
        </p:txBody>
      </p:sp>
      <p:sp>
        <p:nvSpPr>
          <p:cNvPr id="963" name="Text 34"/>
          <p:cNvSpPr/>
          <p:nvPr/>
        </p:nvSpPr>
        <p:spPr>
          <a:xfrm>
            <a:off x="9067800" y="3390900"/>
            <a:ext cx="2247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不同工厂同类设备的异常模式可以进行匿名共享和交叉验证，加速知识积累速度。</a:t>
            </a:r>
            <a:endParaRPr lang="en-US" sz="900" dirty="false"/>
          </a:p>
        </p:txBody>
      </p:sp>
      <p:sp>
        <p:nvSpPr>
          <p:cNvPr id="964" name="Text 35"/>
          <p:cNvSpPr/>
          <p:nvPr/>
        </p:nvSpPr>
        <p:spPr>
          <a:xfrm>
            <a:off x="9105900" y="37719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核心指标：知识传递效率↑60%</a:t>
            </a:r>
            <a:endParaRPr lang="en-US" sz="900" dirty="false"/>
          </a:p>
        </p:txBody>
      </p:sp>
      <p:sp>
        <p:nvSpPr>
          <p:cNvPr id="965" name="Text 36"/>
          <p:cNvSpPr/>
          <p:nvPr/>
        </p:nvSpPr>
        <p:spPr>
          <a:xfrm>
            <a:off x="762000" y="4876800"/>
            <a:ext cx="1066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闭环管理流程</a:t>
            </a:r>
            <a:endParaRPr lang="en-US" sz="1350" dirty="false"/>
          </a:p>
        </p:txBody>
      </p:sp>
      <p:sp>
        <p:nvSpPr>
          <p:cNvPr id="966" name="Text 37"/>
          <p:cNvSpPr/>
          <p:nvPr/>
        </p:nvSpPr>
        <p:spPr>
          <a:xfrm>
            <a:off x="876300" y="5791200"/>
            <a:ext cx="181347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异常监测</a:t>
            </a:r>
            <a:endParaRPr lang="en-US" sz="1050" dirty="false"/>
          </a:p>
        </p:txBody>
      </p:sp>
      <p:sp>
        <p:nvSpPr>
          <p:cNvPr id="967" name="Text 38"/>
          <p:cNvSpPr/>
          <p:nvPr/>
        </p:nvSpPr>
        <p:spPr>
          <a:xfrm>
            <a:off x="694953" y="6019800"/>
            <a:ext cx="217616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实时监控设备，识别异常指标</a:t>
            </a:r>
            <a:endParaRPr lang="en-US" sz="900" dirty="false"/>
          </a:p>
        </p:txBody>
      </p:sp>
      <p:sp>
        <p:nvSpPr>
          <p:cNvPr id="968" name="Text 39"/>
          <p:cNvSpPr/>
          <p:nvPr/>
        </p:nvSpPr>
        <p:spPr>
          <a:xfrm>
            <a:off x="3032671" y="5791200"/>
            <a:ext cx="1813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根因诊断</a:t>
            </a:r>
            <a:endParaRPr lang="en-US" sz="1050" dirty="false"/>
          </a:p>
        </p:txBody>
      </p:sp>
      <p:sp>
        <p:nvSpPr>
          <p:cNvPr id="969" name="Text 40"/>
          <p:cNvSpPr/>
          <p:nvPr/>
        </p:nvSpPr>
        <p:spPr>
          <a:xfrm>
            <a:off x="2851309" y="6019800"/>
            <a:ext cx="217634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分析异常来源，匹配历史案例</a:t>
            </a:r>
            <a:endParaRPr lang="en-US" sz="900" dirty="false"/>
          </a:p>
        </p:txBody>
      </p:sp>
      <p:sp>
        <p:nvSpPr>
          <p:cNvPr id="970" name="Text 41"/>
          <p:cNvSpPr/>
          <p:nvPr/>
        </p:nvSpPr>
        <p:spPr>
          <a:xfrm>
            <a:off x="5189190" y="5791200"/>
            <a:ext cx="181347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建议生成</a:t>
            </a:r>
            <a:endParaRPr lang="en-US" sz="1050" dirty="false"/>
          </a:p>
        </p:txBody>
      </p:sp>
      <p:sp>
        <p:nvSpPr>
          <p:cNvPr id="971" name="Text 42"/>
          <p:cNvSpPr/>
          <p:nvPr/>
        </p:nvSpPr>
        <p:spPr>
          <a:xfrm>
            <a:off x="5007843" y="6019800"/>
            <a:ext cx="217616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推荐SOP与处理方案</a:t>
            </a:r>
            <a:endParaRPr lang="en-US" sz="900" dirty="false"/>
          </a:p>
        </p:txBody>
      </p:sp>
      <p:sp>
        <p:nvSpPr>
          <p:cNvPr id="972" name="Text 43"/>
          <p:cNvSpPr/>
          <p:nvPr/>
        </p:nvSpPr>
        <p:spPr>
          <a:xfrm>
            <a:off x="7345561" y="5791200"/>
            <a:ext cx="1813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执行确认</a:t>
            </a:r>
            <a:endParaRPr lang="en-US" sz="1050" dirty="false"/>
          </a:p>
        </p:txBody>
      </p:sp>
      <p:sp>
        <p:nvSpPr>
          <p:cNvPr id="973" name="Text 44"/>
          <p:cNvSpPr/>
          <p:nvPr/>
        </p:nvSpPr>
        <p:spPr>
          <a:xfrm>
            <a:off x="7164199" y="6019800"/>
            <a:ext cx="217634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工程师实施，记录处理过程</a:t>
            </a:r>
            <a:endParaRPr lang="en-US" sz="900" dirty="false"/>
          </a:p>
        </p:txBody>
      </p:sp>
      <p:sp>
        <p:nvSpPr>
          <p:cNvPr id="974" name="Text 45"/>
          <p:cNvSpPr/>
          <p:nvPr/>
        </p:nvSpPr>
        <p:spPr>
          <a:xfrm>
            <a:off x="9502080" y="5791200"/>
            <a:ext cx="181347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知识沉淀</a:t>
            </a:r>
            <a:endParaRPr lang="en-US" sz="1050" dirty="false"/>
          </a:p>
        </p:txBody>
      </p:sp>
      <p:sp>
        <p:nvSpPr>
          <p:cNvPr id="975" name="Text 46"/>
          <p:cNvSpPr/>
          <p:nvPr/>
        </p:nvSpPr>
        <p:spPr>
          <a:xfrm>
            <a:off x="9320733" y="6019800"/>
            <a:ext cx="217616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false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记录结果，更新知识库</a:t>
            </a:r>
            <a:endParaRPr lang="en-US" sz="900" dirty="false"/>
          </a:p>
        </p:txBody>
      </p:sp>
      <p:sp>
        <p:nvSpPr>
          <p:cNvPr id="976" name="Text 47"/>
          <p:cNvSpPr/>
          <p:nvPr/>
        </p:nvSpPr>
        <p:spPr>
          <a:xfrm>
            <a:off x="1057275" y="6515100"/>
            <a:ext cx="10439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true" dirty="false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闭环价值：</a:t>
            </a:r>
            <a:endParaRPr/>
          </a:p>
        </p:txBody>
      </p:sp>
      <p:sp>
        <p:nvSpPr>
          <p:cNvPr id="977" name=""/>
          <p:cNvSpPr txBox="true"/>
          <p:nvPr/>
        </p:nvSpPr>
        <p:spPr>
          <a:xfrm rot="0" flipH="false" flipV="false">
            <a:off x="1737360" y="6477000"/>
            <a:ext cx="9692491" cy="425450"/>
          </a:xfrm>
          <a:prstGeom prst="rect"/>
        </p:spPr>
        <p:txBody>
          <a:bodyPr>
            <a:spAutoFit/>
          </a:bodyPr>
          <a:p>
            <a:pPr/>
            <a:r>
              <a:rPr sz="1100">
                <a:solidFill>
                  <a:srgbClr val="374151">
                    <a:alpha val="100000"/>
                  </a:srgbClr>
                </a:solidFill>
                <a:highlight>
                  <a:srgbClr val="F0FDFA">
                    <a:alpha val="100000"/>
                  </a:srgbClr>
                </a:highlight>
                <a:latin typeface="ui-sans-serif"/>
                <a:ea typeface="ui-sans-serif"/>
                <a:cs typeface="+mn-cs"/>
              </a:rPr>
              <a:t>通过完整的闭环管理流程，系统不断积累设备行为和工程师反应模式，实现知识的持续沉淀与优化，形成自我进化的监控体系。半导体厂平均每年可沉淀300+设备异常解决案例，提升处理效率40%以上。</a:t>
            </a:r>
            <a:endParaRPr/>
          </a:p>
        </p:txBody>
      </p:sp>
      <p:pic>
        <p:nvPicPr>
          <p:cNvPr id="978" name=""/>
          <p:cNvPicPr>
            <a:picLocks noChangeAspect="true"/>
          </p:cNvPicPr>
          <p:nvPr/>
        </p:nvPicPr>
        <p:blipFill>
          <a:blip r:embed="rId47"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>
            <a:fillRect/>
          </a:stretch>
        </p:blipFill>
        <p:spPr>
          <a:xfrm rot="0" flipH="false" flipV="false">
            <a:off x="0" y="-177800"/>
            <a:ext cx="12192000" cy="767644"/>
          </a:xfrm>
          <a:prstGeom prst="rect"/>
          <a:noFill/>
          <a:ln w="0"/>
        </p:spPr>
      </p:pic>
      <p:sp>
        <p:nvSpPr>
          <p:cNvPr id="979" name=""/>
          <p:cNvSpPr txBox="true"/>
          <p:nvPr/>
        </p:nvSpPr>
        <p:spPr>
          <a:xfrm rot="0" flipH="false" flipV="false">
            <a:off x="162560" y="0"/>
            <a:ext cx="6642100" cy="577850"/>
          </a:xfrm>
          <a:prstGeom prst="rect"/>
          <a:noFill/>
        </p:spPr>
        <p:txBody>
          <a:bodyPr lIns="91440" tIns="45720" rIns="91440" bIns="45720" anchor="ctr">
            <a:spAutoFit/>
          </a:bodyPr>
          <a:p>
            <a:pPr marL="0" lvl="0" indent="0">
              <a:buNone/>
            </a:pPr>
            <a:r>
              <a:rPr lang="zh-CN" sz="3200" b="tru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知识库与闭环管理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Slide 4"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2" descr="preencoded.png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 flipH="false" flipV="false">
            <a:off x="388144" y="5728406"/>
            <a:ext cx="11372850" cy="112395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10" name="Image 2" descr="preencoded.png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 flipH="false" flipV="false">
            <a:off x="388144" y="4318706"/>
            <a:ext cx="11372850" cy="112395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11" name="Image 2" descr="preencoded.png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 flipH="false" flipV="false">
            <a:off x="388144" y="2880431"/>
            <a:ext cx="11372850" cy="112395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12" name="Image 2" descr="preencoded.png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 flipH="false" flipV="false">
            <a:off x="373856" y="1470732"/>
            <a:ext cx="11372850" cy="1123950"/>
          </a:xfrm>
          <a:prstGeom prst="rect">
            <a:avLst/>
          </a:prstGeom>
          <a:solidFill>
            <a:srgbClr val="E5F6FF">
              <a:alpha val="100000"/>
            </a:srgbClr>
          </a:solidFill>
        </p:spPr>
      </p:pic>
      <p:pic>
        <p:nvPicPr>
          <p:cNvPr id="13" name="Image 6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202406" y="1327856"/>
            <a:ext cx="342900" cy="342900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562769" y="1817468"/>
            <a:ext cx="393700" cy="481937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202406" y="2737556"/>
            <a:ext cx="342900" cy="342900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 flipH="false" flipV="false">
            <a:off x="545306" y="3175706"/>
            <a:ext cx="428625" cy="533400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 flipH="false" flipV="false">
            <a:off x="659606" y="3290006"/>
            <a:ext cx="200025" cy="304800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 flipH="false" flipV="false">
            <a:off x="202406" y="4147256"/>
            <a:ext cx="342900" cy="342900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 flipH="false" flipV="false">
            <a:off x="545306" y="4585406"/>
            <a:ext cx="457200" cy="533400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 flipH="false" flipV="false">
            <a:off x="659606" y="4699706"/>
            <a:ext cx="228600" cy="304800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 flipH="false" flipV="false">
            <a:off x="202406" y="5556956"/>
            <a:ext cx="342900" cy="34290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 flipH="false" flipV="false">
            <a:off x="545306" y="5995106"/>
            <a:ext cx="457200" cy="533400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 flipH="false" flipV="false">
            <a:off x="659606" y="6109406"/>
            <a:ext cx="228600" cy="3048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true" dirty="false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产品总体架构</a:t>
            </a:r>
            <a:endParaRPr lang="en-US" sz="2250" dirty="false"/>
          </a:p>
        </p:txBody>
      </p:sp>
      <p:sp>
        <p:nvSpPr>
          <p:cNvPr id="25" name="Text 1"/>
          <p:cNvSpPr/>
          <p:nvPr/>
        </p:nvSpPr>
        <p:spPr>
          <a:xfrm rot="0" flipH="false" flipV="false">
            <a:off x="381000" y="9144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OCAP产品采用四层系统架构，确保数据流的顺畅和功能的协同，实现从异常检测到处理的闭环自动化管理。</a:t>
            </a:r>
            <a:endParaRPr lang="en-US" sz="1500"/>
          </a:p>
        </p:txBody>
      </p:sp>
      <p:sp>
        <p:nvSpPr>
          <p:cNvPr id="26" name="Text 2"/>
          <p:cNvSpPr/>
          <p:nvPr/>
        </p:nvSpPr>
        <p:spPr>
          <a:xfrm rot="0" flipH="false" flipV="false">
            <a:off x="330994" y="1327856"/>
            <a:ext cx="3429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1</a:t>
            </a:r>
            <a:endParaRPr lang="en-US" sz="1200"/>
          </a:p>
        </p:txBody>
      </p:sp>
      <p:sp>
        <p:nvSpPr>
          <p:cNvPr id="27" name="Text 3"/>
          <p:cNvSpPr/>
          <p:nvPr/>
        </p:nvSpPr>
        <p:spPr>
          <a:xfrm rot="0" flipH="false" flipV="false">
            <a:off x="1110456" y="1670756"/>
            <a:ext cx="1059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数据采集层 (OT层)</a:t>
            </a:r>
            <a:endParaRPr lang="en-US" sz="1500" dirty="false"/>
          </a:p>
        </p:txBody>
      </p:sp>
      <p:sp>
        <p:nvSpPr>
          <p:cNvPr id="28" name="Text 4"/>
          <p:cNvSpPr/>
          <p:nvPr/>
        </p:nvSpPr>
        <p:spPr>
          <a:xfrm rot="0" flipH="false" flipV="false">
            <a:off x="1110456" y="1937456"/>
            <a:ext cx="10591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部署在工厂现场，负责从生产设备和厂务设施（如超纯水系统、冷却水系统、气体供应等）实时采集运行数据。通过SCADA系统、PLC以及各类传感器进行</a:t>
            </a:r>
            <a:endParaRPr/>
          </a:p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数据获取，进行本地初步处理和基本监控。</a:t>
            </a:r>
            <a:endParaRPr/>
          </a:p>
        </p:txBody>
      </p:sp>
      <p:sp>
        <p:nvSpPr>
          <p:cNvPr id="29" name="Text 5"/>
          <p:cNvSpPr/>
          <p:nvPr/>
        </p:nvSpPr>
        <p:spPr>
          <a:xfrm rot="0" flipH="false" flipV="false">
            <a:off x="330994" y="2737556"/>
            <a:ext cx="3429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</a:t>
            </a:r>
            <a:endParaRPr lang="en-US" sz="1200"/>
          </a:p>
        </p:txBody>
      </p:sp>
      <p:sp>
        <p:nvSpPr>
          <p:cNvPr id="30" name="Text 6"/>
          <p:cNvSpPr/>
          <p:nvPr/>
        </p:nvSpPr>
        <p:spPr>
          <a:xfrm rot="0" flipH="false" flipV="false">
            <a:off x="1126331" y="3080456"/>
            <a:ext cx="103917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4ADE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数据处理与分析层 (IT层)</a:t>
            </a:r>
            <a:endParaRPr lang="en-US" sz="1500" dirty="false"/>
          </a:p>
        </p:txBody>
      </p:sp>
      <p:sp>
        <p:nvSpPr>
          <p:cNvPr id="31" name="Text 7"/>
          <p:cNvSpPr/>
          <p:nvPr/>
        </p:nvSpPr>
        <p:spPr>
          <a:xfrm rot="0" flipH="false" flipV="false">
            <a:off x="1126331" y="3347156"/>
            <a:ext cx="10391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将OT层采集的海量数据转化为有价值的决策信息。采用消息队列（如Kafka集群）作为数据总线，利用流处理引擎（如Flink或Spark Streaming）对数据进行清洗、特征提取和AI模型推理，实现SPC规则检查和异常检测。</a:t>
            </a:r>
            <a:endParaRPr lang="en-US" sz="1200"/>
          </a:p>
        </p:txBody>
      </p:sp>
      <p:sp>
        <p:nvSpPr>
          <p:cNvPr id="32" name="Text 8"/>
          <p:cNvSpPr/>
          <p:nvPr/>
        </p:nvSpPr>
        <p:spPr>
          <a:xfrm rot="0" flipH="false" flipV="false">
            <a:off x="330994" y="4147256"/>
            <a:ext cx="3429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3</a:t>
            </a:r>
            <a:endParaRPr lang="en-US" sz="1200"/>
          </a:p>
        </p:txBody>
      </p:sp>
      <p:sp>
        <p:nvSpPr>
          <p:cNvPr id="33" name="Text 9"/>
          <p:cNvSpPr/>
          <p:nvPr/>
        </p:nvSpPr>
        <p:spPr>
          <a:xfrm rot="0" flipH="false" flipV="false">
            <a:off x="1154906" y="4490156"/>
            <a:ext cx="10363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FB92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OCAP决策与执行层</a:t>
            </a:r>
            <a:endParaRPr lang="en-US" sz="1500" dirty="false"/>
          </a:p>
        </p:txBody>
      </p:sp>
      <p:sp>
        <p:nvSpPr>
          <p:cNvPr id="34" name="Text 10"/>
          <p:cNvSpPr/>
          <p:nvPr/>
        </p:nvSpPr>
        <p:spPr>
          <a:xfrm rot="0" flipH="false" flipV="false">
            <a:off x="1154906" y="4756856"/>
            <a:ext cx="1036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作为系统的"大脑"，承载OCAP知识库、业务逻辑和用户交互界面，负责异常场景的匹配、行动计划的推荐和执行任务的派发。通过决策引擎查询知识库，匹配最合适的OCAP方案，并与MES、EAM/CMMS等系统集成。</a:t>
            </a:r>
            <a:endParaRPr lang="en-US" sz="1200"/>
          </a:p>
        </p:txBody>
      </p:sp>
      <p:sp>
        <p:nvSpPr>
          <p:cNvPr id="35" name="Text 11"/>
          <p:cNvSpPr/>
          <p:nvPr/>
        </p:nvSpPr>
        <p:spPr>
          <a:xfrm rot="0" flipH="false" flipV="false">
            <a:off x="330994" y="5556956"/>
            <a:ext cx="3429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4</a:t>
            </a:r>
            <a:endParaRPr lang="en-US" sz="1200"/>
          </a:p>
        </p:txBody>
      </p:sp>
      <p:sp>
        <p:nvSpPr>
          <p:cNvPr id="36" name="Text 12"/>
          <p:cNvSpPr/>
          <p:nvPr/>
        </p:nvSpPr>
        <p:spPr>
          <a:xfrm rot="0" flipH="false" flipV="false">
            <a:off x="1154906" y="5899856"/>
            <a:ext cx="10363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C084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反馈分析与优化层</a:t>
            </a:r>
            <a:endParaRPr lang="en-US" sz="1500" dirty="false"/>
          </a:p>
        </p:txBody>
      </p:sp>
      <p:sp>
        <p:nvSpPr>
          <p:cNvPr id="37" name="Text 13"/>
          <p:cNvSpPr/>
          <p:nvPr/>
        </p:nvSpPr>
        <p:spPr>
          <a:xfrm rot="0" flipH="false" flipV="false">
            <a:off x="1154906" y="6166556"/>
            <a:ext cx="1036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对异常处理全过程数据进行统计分析，为持续改进提供数据支持。包含数据仓库/大数据平台存储历史数据，提供多维度分析报表，支持根本原因分析(RCA)工具，持续训练和优化异常检测AI模型。</a:t>
            </a:r>
            <a:endParaRPr lang="en-US" sz="1200"/>
          </a:p>
        </p:txBody>
      </p:sp>
      <p:pic>
        <p:nvPicPr>
          <p:cNvPr id="38" name=""/>
          <p:cNvPicPr>
            <a:picLocks noChangeAspect="true"/>
          </p:cNvPicPr>
          <p:nvPr/>
        </p:nvPicPr>
        <p:blipFill>
          <a:blip r:embed="rId14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sp>
        <p:nvSpPr>
          <p:cNvPr id="39" name="Text 0"/>
          <p:cNvSpPr/>
          <p:nvPr/>
        </p:nvSpPr>
        <p:spPr>
          <a:xfrm rot="0" flipH="false" flipV="false">
            <a:off x="266700" y="1524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zh-CN" sz="2700" b="true">
                <a:solidFill>
                  <a:srgbClr val="FFFFFF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产品总体架构</a:t>
            </a:r>
            <a:endParaRPr/>
          </a:p>
        </p:txBody>
      </p:sp>
      <p:pic>
        <p:nvPicPr>
          <p:cNvPr id="40" name="Image 6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 flipH="false" flipV="false">
            <a:off x="602456" y="1891337"/>
            <a:ext cx="298450" cy="2827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Slide 5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false" flipV="false">
            <a:off x="284491" y="1448930"/>
            <a:ext cx="6780508" cy="4264940"/>
          </a:xfrm>
          <a:prstGeom prst="roundRect">
            <a:avLst>
              <a:gd name="adj" fmla="val 4281"/>
            </a:avLst>
          </a:prstGeom>
          <a:solidFill>
            <a:srgbClr val="C7EC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43" name=""/>
          <p:cNvSpPr/>
          <p:nvPr/>
        </p:nvSpPr>
        <p:spPr>
          <a:xfrm rot="0" flipH="false" flipV="false">
            <a:off x="381000" y="3217196"/>
            <a:ext cx="6420225" cy="576008"/>
          </a:xfrm>
          <a:prstGeom prst="roundRect">
            <a:avLst>
              <a:gd name="adj" fmla="val 4281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44" name=""/>
          <p:cNvSpPr/>
          <p:nvPr/>
        </p:nvSpPr>
        <p:spPr>
          <a:xfrm rot="0" flipH="false" flipV="false">
            <a:off x="381000" y="1600201"/>
            <a:ext cx="3110420" cy="576008"/>
          </a:xfrm>
          <a:prstGeom prst="roundRect">
            <a:avLst>
              <a:gd name="adj" fmla="val 4281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45" name=""/>
          <p:cNvSpPr/>
          <p:nvPr/>
        </p:nvSpPr>
        <p:spPr>
          <a:xfrm rot="0" flipH="false" flipV="false">
            <a:off x="3690805" y="1616996"/>
            <a:ext cx="3110420" cy="576008"/>
          </a:xfrm>
          <a:prstGeom prst="roundRect">
            <a:avLst>
              <a:gd name="adj" fmla="val 4281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46" name=""/>
          <p:cNvSpPr/>
          <p:nvPr/>
        </p:nvSpPr>
        <p:spPr>
          <a:xfrm rot="0" flipH="false" flipV="false">
            <a:off x="3690805" y="2442910"/>
            <a:ext cx="3110420" cy="576008"/>
          </a:xfrm>
          <a:prstGeom prst="roundRect">
            <a:avLst>
              <a:gd name="adj" fmla="val 4281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47" name=""/>
          <p:cNvSpPr/>
          <p:nvPr/>
        </p:nvSpPr>
        <p:spPr>
          <a:xfrm rot="0" flipH="false" flipV="false">
            <a:off x="381000" y="2442910"/>
            <a:ext cx="3110420" cy="576008"/>
          </a:xfrm>
          <a:prstGeom prst="roundRect">
            <a:avLst>
              <a:gd name="adj" fmla="val 4281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48" name=""/>
          <p:cNvSpPr/>
          <p:nvPr/>
        </p:nvSpPr>
        <p:spPr>
          <a:xfrm rot="0" flipH="false" flipV="false">
            <a:off x="381000" y="4035778"/>
            <a:ext cx="6420224" cy="576008"/>
          </a:xfrm>
          <a:prstGeom prst="roundRect">
            <a:avLst>
              <a:gd name="adj" fmla="val 4281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49" name=""/>
          <p:cNvSpPr/>
          <p:nvPr/>
        </p:nvSpPr>
        <p:spPr>
          <a:xfrm rot="0" flipH="false" flipV="false">
            <a:off x="404680" y="4838700"/>
            <a:ext cx="3110420" cy="576008"/>
          </a:xfrm>
          <a:prstGeom prst="roundRect">
            <a:avLst>
              <a:gd name="adj" fmla="val 4281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50" name=""/>
          <p:cNvSpPr/>
          <p:nvPr/>
        </p:nvSpPr>
        <p:spPr>
          <a:xfrm rot="0" flipH="false" flipV="false">
            <a:off x="3690805" y="4817396"/>
            <a:ext cx="3110420" cy="576008"/>
          </a:xfrm>
          <a:prstGeom prst="roundRect">
            <a:avLst>
              <a:gd name="adj" fmla="val 4281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51" name=""/>
          <p:cNvSpPr/>
          <p:nvPr/>
        </p:nvSpPr>
        <p:spPr>
          <a:xfrm rot="0" flipH="false" flipV="false">
            <a:off x="7269997" y="1488806"/>
            <a:ext cx="4426703" cy="4223288"/>
          </a:xfrm>
          <a:prstGeom prst="roundRect">
            <a:avLst>
              <a:gd name="adj" fmla="val 4281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pic>
        <p:nvPicPr>
          <p:cNvPr id="52" name="Image 20" descr="preencoded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0" y="1714500"/>
            <a:ext cx="133350" cy="152400"/>
          </a:xfrm>
          <a:prstGeom prst="rect">
            <a:avLst/>
          </a:prstGeom>
        </p:spPr>
      </p:pic>
      <p:pic>
        <p:nvPicPr>
          <p:cNvPr id="53" name="Image 2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3390900"/>
            <a:ext cx="133350" cy="152400"/>
          </a:xfrm>
          <a:prstGeom prst="rect">
            <a:avLst/>
          </a:prstGeom>
        </p:spPr>
      </p:pic>
      <p:pic>
        <p:nvPicPr>
          <p:cNvPr id="54" name="Image 22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350" y="4762500"/>
            <a:ext cx="152400" cy="152400"/>
          </a:xfrm>
          <a:prstGeom prst="rect">
            <a:avLst/>
          </a:prstGeom>
        </p:spPr>
      </p:pic>
      <p:pic>
        <p:nvPicPr>
          <p:cNvPr id="55" name="Image 23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6953250" y="5600700"/>
            <a:ext cx="4629150" cy="1428750"/>
          </a:xfrm>
          <a:prstGeom prst="rect">
            <a:avLst/>
          </a:prstGeom>
        </p:spPr>
      </p:pic>
      <p:sp>
        <p:nvSpPr>
          <p:cNvPr id="56" name="Text 1"/>
          <p:cNvSpPr/>
          <p:nvPr/>
        </p:nvSpPr>
        <p:spPr>
          <a:xfrm>
            <a:off x="381000" y="1066800"/>
            <a:ext cx="6572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FB92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系统架构概览</a:t>
            </a:r>
            <a:endParaRPr lang="en-US" sz="1500" dirty="false"/>
          </a:p>
        </p:txBody>
      </p:sp>
      <p:sp>
        <p:nvSpPr>
          <p:cNvPr id="57" name="Text 18"/>
          <p:cNvSpPr/>
          <p:nvPr/>
        </p:nvSpPr>
        <p:spPr>
          <a:xfrm>
            <a:off x="7181850" y="10668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FB92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与SPC模块关系</a:t>
            </a:r>
            <a:endParaRPr lang="en-US" sz="1500" dirty="false"/>
          </a:p>
        </p:txBody>
      </p:sp>
      <p:sp>
        <p:nvSpPr>
          <p:cNvPr id="58" name="Text 19"/>
          <p:cNvSpPr/>
          <p:nvPr/>
        </p:nvSpPr>
        <p:spPr>
          <a:xfrm>
            <a:off x="7581900" y="1676400"/>
            <a:ext cx="4248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SPC → OCAP 数据流</a:t>
            </a:r>
            <a:endParaRPr lang="en-US" sz="1200"/>
          </a:p>
        </p:txBody>
      </p:sp>
      <p:sp>
        <p:nvSpPr>
          <p:cNvPr id="59" name="Text 20"/>
          <p:cNvSpPr/>
          <p:nvPr/>
        </p:nvSpPr>
        <p:spPr>
          <a:xfrm>
            <a:off x="7477125" y="1981200"/>
            <a:ext cx="5234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SPC系统通过API实时传输异常数据至OCAP平台</a:t>
            </a:r>
            <a:endParaRPr lang="en-US" sz="1200"/>
          </a:p>
        </p:txBody>
      </p:sp>
      <p:sp>
        <p:nvSpPr>
          <p:cNvPr id="60" name="Text 21"/>
          <p:cNvSpPr/>
          <p:nvPr/>
        </p:nvSpPr>
        <p:spPr>
          <a:xfrm>
            <a:off x="7477125" y="2286000"/>
            <a:ext cx="5234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触发工作流引擎启动异常处理流程</a:t>
            </a:r>
            <a:endParaRPr lang="en-US" sz="1200"/>
          </a:p>
        </p:txBody>
      </p:sp>
      <p:sp>
        <p:nvSpPr>
          <p:cNvPr id="61" name="Text 22"/>
          <p:cNvSpPr/>
          <p:nvPr/>
        </p:nvSpPr>
        <p:spPr>
          <a:xfrm>
            <a:off x="7477125" y="2590800"/>
            <a:ext cx="5234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AI智能体分析异常数据并推荐处理方案</a:t>
            </a:r>
            <a:endParaRPr lang="en-US" sz="1200"/>
          </a:p>
        </p:txBody>
      </p:sp>
      <p:sp>
        <p:nvSpPr>
          <p:cNvPr id="62" name="Text 23"/>
          <p:cNvSpPr/>
          <p:nvPr/>
        </p:nvSpPr>
        <p:spPr>
          <a:xfrm>
            <a:off x="7477125" y="2895600"/>
            <a:ext cx="4362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生成工单派发给相关责任人</a:t>
            </a:r>
            <a:endParaRPr lang="en-US" sz="1200"/>
          </a:p>
        </p:txBody>
      </p:sp>
      <p:sp>
        <p:nvSpPr>
          <p:cNvPr id="63" name="Text 24"/>
          <p:cNvSpPr/>
          <p:nvPr/>
        </p:nvSpPr>
        <p:spPr>
          <a:xfrm>
            <a:off x="7581900" y="3352800"/>
            <a:ext cx="4248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OCAP → SPC 反馈流</a:t>
            </a:r>
            <a:endParaRPr lang="en-US" sz="1200"/>
          </a:p>
        </p:txBody>
      </p:sp>
      <p:sp>
        <p:nvSpPr>
          <p:cNvPr id="64" name="Text 25"/>
          <p:cNvSpPr/>
          <p:nvPr/>
        </p:nvSpPr>
        <p:spPr>
          <a:xfrm>
            <a:off x="7477125" y="3657600"/>
            <a:ext cx="4362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OCAP处理结果反馈至SPC系统</a:t>
            </a:r>
            <a:endParaRPr lang="en-US" sz="1200"/>
          </a:p>
        </p:txBody>
      </p:sp>
      <p:sp>
        <p:nvSpPr>
          <p:cNvPr id="65" name="Text 26"/>
          <p:cNvSpPr/>
          <p:nvPr/>
        </p:nvSpPr>
        <p:spPr>
          <a:xfrm>
            <a:off x="7477125" y="3962400"/>
            <a:ext cx="5234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更新控制限和规则，优化异常检测策略</a:t>
            </a:r>
            <a:endParaRPr lang="en-US" sz="1200"/>
          </a:p>
        </p:txBody>
      </p:sp>
      <p:sp>
        <p:nvSpPr>
          <p:cNvPr id="66" name="Text 27"/>
          <p:cNvSpPr/>
          <p:nvPr/>
        </p:nvSpPr>
        <p:spPr>
          <a:xfrm>
            <a:off x="7477125" y="4267200"/>
            <a:ext cx="5234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沉淀处理经验，持续改进SPC模型</a:t>
            </a:r>
            <a:endParaRPr lang="en-US" sz="1200"/>
          </a:p>
        </p:txBody>
      </p:sp>
      <p:sp>
        <p:nvSpPr>
          <p:cNvPr id="67" name="Text 28"/>
          <p:cNvSpPr/>
          <p:nvPr/>
        </p:nvSpPr>
        <p:spPr>
          <a:xfrm>
            <a:off x="7600950" y="4724400"/>
            <a:ext cx="4248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协同优势</a:t>
            </a:r>
            <a:endParaRPr lang="en-US" sz="1200"/>
          </a:p>
        </p:txBody>
      </p:sp>
      <p:sp>
        <p:nvSpPr>
          <p:cNvPr id="68" name="Text 29"/>
          <p:cNvSpPr/>
          <p:nvPr/>
        </p:nvSpPr>
        <p:spPr>
          <a:xfrm>
            <a:off x="7372350" y="5029200"/>
            <a:ext cx="4248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两系统协同实现从异常检测、智能诊断到处置执行的全流程自动化，形成闭环反馈机制，不断提升异常处理效率和准确性。</a:t>
            </a:r>
            <a:endParaRPr lang="en-US" sz="1200"/>
          </a:p>
        </p:txBody>
      </p:sp>
      <p:pic>
        <p:nvPicPr>
          <p:cNvPr id="69" name=""/>
          <p:cNvPicPr>
            <a:picLocks noChangeAspect="true"/>
          </p:cNvPicPr>
          <p:nvPr/>
        </p:nvPicPr>
        <p:blipFill>
          <a:blip r:embed="rId6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>
            <a:fillRect/>
          </a:stretch>
        </p:blipFill>
        <p:spPr>
          <a:xfrm rot="0" flipH="false" flipV="false">
            <a:off x="0" y="0"/>
            <a:ext cx="12192000" cy="767644"/>
          </a:xfrm>
          <a:prstGeom prst="rect"/>
        </p:spPr>
      </p:pic>
      <p:sp>
        <p:nvSpPr>
          <p:cNvPr id="70" name="Text 0"/>
          <p:cNvSpPr/>
          <p:nvPr/>
        </p:nvSpPr>
        <p:spPr>
          <a:xfrm rot="0" flipH="false" flipV="false">
            <a:off x="152400" y="2667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zh-CN" sz="2250" b="tru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系统能力与架构</a:t>
            </a:r>
            <a:endParaRPr/>
          </a:p>
        </p:txBody>
      </p:sp>
      <p:pic>
        <p:nvPicPr>
          <p:cNvPr id="71" name="Image 4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33550"/>
            <a:ext cx="257175" cy="304800"/>
          </a:xfrm>
          <a:prstGeom prst="rect">
            <a:avLst/>
          </a:prstGeom>
        </p:spPr>
      </p:pic>
      <p:pic>
        <p:nvPicPr>
          <p:cNvPr id="72" name="Image 6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3909864" y="1733550"/>
            <a:ext cx="171450" cy="304800"/>
          </a:xfrm>
          <a:prstGeom prst="rect">
            <a:avLst/>
          </a:prstGeom>
        </p:spPr>
      </p:pic>
      <p:pic>
        <p:nvPicPr>
          <p:cNvPr id="73" name="Image 8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533650"/>
            <a:ext cx="285750" cy="304800"/>
          </a:xfrm>
          <a:prstGeom prst="rect">
            <a:avLst/>
          </a:prstGeom>
        </p:spPr>
      </p:pic>
      <p:pic>
        <p:nvPicPr>
          <p:cNvPr id="74" name="Image 10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9864" y="2533650"/>
            <a:ext cx="200025" cy="304800"/>
          </a:xfrm>
          <a:prstGeom prst="rect">
            <a:avLst/>
          </a:prstGeom>
        </p:spPr>
      </p:pic>
      <p:pic>
        <p:nvPicPr>
          <p:cNvPr id="75" name="Image 12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333750"/>
            <a:ext cx="228600" cy="304800"/>
          </a:xfrm>
          <a:prstGeom prst="rect">
            <a:avLst/>
          </a:prstGeom>
        </p:spPr>
      </p:pic>
      <p:pic>
        <p:nvPicPr>
          <p:cNvPr id="76" name="Image 14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133850"/>
            <a:ext cx="257175" cy="304800"/>
          </a:xfrm>
          <a:prstGeom prst="rect">
            <a:avLst/>
          </a:prstGeom>
        </p:spPr>
      </p:pic>
      <p:pic>
        <p:nvPicPr>
          <p:cNvPr id="77" name="Image 16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4933950"/>
            <a:ext cx="228600" cy="304800"/>
          </a:xfrm>
          <a:prstGeom prst="rect">
            <a:avLst/>
          </a:prstGeom>
        </p:spPr>
      </p:pic>
      <p:pic>
        <p:nvPicPr>
          <p:cNvPr id="78" name="Image 18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9864" y="4933950"/>
            <a:ext cx="228600" cy="304800"/>
          </a:xfrm>
          <a:prstGeom prst="rect">
            <a:avLst/>
          </a:prstGeom>
        </p:spPr>
      </p:pic>
      <p:sp>
        <p:nvSpPr>
          <p:cNvPr id="79" name="Text 2"/>
          <p:cNvSpPr/>
          <p:nvPr/>
        </p:nvSpPr>
        <p:spPr>
          <a:xfrm>
            <a:off x="942975" y="1676400"/>
            <a:ext cx="1485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工作流引擎</a:t>
            </a:r>
            <a:endParaRPr lang="en-US" sz="1200"/>
          </a:p>
        </p:txBody>
      </p:sp>
      <p:sp>
        <p:nvSpPr>
          <p:cNvPr id="80" name="Text 3"/>
          <p:cNvSpPr/>
          <p:nvPr/>
        </p:nvSpPr>
        <p:spPr>
          <a:xfrm rot="0" flipH="false" flipV="false">
            <a:off x="942975" y="1905000"/>
            <a:ext cx="22790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FFP/FFS/Camunda/Flowable/N8N</a:t>
            </a:r>
            <a:endParaRPr/>
          </a:p>
        </p:txBody>
      </p:sp>
      <p:sp>
        <p:nvSpPr>
          <p:cNvPr id="81" name="Text 4"/>
          <p:cNvSpPr/>
          <p:nvPr/>
        </p:nvSpPr>
        <p:spPr>
          <a:xfrm>
            <a:off x="4195614" y="1676400"/>
            <a:ext cx="13487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动态表单服务</a:t>
            </a:r>
            <a:endParaRPr lang="en-US" sz="1200"/>
          </a:p>
        </p:txBody>
      </p:sp>
      <p:sp>
        <p:nvSpPr>
          <p:cNvPr id="82" name="Text 5"/>
          <p:cNvSpPr/>
          <p:nvPr/>
        </p:nvSpPr>
        <p:spPr>
          <a:xfrm rot="0" flipH="false" flipV="false">
            <a:off x="4195614" y="1905000"/>
            <a:ext cx="260561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TDuck/Ant Design/Formily/Json Schema</a:t>
            </a:r>
            <a:endParaRPr/>
          </a:p>
        </p:txBody>
      </p:sp>
      <p:sp>
        <p:nvSpPr>
          <p:cNvPr id="83" name="Text 6"/>
          <p:cNvSpPr/>
          <p:nvPr/>
        </p:nvSpPr>
        <p:spPr>
          <a:xfrm>
            <a:off x="971550" y="2476500"/>
            <a:ext cx="11772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AI智能体服务</a:t>
            </a:r>
            <a:endParaRPr lang="en-US" sz="1200"/>
          </a:p>
        </p:txBody>
      </p:sp>
      <p:sp>
        <p:nvSpPr>
          <p:cNvPr id="84" name="Text 7"/>
          <p:cNvSpPr/>
          <p:nvPr/>
        </p:nvSpPr>
        <p:spPr>
          <a:xfrm rot="0" flipH="false" flipV="false">
            <a:off x="971550" y="2705100"/>
            <a:ext cx="156887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LangChain/Dify/Coze</a:t>
            </a:r>
            <a:endParaRPr/>
          </a:p>
        </p:txBody>
      </p:sp>
      <p:sp>
        <p:nvSpPr>
          <p:cNvPr id="85" name="Text 8"/>
          <p:cNvSpPr/>
          <p:nvPr/>
        </p:nvSpPr>
        <p:spPr>
          <a:xfrm>
            <a:off x="4224189" y="2476500"/>
            <a:ext cx="16668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知识库服务</a:t>
            </a:r>
            <a:endParaRPr lang="en-US" sz="1200"/>
          </a:p>
        </p:txBody>
      </p:sp>
      <p:sp>
        <p:nvSpPr>
          <p:cNvPr id="86" name="Text 9"/>
          <p:cNvSpPr/>
          <p:nvPr/>
        </p:nvSpPr>
        <p:spPr>
          <a:xfrm>
            <a:off x="4224189" y="2705100"/>
            <a:ext cx="2000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Elasticsearch/Milvus/FAISS</a:t>
            </a:r>
            <a:endParaRPr lang="en-US" sz="1050"/>
          </a:p>
        </p:txBody>
      </p:sp>
      <p:sp>
        <p:nvSpPr>
          <p:cNvPr id="87" name="Text 10"/>
          <p:cNvSpPr/>
          <p:nvPr/>
        </p:nvSpPr>
        <p:spPr>
          <a:xfrm>
            <a:off x="914400" y="3276600"/>
            <a:ext cx="22745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数据总线与处理层</a:t>
            </a:r>
            <a:endParaRPr lang="en-US" sz="1200"/>
          </a:p>
        </p:txBody>
      </p:sp>
      <p:sp>
        <p:nvSpPr>
          <p:cNvPr id="88" name="Text 11"/>
          <p:cNvSpPr/>
          <p:nvPr/>
        </p:nvSpPr>
        <p:spPr>
          <a:xfrm>
            <a:off x="914400" y="3505200"/>
            <a:ext cx="22745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Kafka + Flink/Spark Streaming</a:t>
            </a:r>
            <a:endParaRPr lang="en-US" sz="1050"/>
          </a:p>
        </p:txBody>
      </p:sp>
      <p:sp>
        <p:nvSpPr>
          <p:cNvPr id="89" name="Text 12"/>
          <p:cNvSpPr/>
          <p:nvPr/>
        </p:nvSpPr>
        <p:spPr>
          <a:xfrm>
            <a:off x="942975" y="4076700"/>
            <a:ext cx="27317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OT层 (Operational Technology)</a:t>
            </a:r>
            <a:endParaRPr lang="en-US" sz="1200"/>
          </a:p>
        </p:txBody>
      </p:sp>
      <p:sp>
        <p:nvSpPr>
          <p:cNvPr id="90" name="Text 13"/>
          <p:cNvSpPr/>
          <p:nvPr/>
        </p:nvSpPr>
        <p:spPr>
          <a:xfrm>
            <a:off x="942975" y="4305300"/>
            <a:ext cx="27317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SCADA/PLC/设备传感器</a:t>
            </a:r>
            <a:endParaRPr lang="en-US" sz="1050"/>
          </a:p>
        </p:txBody>
      </p:sp>
      <p:sp>
        <p:nvSpPr>
          <p:cNvPr id="91" name="Text 14"/>
          <p:cNvSpPr/>
          <p:nvPr/>
        </p:nvSpPr>
        <p:spPr>
          <a:xfrm>
            <a:off x="914400" y="4876800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SPC系统集成</a:t>
            </a:r>
            <a:endParaRPr lang="en-US" sz="1200"/>
          </a:p>
        </p:txBody>
      </p:sp>
      <p:sp>
        <p:nvSpPr>
          <p:cNvPr id="92" name="Text 15"/>
          <p:cNvSpPr/>
          <p:nvPr/>
        </p:nvSpPr>
        <p:spPr>
          <a:xfrm>
            <a:off x="914400" y="510540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统计过程控制系统</a:t>
            </a:r>
            <a:endParaRPr lang="en-US" sz="1050"/>
          </a:p>
        </p:txBody>
      </p:sp>
      <p:sp>
        <p:nvSpPr>
          <p:cNvPr id="93" name="Text 16"/>
          <p:cNvSpPr/>
          <p:nvPr/>
        </p:nvSpPr>
        <p:spPr>
          <a:xfrm>
            <a:off x="4252764" y="4876800"/>
            <a:ext cx="1577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MES/EAM系统集成</a:t>
            </a:r>
            <a:endParaRPr lang="en-US" sz="1200"/>
          </a:p>
        </p:txBody>
      </p:sp>
      <p:sp>
        <p:nvSpPr>
          <p:cNvPr id="94" name="Text 17"/>
          <p:cNvSpPr/>
          <p:nvPr/>
        </p:nvSpPr>
        <p:spPr>
          <a:xfrm>
            <a:off x="4252764" y="5105400"/>
            <a:ext cx="1577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制造/资产管理</a:t>
            </a:r>
            <a:endParaRPr lang="en-US" sz="1050"/>
          </a:p>
        </p:txBody>
      </p:sp>
      <p:sp>
        <p:nvSpPr>
          <p:cNvPr id="95" name=""/>
          <p:cNvSpPr txBox="true"/>
          <p:nvPr/>
        </p:nvSpPr>
        <p:spPr>
          <a:xfrm rot="0" flipH="false" flipV="false">
            <a:off x="8899525" y="5791200"/>
            <a:ext cx="736600" cy="260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 wrap="none">
            <a:spAutoFit/>
          </a:bodyPr>
          <a:p>
            <a:pPr/>
            <a:r>
              <a:rPr lang="zh-CN" sz="1100"/>
              <a:t>异常数据</a:t>
            </a:r>
            <a:endParaRPr/>
          </a:p>
        </p:txBody>
      </p:sp>
      <p:sp>
        <p:nvSpPr>
          <p:cNvPr id="96" name=""/>
          <p:cNvSpPr txBox="true"/>
          <p:nvPr/>
        </p:nvSpPr>
        <p:spPr>
          <a:xfrm rot="0" flipH="false" flipV="false">
            <a:off x="8921750" y="6553200"/>
            <a:ext cx="736600" cy="260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 wrap="none">
            <a:spAutoFit/>
          </a:bodyPr>
          <a:p>
            <a:pPr/>
            <a:r>
              <a:rPr lang="zh-CN" sz="1100"/>
              <a:t>处理结果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/>
          <p:cNvPicPr>
            <a:picLocks noChangeAspect="true"/>
          </p:cNvPicPr>
          <p:nvPr/>
        </p:nvPicPr>
        <p:blipFill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pic>
        <p:nvPicPr>
          <p:cNvPr id="99" name="Image 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762000"/>
            <a:ext cx="914400" cy="38100"/>
          </a:xfrm>
          <a:prstGeom prst="rect">
            <a:avLst/>
          </a:prstGeom>
        </p:spPr>
      </p:pic>
      <p:pic>
        <p:nvPicPr>
          <p:cNvPr id="100" name="Image 2" descr="preencoded.png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800" y="1371600"/>
            <a:ext cx="2800350" cy="6858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101" name="Image 3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495425"/>
            <a:ext cx="285750" cy="285750"/>
          </a:xfrm>
          <a:prstGeom prst="rect">
            <a:avLst/>
          </a:prstGeom>
        </p:spPr>
      </p:pic>
      <p:pic>
        <p:nvPicPr>
          <p:cNvPr id="102" name="Image 4" descr="preencoded.png"/>
          <p:cNvPicPr>
            <a:picLocks noChangeAspect="true"/>
          </p:cNvPicPr>
          <p:nvPr/>
        </p:nvPicPr>
        <p:blipFill>
          <a:blip r:embed="rId6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19450" y="1371600"/>
            <a:ext cx="2800350" cy="6858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103" name="Image 5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50" y="1495425"/>
            <a:ext cx="247650" cy="285750"/>
          </a:xfrm>
          <a:prstGeom prst="rect">
            <a:avLst/>
          </a:prstGeom>
        </p:spPr>
      </p:pic>
      <p:pic>
        <p:nvPicPr>
          <p:cNvPr id="104" name="Image 6" descr="preencoded.png"/>
          <p:cNvPicPr>
            <a:picLocks noChangeAspect="true"/>
          </p:cNvPicPr>
          <p:nvPr/>
        </p:nvPicPr>
        <p:blipFill>
          <a:blip r:embed="rId8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800" y="2171700"/>
            <a:ext cx="2800350" cy="6858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105" name="Image 7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2295525"/>
            <a:ext cx="361950" cy="285750"/>
          </a:xfrm>
          <a:prstGeom prst="rect">
            <a:avLst/>
          </a:prstGeom>
        </p:spPr>
      </p:pic>
      <p:pic>
        <p:nvPicPr>
          <p:cNvPr id="106" name="Image 8" descr="preencoded.png"/>
          <p:cNvPicPr>
            <a:picLocks noChangeAspect="true"/>
          </p:cNvPicPr>
          <p:nvPr/>
        </p:nvPicPr>
        <p:blipFill>
          <a:blip r:embed="rId10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19450" y="2171700"/>
            <a:ext cx="2800350" cy="6858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107" name="Image 9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3750" y="2295525"/>
            <a:ext cx="323850" cy="285750"/>
          </a:xfrm>
          <a:prstGeom prst="rect">
            <a:avLst/>
          </a:prstGeom>
        </p:spPr>
      </p:pic>
      <p:pic>
        <p:nvPicPr>
          <p:cNvPr id="108" name="Image 10" descr="preencoded.png"/>
          <p:cNvPicPr>
            <a:picLocks noChangeAspect="true"/>
          </p:cNvPicPr>
          <p:nvPr/>
        </p:nvPicPr>
        <p:blipFill>
          <a:blip r:embed="rId12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800" y="2971800"/>
            <a:ext cx="2800350" cy="6858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109" name="Image 11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3095625"/>
            <a:ext cx="285750" cy="285750"/>
          </a:xfrm>
          <a:prstGeom prst="rect">
            <a:avLst/>
          </a:prstGeom>
        </p:spPr>
      </p:pic>
      <p:pic>
        <p:nvPicPr>
          <p:cNvPr id="110" name="Image 12" descr="preencoded.png"/>
          <p:cNvPicPr>
            <a:picLocks noChangeAspect="true"/>
          </p:cNvPicPr>
          <p:nvPr/>
        </p:nvPicPr>
        <p:blipFill>
          <a:blip r:embed="rId14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19450" y="2971800"/>
            <a:ext cx="2800350" cy="6858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111" name="Image 13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3750" y="3095625"/>
            <a:ext cx="285750" cy="285750"/>
          </a:xfrm>
          <a:prstGeom prst="rect">
            <a:avLst/>
          </a:prstGeom>
        </p:spPr>
      </p:pic>
      <p:pic>
        <p:nvPicPr>
          <p:cNvPr id="112" name="Image 14" descr="preencoded.png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6172200" y="1371600"/>
            <a:ext cx="5715000" cy="5257800"/>
          </a:xfrm>
          <a:prstGeom prst="rect">
            <a:avLst/>
          </a:prstGeom>
          <a:solidFill>
            <a:srgbClr val="00A3F5">
              <a:alpha val="100000"/>
            </a:srgbClr>
          </a:solidFill>
        </p:spPr>
      </p:pic>
      <p:pic>
        <p:nvPicPr>
          <p:cNvPr id="113" name="Image 15" descr="preencoded.png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1524000"/>
            <a:ext cx="5410200" cy="647700"/>
          </a:xfrm>
          <a:prstGeom prst="rect">
            <a:avLst/>
          </a:prstGeom>
        </p:spPr>
      </p:pic>
      <p:pic>
        <p:nvPicPr>
          <p:cNvPr id="114" name="Image 16" descr="preencoded.png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2247900"/>
            <a:ext cx="5410200" cy="647700"/>
          </a:xfrm>
          <a:prstGeom prst="rect">
            <a:avLst/>
          </a:prstGeom>
        </p:spPr>
      </p:pic>
      <p:pic>
        <p:nvPicPr>
          <p:cNvPr id="115" name="Image 17" descr="preencoded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2971800"/>
            <a:ext cx="5410200" cy="647700"/>
          </a:xfrm>
          <a:prstGeom prst="rect">
            <a:avLst/>
          </a:prstGeom>
        </p:spPr>
      </p:pic>
      <p:pic>
        <p:nvPicPr>
          <p:cNvPr id="116" name="Image 18" descr="preencoded.png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4152900"/>
            <a:ext cx="247650" cy="304800"/>
          </a:xfrm>
          <a:prstGeom prst="rect">
            <a:avLst/>
          </a:prstGeom>
        </p:spPr>
      </p:pic>
      <p:pic>
        <p:nvPicPr>
          <p:cNvPr id="117" name="Image 19" descr="preencoded.png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6362700" y="4210050"/>
            <a:ext cx="171450" cy="152400"/>
          </a:xfrm>
          <a:prstGeom prst="rect">
            <a:avLst/>
          </a:prstGeom>
        </p:spPr>
      </p:pic>
      <p:pic>
        <p:nvPicPr>
          <p:cNvPr id="118" name="Image 20" descr="preencoded.png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9067800" y="4152900"/>
            <a:ext cx="190500" cy="304800"/>
          </a:xfrm>
          <a:prstGeom prst="rect">
            <a:avLst/>
          </a:prstGeom>
        </p:spPr>
      </p:pic>
      <p:pic>
        <p:nvPicPr>
          <p:cNvPr id="119" name="Image 21" descr="preencoded.png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9105900" y="4210050"/>
            <a:ext cx="114300" cy="152400"/>
          </a:xfrm>
          <a:prstGeom prst="rect">
            <a:avLst/>
          </a:prstGeom>
        </p:spPr>
      </p:pic>
      <p:pic>
        <p:nvPicPr>
          <p:cNvPr id="120" name="Image 22" descr="preencoded.png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4610100"/>
            <a:ext cx="228600" cy="304800"/>
          </a:xfrm>
          <a:prstGeom prst="rect">
            <a:avLst/>
          </a:prstGeom>
        </p:spPr>
      </p:pic>
      <p:pic>
        <p:nvPicPr>
          <p:cNvPr id="121" name="Image 23" descr="preencoded.png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>
            <a:off x="6362700" y="4667250"/>
            <a:ext cx="152400" cy="152400"/>
          </a:xfrm>
          <a:prstGeom prst="rect">
            <a:avLst/>
          </a:prstGeom>
        </p:spPr>
      </p:pic>
      <p:pic>
        <p:nvPicPr>
          <p:cNvPr id="122" name="Image 24" descr="preencoded.png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9067800" y="4610100"/>
            <a:ext cx="209550" cy="304800"/>
          </a:xfrm>
          <a:prstGeom prst="rect">
            <a:avLst/>
          </a:prstGeom>
        </p:spPr>
      </p:pic>
      <p:pic>
        <p:nvPicPr>
          <p:cNvPr id="123" name="Image 25" descr="preencoded.png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>
            <a:off x="9105900" y="4667250"/>
            <a:ext cx="133350" cy="152400"/>
          </a:xfrm>
          <a:prstGeom prst="rect">
            <a:avLst/>
          </a:prstGeom>
        </p:spPr>
      </p:pic>
      <p:pic>
        <p:nvPicPr>
          <p:cNvPr id="124" name="Image 26" descr="preencoded.png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4600" y="5105400"/>
            <a:ext cx="5410200" cy="838200"/>
          </a:xfrm>
          <a:prstGeom prst="rect">
            <a:avLst/>
          </a:prstGeom>
        </p:spPr>
      </p:pic>
      <p:pic>
        <p:nvPicPr>
          <p:cNvPr id="125" name="Image 27" descr="preencoded.png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>
            <a:off x="6324600" y="5562600"/>
            <a:ext cx="133350" cy="133350"/>
          </a:xfrm>
          <a:prstGeom prst="rect">
            <a:avLst/>
          </a:prstGeom>
        </p:spPr>
      </p:pic>
      <p:pic>
        <p:nvPicPr>
          <p:cNvPr id="126" name="Image 28" descr="preencoded.png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6324600" y="5791200"/>
            <a:ext cx="133350" cy="133350"/>
          </a:xfrm>
          <a:prstGeom prst="rect">
            <a:avLst/>
          </a:prstGeom>
        </p:spPr>
      </p:pic>
      <p:sp>
        <p:nvSpPr>
          <p:cNvPr id="127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系统能力与架构</a:t>
            </a:r>
            <a:endParaRPr lang="en-US" sz="2700" dirty="false"/>
          </a:p>
        </p:txBody>
      </p:sp>
      <p:sp>
        <p:nvSpPr>
          <p:cNvPr id="128" name="Text 1"/>
          <p:cNvSpPr/>
          <p:nvPr/>
        </p:nvSpPr>
        <p:spPr>
          <a:xfrm>
            <a:off x="304800" y="952500"/>
            <a:ext cx="5715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核心能力</a:t>
            </a:r>
            <a:endParaRPr lang="en-US" sz="1800" dirty="false"/>
          </a:p>
        </p:txBody>
      </p:sp>
      <p:sp>
        <p:nvSpPr>
          <p:cNvPr id="129" name="Text 2"/>
          <p:cNvSpPr/>
          <p:nvPr/>
        </p:nvSpPr>
        <p:spPr>
          <a:xfrm>
            <a:off x="781050" y="1485900"/>
            <a:ext cx="2000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SPC异常检测</a:t>
            </a:r>
            <a:endParaRPr lang="en-US" sz="1350" dirty="false"/>
          </a:p>
        </p:txBody>
      </p:sp>
      <p:sp>
        <p:nvSpPr>
          <p:cNvPr id="130" name="Text 3"/>
          <p:cNvSpPr/>
          <p:nvPr/>
        </p:nvSpPr>
        <p:spPr>
          <a:xfrm>
            <a:off x="781050" y="1752600"/>
            <a:ext cx="2400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实时监控关键参数，提前发现偏差</a:t>
            </a:r>
            <a:endParaRPr lang="en-US" sz="1050" dirty="false"/>
          </a:p>
        </p:txBody>
      </p:sp>
      <p:sp>
        <p:nvSpPr>
          <p:cNvPr id="131" name="Text 4"/>
          <p:cNvSpPr/>
          <p:nvPr/>
        </p:nvSpPr>
        <p:spPr>
          <a:xfrm>
            <a:off x="3657600" y="148590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OCAP知识库管理</a:t>
            </a:r>
            <a:endParaRPr lang="en-US" sz="1350" dirty="false"/>
          </a:p>
        </p:txBody>
      </p:sp>
      <p:sp>
        <p:nvSpPr>
          <p:cNvPr id="132" name="Text 5"/>
          <p:cNvSpPr/>
          <p:nvPr/>
        </p:nvSpPr>
        <p:spPr>
          <a:xfrm>
            <a:off x="3657600" y="175260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标准化异常处置方案，沉淀专家经验</a:t>
            </a:r>
            <a:endParaRPr lang="en-US" sz="1050" dirty="false"/>
          </a:p>
        </p:txBody>
      </p:sp>
      <p:sp>
        <p:nvSpPr>
          <p:cNvPr id="133" name="Text 6"/>
          <p:cNvSpPr/>
          <p:nvPr/>
        </p:nvSpPr>
        <p:spPr>
          <a:xfrm>
            <a:off x="857250" y="2286000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AI辅助策略推荐</a:t>
            </a:r>
            <a:endParaRPr lang="en-US" sz="1350" dirty="false"/>
          </a:p>
        </p:txBody>
      </p:sp>
      <p:sp>
        <p:nvSpPr>
          <p:cNvPr id="134" name="Text 7"/>
          <p:cNvSpPr/>
          <p:nvPr/>
        </p:nvSpPr>
        <p:spPr>
          <a:xfrm>
            <a:off x="857250" y="2552700"/>
            <a:ext cx="2400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智能识别异常原因，优化决策规则</a:t>
            </a:r>
            <a:endParaRPr lang="en-US" sz="1050" dirty="false"/>
          </a:p>
        </p:txBody>
      </p:sp>
      <p:sp>
        <p:nvSpPr>
          <p:cNvPr id="135" name="Text 8"/>
          <p:cNvSpPr/>
          <p:nvPr/>
        </p:nvSpPr>
        <p:spPr>
          <a:xfrm>
            <a:off x="3733800" y="2286000"/>
            <a:ext cx="20802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事件派单与闭环处理</a:t>
            </a:r>
            <a:endParaRPr lang="en-US" sz="1350" dirty="false"/>
          </a:p>
        </p:txBody>
      </p:sp>
      <p:sp>
        <p:nvSpPr>
          <p:cNvPr id="136" name="Text 9"/>
          <p:cNvSpPr/>
          <p:nvPr/>
        </p:nvSpPr>
        <p:spPr>
          <a:xfrm>
            <a:off x="3733800" y="2552700"/>
            <a:ext cx="2080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自动派发工单，跟踪处理进度</a:t>
            </a:r>
            <a:endParaRPr lang="en-US" sz="1050" dirty="false"/>
          </a:p>
        </p:txBody>
      </p:sp>
      <p:sp>
        <p:nvSpPr>
          <p:cNvPr id="137" name="Text 10"/>
          <p:cNvSpPr/>
          <p:nvPr/>
        </p:nvSpPr>
        <p:spPr>
          <a:xfrm>
            <a:off x="781050" y="3086100"/>
            <a:ext cx="2240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任务跟踪与报警解除</a:t>
            </a:r>
            <a:endParaRPr lang="en-US" sz="1350" dirty="false"/>
          </a:p>
        </p:txBody>
      </p:sp>
      <p:sp>
        <p:nvSpPr>
          <p:cNvPr id="138" name="Text 11"/>
          <p:cNvSpPr/>
          <p:nvPr/>
        </p:nvSpPr>
        <p:spPr>
          <a:xfrm>
            <a:off x="781050" y="3352800"/>
            <a:ext cx="2240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监控看板，确保每个异常有结论</a:t>
            </a:r>
            <a:endParaRPr lang="en-US" sz="1050" dirty="false"/>
          </a:p>
        </p:txBody>
      </p:sp>
      <p:sp>
        <p:nvSpPr>
          <p:cNvPr id="139" name="Text 12"/>
          <p:cNvSpPr/>
          <p:nvPr/>
        </p:nvSpPr>
        <p:spPr>
          <a:xfrm>
            <a:off x="3695700" y="3086100"/>
            <a:ext cx="20802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异常溯源分析</a:t>
            </a:r>
            <a:endParaRPr lang="en-US" sz="1350" dirty="false"/>
          </a:p>
        </p:txBody>
      </p:sp>
      <p:sp>
        <p:nvSpPr>
          <p:cNvPr id="140" name="Text 13"/>
          <p:cNvSpPr/>
          <p:nvPr/>
        </p:nvSpPr>
        <p:spPr>
          <a:xfrm>
            <a:off x="3695700" y="3352800"/>
            <a:ext cx="2080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根本原因剖析，持续改进管理</a:t>
            </a:r>
            <a:endParaRPr lang="en-US" sz="1050" dirty="false"/>
          </a:p>
        </p:txBody>
      </p:sp>
      <p:sp>
        <p:nvSpPr>
          <p:cNvPr id="141" name="Text 14"/>
          <p:cNvSpPr/>
          <p:nvPr/>
        </p:nvSpPr>
        <p:spPr>
          <a:xfrm>
            <a:off x="6172200" y="952500"/>
            <a:ext cx="5715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系统架构概览</a:t>
            </a:r>
            <a:endParaRPr lang="en-US" sz="1800" dirty="false"/>
          </a:p>
        </p:txBody>
      </p:sp>
      <p:sp>
        <p:nvSpPr>
          <p:cNvPr id="142" name="Text 15"/>
          <p:cNvSpPr/>
          <p:nvPr/>
        </p:nvSpPr>
        <p:spPr>
          <a:xfrm>
            <a:off x="6438900" y="16383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1E40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应用展示层</a:t>
            </a:r>
            <a:endParaRPr lang="en-US" sz="1200" dirty="false"/>
          </a:p>
        </p:txBody>
      </p:sp>
      <p:sp>
        <p:nvSpPr>
          <p:cNvPr id="143" name="Text 16"/>
          <p:cNvSpPr/>
          <p:nvPr/>
        </p:nvSpPr>
        <p:spPr>
          <a:xfrm>
            <a:off x="6438900" y="186690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2563E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异常报警看板、工单派发与追踪、分析报告</a:t>
            </a:r>
            <a:endParaRPr lang="en-US" sz="1050" dirty="false"/>
          </a:p>
        </p:txBody>
      </p:sp>
      <p:sp>
        <p:nvSpPr>
          <p:cNvPr id="144" name="Text 17"/>
          <p:cNvSpPr/>
          <p:nvPr/>
        </p:nvSpPr>
        <p:spPr>
          <a:xfrm>
            <a:off x="6438900" y="23622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9A341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分析决策层</a:t>
            </a:r>
            <a:endParaRPr lang="en-US" sz="1200" dirty="false"/>
          </a:p>
        </p:txBody>
      </p:sp>
      <p:sp>
        <p:nvSpPr>
          <p:cNvPr id="145" name="Text 18"/>
          <p:cNvSpPr/>
          <p:nvPr/>
        </p:nvSpPr>
        <p:spPr>
          <a:xfrm>
            <a:off x="6438900" y="259080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EA580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SPC引擎、规则库、AI模型、OCAP知识库</a:t>
            </a:r>
            <a:endParaRPr lang="en-US" sz="1050" dirty="false"/>
          </a:p>
        </p:txBody>
      </p:sp>
      <p:sp>
        <p:nvSpPr>
          <p:cNvPr id="146" name="Text 19"/>
          <p:cNvSpPr/>
          <p:nvPr/>
        </p:nvSpPr>
        <p:spPr>
          <a:xfrm>
            <a:off x="6438900" y="30861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16653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数据采集层</a:t>
            </a:r>
            <a:endParaRPr lang="en-US" sz="1200" dirty="false"/>
          </a:p>
        </p:txBody>
      </p:sp>
      <p:sp>
        <p:nvSpPr>
          <p:cNvPr id="147" name="Text 20"/>
          <p:cNvSpPr/>
          <p:nvPr/>
        </p:nvSpPr>
        <p:spPr>
          <a:xfrm>
            <a:off x="6438900" y="331470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6A3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SCADA/DCS、传感器网络、消息总线</a:t>
            </a:r>
            <a:endParaRPr lang="en-US" sz="1050" dirty="false"/>
          </a:p>
        </p:txBody>
      </p:sp>
      <p:sp>
        <p:nvSpPr>
          <p:cNvPr id="148" name="Text 21"/>
          <p:cNvSpPr/>
          <p:nvPr/>
        </p:nvSpPr>
        <p:spPr>
          <a:xfrm>
            <a:off x="6324600" y="37719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技术栈</a:t>
            </a:r>
            <a:endParaRPr lang="en-US" sz="1350" dirty="false"/>
          </a:p>
        </p:txBody>
      </p:sp>
      <p:sp>
        <p:nvSpPr>
          <p:cNvPr id="149" name="Text 22"/>
          <p:cNvSpPr/>
          <p:nvPr/>
        </p:nvSpPr>
        <p:spPr>
          <a:xfrm>
            <a:off x="6648450" y="4114800"/>
            <a:ext cx="10292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工作流引擎</a:t>
            </a:r>
            <a:endParaRPr lang="en-US" sz="1200" dirty="false"/>
          </a:p>
        </p:txBody>
      </p:sp>
      <p:sp>
        <p:nvSpPr>
          <p:cNvPr id="150" name="Text 23"/>
          <p:cNvSpPr/>
          <p:nvPr/>
        </p:nvSpPr>
        <p:spPr>
          <a:xfrm>
            <a:off x="6648450" y="4343400"/>
            <a:ext cx="102923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Camunda BPMN</a:t>
            </a:r>
            <a:endParaRPr lang="en-US" sz="900" dirty="false"/>
          </a:p>
        </p:txBody>
      </p:sp>
      <p:sp>
        <p:nvSpPr>
          <p:cNvPr id="151" name="Text 24"/>
          <p:cNvSpPr/>
          <p:nvPr/>
        </p:nvSpPr>
        <p:spPr>
          <a:xfrm>
            <a:off x="9334500" y="411480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动态表单系统</a:t>
            </a:r>
            <a:endParaRPr lang="en-US" sz="1200" dirty="false"/>
          </a:p>
        </p:txBody>
      </p:sp>
      <p:sp>
        <p:nvSpPr>
          <p:cNvPr id="152" name="Text 25"/>
          <p:cNvSpPr/>
          <p:nvPr/>
        </p:nvSpPr>
        <p:spPr>
          <a:xfrm>
            <a:off x="9334500" y="4343400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Amis/Form-create</a:t>
            </a:r>
            <a:endParaRPr lang="en-US" sz="900" dirty="false"/>
          </a:p>
        </p:txBody>
      </p:sp>
      <p:sp>
        <p:nvSpPr>
          <p:cNvPr id="153" name="Text 26"/>
          <p:cNvSpPr/>
          <p:nvPr/>
        </p:nvSpPr>
        <p:spPr>
          <a:xfrm>
            <a:off x="6629400" y="4572000"/>
            <a:ext cx="12430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AI智能体框架</a:t>
            </a:r>
            <a:endParaRPr lang="en-US" sz="1200" dirty="false"/>
          </a:p>
        </p:txBody>
      </p:sp>
      <p:sp>
        <p:nvSpPr>
          <p:cNvPr id="154" name="Text 27"/>
          <p:cNvSpPr/>
          <p:nvPr/>
        </p:nvSpPr>
        <p:spPr>
          <a:xfrm>
            <a:off x="6629400" y="4800600"/>
            <a:ext cx="124301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LangChain/AutoGen</a:t>
            </a:r>
            <a:endParaRPr lang="en-US" sz="900" dirty="false"/>
          </a:p>
        </p:txBody>
      </p:sp>
      <p:sp>
        <p:nvSpPr>
          <p:cNvPr id="155" name="Text 28"/>
          <p:cNvSpPr/>
          <p:nvPr/>
        </p:nvSpPr>
        <p:spPr>
          <a:xfrm>
            <a:off x="9353550" y="4572000"/>
            <a:ext cx="12424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知识库系统</a:t>
            </a:r>
            <a:endParaRPr lang="en-US" sz="1200" dirty="false"/>
          </a:p>
        </p:txBody>
      </p:sp>
      <p:sp>
        <p:nvSpPr>
          <p:cNvPr id="156" name="Text 29"/>
          <p:cNvSpPr/>
          <p:nvPr/>
        </p:nvSpPr>
        <p:spPr>
          <a:xfrm>
            <a:off x="9353550" y="4800600"/>
            <a:ext cx="124247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false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Elasticsearch/Milvus</a:t>
            </a:r>
            <a:endParaRPr lang="en-US" sz="900" dirty="false"/>
          </a:p>
        </p:txBody>
      </p:sp>
      <p:sp>
        <p:nvSpPr>
          <p:cNvPr id="157" name="Text 30"/>
          <p:cNvSpPr/>
          <p:nvPr/>
        </p:nvSpPr>
        <p:spPr>
          <a:xfrm>
            <a:off x="6324600" y="52197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与现有SPC模块关系</a:t>
            </a:r>
            <a:endParaRPr lang="en-US" sz="1350" dirty="false"/>
          </a:p>
        </p:txBody>
      </p:sp>
      <p:sp>
        <p:nvSpPr>
          <p:cNvPr id="158" name="Text 31"/>
          <p:cNvSpPr/>
          <p:nvPr/>
        </p:nvSpPr>
        <p:spPr>
          <a:xfrm>
            <a:off x="6496050" y="5524500"/>
            <a:ext cx="344078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SPC系统通过API实时传输异常数据至OCAP平台</a:t>
            </a:r>
            <a:endParaRPr lang="en-US" sz="1050" dirty="false"/>
          </a:p>
        </p:txBody>
      </p:sp>
      <p:sp>
        <p:nvSpPr>
          <p:cNvPr id="159" name="Text 32"/>
          <p:cNvSpPr/>
          <p:nvPr/>
        </p:nvSpPr>
        <p:spPr>
          <a:xfrm>
            <a:off x="6496050" y="5753100"/>
            <a:ext cx="35029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OCAP处理结果反馈至SPC系统更新控制限和规则</a:t>
            </a:r>
            <a:endParaRPr lang="en-US" sz="1050" dirty="false"/>
          </a:p>
        </p:txBody>
      </p:sp>
      <p:sp>
        <p:nvSpPr>
          <p:cNvPr id="160" name="Text 33"/>
          <p:cNvSpPr/>
          <p:nvPr/>
        </p:nvSpPr>
        <p:spPr>
          <a:xfrm>
            <a:off x="304800" y="6362700"/>
            <a:ext cx="36809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206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OCAP+SPC+AI异常响应系统（厂务场景）立项汇报</a:t>
            </a:r>
            <a:endParaRPr lang="en-US" sz="1050"/>
          </a:p>
        </p:txBody>
      </p:sp>
      <p:sp>
        <p:nvSpPr>
          <p:cNvPr id="161" name="Text 34"/>
          <p:cNvSpPr/>
          <p:nvPr/>
        </p:nvSpPr>
        <p:spPr>
          <a:xfrm>
            <a:off x="11627644" y="6362700"/>
            <a:ext cx="3114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5/11</a:t>
            </a:r>
            <a:endParaRPr lang="en-US" sz="1050" dirty="false"/>
          </a:p>
        </p:txBody>
      </p:sp>
    </p:spTree>
  </p:cSld>
  <p:clrMapOvr>
    <a:masterClrMapping/>
  </p:clrMapOvr>
</p:sld>
</file>

<file path=ppt/slides/slide13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/>
          <p:cNvPicPr>
            <a:picLocks noChangeAspect="true"/>
          </p:cNvPicPr>
          <p:nvPr/>
        </p:nvPicPr>
        <p:blipFill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pic>
        <p:nvPicPr>
          <p:cNvPr id="164" name="Image 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165" name="Image 2" descr="preencoded.png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1104900"/>
            <a:ext cx="3683050" cy="32004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166" name="Image 3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700" y="1295400"/>
            <a:ext cx="571500" cy="571500"/>
          </a:xfrm>
          <a:prstGeom prst="rect">
            <a:avLst/>
          </a:prstGeom>
        </p:spPr>
      </p:pic>
      <p:pic>
        <p:nvPicPr>
          <p:cNvPr id="167" name="Image 4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2112913" y="1409700"/>
            <a:ext cx="219075" cy="342900"/>
          </a:xfrm>
          <a:prstGeom prst="rect">
            <a:avLst/>
          </a:prstGeom>
        </p:spPr>
      </p:pic>
      <p:pic>
        <p:nvPicPr>
          <p:cNvPr id="168" name="Image 5" descr="preencoded.png"/>
          <p:cNvPicPr>
            <a:picLocks noChangeAspect="true"/>
          </p:cNvPicPr>
          <p:nvPr/>
        </p:nvPicPr>
        <p:blipFill>
          <a:blip r:embed="rId7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4550" y="1104900"/>
            <a:ext cx="3683050" cy="32004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169" name="Image 6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0" y="1295400"/>
            <a:ext cx="571500" cy="571500"/>
          </a:xfrm>
          <a:prstGeom prst="rect">
            <a:avLst/>
          </a:prstGeom>
        </p:spPr>
      </p:pic>
      <p:pic>
        <p:nvPicPr>
          <p:cNvPr id="170" name="Image 7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5953125" y="1409700"/>
            <a:ext cx="285750" cy="342900"/>
          </a:xfrm>
          <a:prstGeom prst="rect">
            <a:avLst/>
          </a:prstGeom>
        </p:spPr>
      </p:pic>
      <p:pic>
        <p:nvPicPr>
          <p:cNvPr id="171" name="Image 8" descr="preencoded.png"/>
          <p:cNvPicPr>
            <a:picLocks noChangeAspect="true"/>
          </p:cNvPicPr>
          <p:nvPr/>
        </p:nvPicPr>
        <p:blipFill>
          <a:blip r:embed="rId10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28099" y="1104900"/>
            <a:ext cx="3683050" cy="32004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172" name="Image 9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3800" y="1295400"/>
            <a:ext cx="571500" cy="571500"/>
          </a:xfrm>
          <a:prstGeom prst="rect">
            <a:avLst/>
          </a:prstGeom>
        </p:spPr>
      </p:pic>
      <p:pic>
        <p:nvPicPr>
          <p:cNvPr id="173" name="Image 10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0012" y="1409700"/>
            <a:ext cx="219075" cy="342900"/>
          </a:xfrm>
          <a:prstGeom prst="rect">
            <a:avLst/>
          </a:prstGeom>
        </p:spPr>
      </p:pic>
      <p:sp>
        <p:nvSpPr>
          <p:cNvPr id="174" name="Text 0"/>
          <p:cNvSpPr/>
          <p:nvPr/>
        </p:nvSpPr>
        <p:spPr>
          <a:xfrm rot="0" flipH="false" flipV="false">
            <a:off x="381000" y="2286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典型应用场景</a:t>
            </a:r>
            <a:endParaRPr lang="en-US" sz="2700" dirty="false"/>
          </a:p>
        </p:txBody>
      </p:sp>
      <p:sp>
        <p:nvSpPr>
          <p:cNvPr id="175" name="Text 1"/>
          <p:cNvSpPr/>
          <p:nvPr/>
        </p:nvSpPr>
        <p:spPr>
          <a:xfrm>
            <a:off x="571500" y="2019300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供水系统异常场景</a:t>
            </a:r>
            <a:endParaRPr lang="en-US" sz="1500" dirty="false"/>
          </a:p>
        </p:txBody>
      </p:sp>
      <p:sp>
        <p:nvSpPr>
          <p:cNvPr id="176" name="Text 2"/>
          <p:cNvSpPr/>
          <p:nvPr/>
        </p:nvSpPr>
        <p:spPr>
          <a:xfrm>
            <a:off x="571500" y="2400300"/>
            <a:ext cx="3302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超纯水供给压力突然下降超出控制限，系统立即检测到异常并触发报警。</a:t>
            </a:r>
            <a:endParaRPr lang="en-US" sz="1200" dirty="false"/>
          </a:p>
        </p:txBody>
      </p:sp>
      <p:sp>
        <p:nvSpPr>
          <p:cNvPr id="177" name="Text 3"/>
          <p:cNvSpPr/>
          <p:nvPr/>
        </p:nvSpPr>
        <p:spPr>
          <a:xfrm>
            <a:off x="571500" y="29718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自动切换备用供水路线保障连续性</a:t>
            </a:r>
            <a:endParaRPr lang="en-US" sz="1200" dirty="false"/>
          </a:p>
        </p:txBody>
      </p:sp>
      <p:sp>
        <p:nvSpPr>
          <p:cNvPr id="178" name="Text 4"/>
          <p:cNvSpPr/>
          <p:nvPr/>
        </p:nvSpPr>
        <p:spPr>
          <a:xfrm>
            <a:off x="571500" y="32766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>
                <a:solidFill>
                  <a:srgbClr val="374151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AI分析提示 </a:t>
            </a:r>
            <a:r>
              <a:rPr lang="zh-CN" sz="1200" b="true">
                <a:solidFill>
                  <a:srgbClr val="D8A302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管路泄漏或过滤器堵塞</a:t>
            </a:r>
            <a:endParaRPr/>
          </a:p>
        </p:txBody>
      </p:sp>
      <p:sp>
        <p:nvSpPr>
          <p:cNvPr id="179" name="Text 5"/>
          <p:cNvSpPr/>
          <p:nvPr/>
        </p:nvSpPr>
        <p:spPr>
          <a:xfrm>
            <a:off x="571500" y="35814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工程师迅速定位并更换故障组件</a:t>
            </a:r>
            <a:endParaRPr lang="en-US" sz="1200" dirty="false"/>
          </a:p>
        </p:txBody>
      </p:sp>
      <p:sp>
        <p:nvSpPr>
          <p:cNvPr id="180" name="Text 6"/>
          <p:cNvSpPr/>
          <p:nvPr/>
        </p:nvSpPr>
        <p:spPr>
          <a:xfrm>
            <a:off x="571500" y="38862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系统记录异常及处理措施，更新知识库</a:t>
            </a:r>
            <a:endParaRPr lang="en-US" sz="1200" dirty="false"/>
          </a:p>
        </p:txBody>
      </p:sp>
      <p:sp>
        <p:nvSpPr>
          <p:cNvPr id="181" name="Text 7"/>
          <p:cNvSpPr/>
          <p:nvPr/>
        </p:nvSpPr>
        <p:spPr>
          <a:xfrm>
            <a:off x="4445050" y="2019300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环境参数异常场景</a:t>
            </a:r>
            <a:endParaRPr lang="en-US" sz="1500" dirty="false"/>
          </a:p>
        </p:txBody>
      </p:sp>
      <p:sp>
        <p:nvSpPr>
          <p:cNvPr id="182" name="Text 8"/>
          <p:cNvSpPr/>
          <p:nvPr/>
        </p:nvSpPr>
        <p:spPr>
          <a:xfrm>
            <a:off x="4445050" y="2400300"/>
            <a:ext cx="3302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洁净室某区域温湿度持续上升接近上限，SPC规则触发预警。</a:t>
            </a:r>
            <a:endParaRPr lang="en-US" sz="1200" dirty="false"/>
          </a:p>
        </p:txBody>
      </p:sp>
      <p:sp>
        <p:nvSpPr>
          <p:cNvPr id="183" name="Text 9"/>
          <p:cNvSpPr/>
          <p:nvPr/>
        </p:nvSpPr>
        <p:spPr>
          <a:xfrm>
            <a:off x="4445050" y="29718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自动调整空调送风加大冷却力度</a:t>
            </a:r>
            <a:endParaRPr lang="en-US" sz="1200" dirty="false"/>
          </a:p>
        </p:txBody>
      </p:sp>
      <p:sp>
        <p:nvSpPr>
          <p:cNvPr id="184" name="Text 10"/>
          <p:cNvSpPr/>
          <p:nvPr/>
        </p:nvSpPr>
        <p:spPr>
          <a:xfrm>
            <a:off x="4445050" y="32766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通知空调动力组派人检修</a:t>
            </a:r>
            <a:endParaRPr lang="en-US" sz="1200" dirty="false"/>
          </a:p>
        </p:txBody>
      </p:sp>
      <p:sp>
        <p:nvSpPr>
          <p:cNvPr id="185" name="Text 11"/>
          <p:cNvSpPr/>
          <p:nvPr/>
        </p:nvSpPr>
        <p:spPr>
          <a:xfrm>
            <a:off x="4445050" y="35814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>
                <a:solidFill>
                  <a:srgbClr val="374151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发现并修复 </a:t>
            </a:r>
            <a:r>
              <a:rPr lang="zh-CN" sz="1200" b="true">
                <a:solidFill>
                  <a:srgbClr val="D8A302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空调冷水阀门故障</a:t>
            </a:r>
            <a:endParaRPr/>
          </a:p>
        </p:txBody>
      </p:sp>
      <p:sp>
        <p:nvSpPr>
          <p:cNvPr id="186" name="Text 12"/>
          <p:cNvSpPr/>
          <p:nvPr/>
        </p:nvSpPr>
        <p:spPr>
          <a:xfrm>
            <a:off x="4445050" y="38862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系统归档事件并纳入溯源分析报告</a:t>
            </a:r>
            <a:endParaRPr lang="en-US" sz="1200" dirty="false"/>
          </a:p>
        </p:txBody>
      </p:sp>
      <p:sp>
        <p:nvSpPr>
          <p:cNvPr id="187" name="Text 13"/>
          <p:cNvSpPr/>
          <p:nvPr/>
        </p:nvSpPr>
        <p:spPr>
          <a:xfrm>
            <a:off x="8318599" y="2019300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能源消耗异常场景</a:t>
            </a:r>
            <a:endParaRPr lang="en-US" sz="1500" dirty="false"/>
          </a:p>
        </p:txBody>
      </p:sp>
      <p:sp>
        <p:nvSpPr>
          <p:cNvPr id="188" name="Text 14"/>
          <p:cNvSpPr/>
          <p:nvPr/>
        </p:nvSpPr>
        <p:spPr>
          <a:xfrm>
            <a:off x="8318599" y="2400300"/>
            <a:ext cx="3302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某车间电力负荷突然飙升，超过历史均值，系统发出异常警报。</a:t>
            </a:r>
            <a:endParaRPr lang="en-US" sz="1200" dirty="false"/>
          </a:p>
        </p:txBody>
      </p:sp>
      <p:sp>
        <p:nvSpPr>
          <p:cNvPr id="189" name="Text 15"/>
          <p:cNvSpPr/>
          <p:nvPr/>
        </p:nvSpPr>
        <p:spPr>
          <a:xfrm>
            <a:off x="8318599" y="29718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>
                <a:solidFill>
                  <a:srgbClr val="374151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建议可能原因：</a:t>
            </a:r>
            <a:r>
              <a:rPr lang="zh-CN" sz="1200" b="true">
                <a:solidFill>
                  <a:srgbClr val="D8A302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设备空转或漏电</a:t>
            </a:r>
            <a:endParaRPr/>
          </a:p>
        </p:txBody>
      </p:sp>
      <p:sp>
        <p:nvSpPr>
          <p:cNvPr id="190" name="Text 16"/>
          <p:cNvSpPr/>
          <p:nvPr/>
        </p:nvSpPr>
        <p:spPr>
          <a:xfrm>
            <a:off x="8318599" y="32766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排查发现空压机深夜未按计划停机</a:t>
            </a:r>
            <a:endParaRPr lang="en-US" sz="1200" dirty="false"/>
          </a:p>
        </p:txBody>
      </p:sp>
      <p:sp>
        <p:nvSpPr>
          <p:cNvPr id="191" name="Text 17"/>
          <p:cNvSpPr/>
          <p:nvPr/>
        </p:nvSpPr>
        <p:spPr>
          <a:xfrm>
            <a:off x="8318599" y="35814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调整设备运行计划并修复控制逻辑</a:t>
            </a:r>
            <a:endParaRPr lang="en-US" sz="1200" dirty="false"/>
          </a:p>
        </p:txBody>
      </p:sp>
      <p:sp>
        <p:nvSpPr>
          <p:cNvPr id="192" name="Text 18"/>
          <p:cNvSpPr/>
          <p:nvPr/>
        </p:nvSpPr>
        <p:spPr>
          <a:xfrm>
            <a:off x="8318599" y="3886200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制定能源异常OCAP方案和AI监测模型</a:t>
            </a:r>
            <a:endParaRPr lang="en-US" sz="1200" dirty="false"/>
          </a:p>
        </p:txBody>
      </p:sp>
      <p:sp>
        <p:nvSpPr>
          <p:cNvPr id="193" name="Text 19"/>
          <p:cNvSpPr/>
          <p:nvPr/>
        </p:nvSpPr>
        <p:spPr>
          <a:xfrm>
            <a:off x="381000" y="6286500"/>
            <a:ext cx="36809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206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OCAP+SPC+AI异常响应系统（厂务场景）立项汇报</a:t>
            </a:r>
            <a:endParaRPr lang="en-US" sz="1050"/>
          </a:p>
        </p:txBody>
      </p:sp>
      <p:sp>
        <p:nvSpPr>
          <p:cNvPr id="194" name="Text 20"/>
          <p:cNvSpPr/>
          <p:nvPr/>
        </p:nvSpPr>
        <p:spPr>
          <a:xfrm>
            <a:off x="11551444" y="6286500"/>
            <a:ext cx="3114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7/11</a:t>
            </a:r>
            <a:endParaRPr lang="en-US" sz="1050" dirty="false"/>
          </a:p>
        </p:txBody>
      </p:sp>
    </p:spTree>
  </p:cSld>
  <p:clrMapOvr>
    <a:masterClrMapping/>
  </p:clrMapOvr>
</p:sld>
</file>

<file path=ppt/slides/slide14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"/>
          <p:cNvPicPr>
            <a:picLocks noChangeAspect="true"/>
          </p:cNvPicPr>
          <p:nvPr/>
        </p:nvPicPr>
        <p:blipFill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pic>
        <p:nvPicPr>
          <p:cNvPr id="197" name="Image 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198" name="Image 2" descr="preencoded.png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1104900"/>
            <a:ext cx="3657600" cy="19812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199" name="Image 3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95400"/>
            <a:ext cx="571500" cy="571500"/>
          </a:xfrm>
          <a:prstGeom prst="rect">
            <a:avLst/>
          </a:prstGeom>
        </p:spPr>
      </p:pic>
      <p:pic>
        <p:nvPicPr>
          <p:cNvPr id="200" name="Image 4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63" y="1428750"/>
            <a:ext cx="257175" cy="304800"/>
          </a:xfrm>
          <a:prstGeom prst="rect">
            <a:avLst/>
          </a:prstGeom>
        </p:spPr>
      </p:pic>
      <p:pic>
        <p:nvPicPr>
          <p:cNvPr id="201" name="Image 5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62225"/>
            <a:ext cx="219075" cy="285750"/>
          </a:xfrm>
          <a:prstGeom prst="rect">
            <a:avLst/>
          </a:prstGeom>
        </p:spPr>
      </p:pic>
      <p:pic>
        <p:nvPicPr>
          <p:cNvPr id="202" name="Image 6" descr="preencoded.png"/>
          <p:cNvPicPr>
            <a:picLocks noChangeAspect="true"/>
          </p:cNvPicPr>
          <p:nvPr/>
        </p:nvPicPr>
        <p:blipFill>
          <a:blip r:embed="rId8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67200" y="1104900"/>
            <a:ext cx="3657600" cy="19812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203" name="Image 7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4457700" y="1295400"/>
            <a:ext cx="571500" cy="571500"/>
          </a:xfrm>
          <a:prstGeom prst="rect">
            <a:avLst/>
          </a:prstGeom>
        </p:spPr>
      </p:pic>
      <p:pic>
        <p:nvPicPr>
          <p:cNvPr id="204" name="Image 8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9150" y="1428750"/>
            <a:ext cx="228600" cy="304800"/>
          </a:xfrm>
          <a:prstGeom prst="rect">
            <a:avLst/>
          </a:prstGeom>
        </p:spPr>
      </p:pic>
      <p:pic>
        <p:nvPicPr>
          <p:cNvPr id="205" name="Image 9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7700" y="2562225"/>
            <a:ext cx="285750" cy="285750"/>
          </a:xfrm>
          <a:prstGeom prst="rect">
            <a:avLst/>
          </a:prstGeom>
        </p:spPr>
      </p:pic>
      <p:pic>
        <p:nvPicPr>
          <p:cNvPr id="206" name="Image 10" descr="preencoded.png"/>
          <p:cNvPicPr>
            <a:picLocks noChangeAspect="true"/>
          </p:cNvPicPr>
          <p:nvPr/>
        </p:nvPicPr>
        <p:blipFill>
          <a:blip r:embed="rId12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53400" y="1104900"/>
            <a:ext cx="3657600" cy="19812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207" name="Image 11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3900" y="1295400"/>
            <a:ext cx="571500" cy="571500"/>
          </a:xfrm>
          <a:prstGeom prst="rect">
            <a:avLst/>
          </a:prstGeom>
        </p:spPr>
      </p:pic>
      <p:pic>
        <p:nvPicPr>
          <p:cNvPr id="208" name="Image 12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1063" y="1428750"/>
            <a:ext cx="257175" cy="304800"/>
          </a:xfrm>
          <a:prstGeom prst="rect">
            <a:avLst/>
          </a:prstGeom>
        </p:spPr>
      </p:pic>
      <p:pic>
        <p:nvPicPr>
          <p:cNvPr id="209" name="Image 13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3900" y="2562225"/>
            <a:ext cx="361950" cy="285750"/>
          </a:xfrm>
          <a:prstGeom prst="rect">
            <a:avLst/>
          </a:prstGeom>
        </p:spPr>
      </p:pic>
      <p:pic>
        <p:nvPicPr>
          <p:cNvPr id="210" name="Image 14" descr="preencoded.png"/>
          <p:cNvPicPr>
            <a:picLocks noChangeAspect="true"/>
          </p:cNvPicPr>
          <p:nvPr/>
        </p:nvPicPr>
        <p:blipFill>
          <a:blip r:embed="rId16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3314700"/>
            <a:ext cx="3657600" cy="19812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211" name="Image 15" descr="preencoded.png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505200"/>
            <a:ext cx="571500" cy="571500"/>
          </a:xfrm>
          <a:prstGeom prst="rect">
            <a:avLst/>
          </a:prstGeom>
        </p:spPr>
      </p:pic>
      <p:pic>
        <p:nvPicPr>
          <p:cNvPr id="212" name="Image 16" descr="preencoded.png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50" y="3638550"/>
            <a:ext cx="228600" cy="304800"/>
          </a:xfrm>
          <a:prstGeom prst="rect">
            <a:avLst/>
          </a:prstGeom>
        </p:spPr>
      </p:pic>
      <p:pic>
        <p:nvPicPr>
          <p:cNvPr id="213" name="Image 17" descr="preencoded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4772025"/>
            <a:ext cx="247650" cy="285750"/>
          </a:xfrm>
          <a:prstGeom prst="rect">
            <a:avLst/>
          </a:prstGeom>
        </p:spPr>
      </p:pic>
      <p:pic>
        <p:nvPicPr>
          <p:cNvPr id="214" name="Image 18" descr="preencoded.png"/>
          <p:cNvPicPr>
            <a:picLocks noChangeAspect="true"/>
          </p:cNvPicPr>
          <p:nvPr/>
        </p:nvPicPr>
        <p:blipFill>
          <a:blip r:embed="rId20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67200" y="3314700"/>
            <a:ext cx="3657600" cy="19812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215" name="Image 19" descr="preencoded.png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4457700" y="3505200"/>
            <a:ext cx="571500" cy="571500"/>
          </a:xfrm>
          <a:prstGeom prst="rect">
            <a:avLst/>
          </a:prstGeom>
        </p:spPr>
      </p:pic>
      <p:pic>
        <p:nvPicPr>
          <p:cNvPr id="216" name="Image 20" descr="preencoded.png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4629150" y="3638550"/>
            <a:ext cx="228600" cy="304800"/>
          </a:xfrm>
          <a:prstGeom prst="rect">
            <a:avLst/>
          </a:prstGeom>
        </p:spPr>
      </p:pic>
      <p:pic>
        <p:nvPicPr>
          <p:cNvPr id="217" name="Image 21" descr="preencoded.png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4457700" y="4772025"/>
            <a:ext cx="285750" cy="285750"/>
          </a:xfrm>
          <a:prstGeom prst="rect">
            <a:avLst/>
          </a:prstGeom>
        </p:spPr>
      </p:pic>
      <p:pic>
        <p:nvPicPr>
          <p:cNvPr id="218" name="Image 22" descr="preencoded.png"/>
          <p:cNvPicPr>
            <a:picLocks noChangeAspect="true"/>
          </p:cNvPicPr>
          <p:nvPr/>
        </p:nvPicPr>
        <p:blipFill>
          <a:blip r:embed="rId24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53400" y="3314700"/>
            <a:ext cx="3657600" cy="19812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219" name="Image 23" descr="preencoded.png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>
            <a:off x="8343900" y="3505200"/>
            <a:ext cx="571500" cy="571500"/>
          </a:xfrm>
          <a:prstGeom prst="rect">
            <a:avLst/>
          </a:prstGeom>
        </p:spPr>
      </p:pic>
      <p:pic>
        <p:nvPicPr>
          <p:cNvPr id="220" name="Image 24" descr="preencoded.png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8515350" y="3638550"/>
            <a:ext cx="228600" cy="304800"/>
          </a:xfrm>
          <a:prstGeom prst="rect">
            <a:avLst/>
          </a:prstGeom>
        </p:spPr>
      </p:pic>
      <p:pic>
        <p:nvPicPr>
          <p:cNvPr id="221" name="Image 25" descr="preencoded.png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>
            <a:off x="8343900" y="4229100"/>
            <a:ext cx="152400" cy="152400"/>
          </a:xfrm>
          <a:prstGeom prst="rect">
            <a:avLst/>
          </a:prstGeom>
        </p:spPr>
      </p:pic>
      <p:pic>
        <p:nvPicPr>
          <p:cNvPr id="222" name="Image 26" descr="preencoded.png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8343900" y="4533900"/>
            <a:ext cx="133350" cy="152400"/>
          </a:xfrm>
          <a:prstGeom prst="rect">
            <a:avLst/>
          </a:prstGeom>
        </p:spPr>
      </p:pic>
      <p:pic>
        <p:nvPicPr>
          <p:cNvPr id="223" name="Image 27" descr="preencoded.png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>
            <a:off x="8343900" y="4838700"/>
            <a:ext cx="152400" cy="152400"/>
          </a:xfrm>
          <a:prstGeom prst="rect">
            <a:avLst/>
          </a:prstGeom>
        </p:spPr>
      </p:pic>
      <p:pic>
        <p:nvPicPr>
          <p:cNvPr id="224" name="Image 28" descr="preencoded.png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381000" y="5524500"/>
            <a:ext cx="11430000" cy="609600"/>
          </a:xfrm>
          <a:prstGeom prst="rect">
            <a:avLst/>
          </a:prstGeom>
        </p:spPr>
      </p:pic>
      <p:pic>
        <p:nvPicPr>
          <p:cNvPr id="225" name="Image 29" descr="preencoded.png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>
            <a:off x="533400" y="5676900"/>
            <a:ext cx="171450" cy="304800"/>
          </a:xfrm>
          <a:prstGeom prst="rect">
            <a:avLst/>
          </a:prstGeom>
        </p:spPr>
      </p:pic>
      <p:sp>
        <p:nvSpPr>
          <p:cNvPr id="22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zh-CN" sz="2700" b="true">
                <a:solidFill>
                  <a:srgbClr val="FFFFFF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用户</a:t>
            </a:r>
            <a:r>
              <a:rPr lang="en-US" sz="2700" b="true">
                <a:solidFill>
                  <a:srgbClr val="FFFFFF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效益分析</a:t>
            </a:r>
            <a:endParaRPr/>
          </a:p>
        </p:txBody>
      </p:sp>
      <p:sp>
        <p:nvSpPr>
          <p:cNvPr id="227" name="Text 1"/>
          <p:cNvSpPr/>
          <p:nvPr/>
        </p:nvSpPr>
        <p:spPr>
          <a:xfrm>
            <a:off x="1257300" y="144780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响应提速</a:t>
            </a:r>
            <a:endParaRPr lang="en-US" sz="1500" dirty="false"/>
          </a:p>
        </p:txBody>
      </p:sp>
      <p:sp>
        <p:nvSpPr>
          <p:cNvPr id="228" name="Text 2"/>
          <p:cNvSpPr/>
          <p:nvPr/>
        </p:nvSpPr>
        <p:spPr>
          <a:xfrm>
            <a:off x="571500" y="1981200"/>
            <a:ext cx="3931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平均故障响应时间从</a:t>
            </a:r>
            <a:endParaRPr/>
          </a:p>
        </p:txBody>
      </p:sp>
      <p:sp>
        <p:nvSpPr>
          <p:cNvPr id="229" name="Text 3"/>
          <p:cNvSpPr/>
          <p:nvPr/>
        </p:nvSpPr>
        <p:spPr>
          <a:xfrm>
            <a:off x="866775" y="2590800"/>
            <a:ext cx="4575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EF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83%</a:t>
            </a:r>
            <a:endParaRPr lang="en-US" sz="1500" dirty="false"/>
          </a:p>
        </p:txBody>
      </p:sp>
      <p:sp>
        <p:nvSpPr>
          <p:cNvPr id="230" name="Text 4"/>
          <p:cNvSpPr/>
          <p:nvPr/>
        </p:nvSpPr>
        <p:spPr>
          <a:xfrm>
            <a:off x="1286173" y="2628900"/>
            <a:ext cx="960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响应时间减少</a:t>
            </a:r>
            <a:endParaRPr lang="en-US" sz="1050" dirty="false"/>
          </a:p>
        </p:txBody>
      </p:sp>
      <p:sp>
        <p:nvSpPr>
          <p:cNvPr id="231" name="Text 5"/>
          <p:cNvSpPr/>
          <p:nvPr/>
        </p:nvSpPr>
        <p:spPr>
          <a:xfrm>
            <a:off x="5143500" y="144780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预防损失</a:t>
            </a:r>
            <a:endParaRPr lang="en-US" sz="1500" dirty="false"/>
          </a:p>
        </p:txBody>
      </p:sp>
      <p:sp>
        <p:nvSpPr>
          <p:cNvPr id="232" name="Text 6"/>
          <p:cNvSpPr/>
          <p:nvPr/>
        </p:nvSpPr>
        <p:spPr>
          <a:xfrm>
            <a:off x="4457700" y="198120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通过SPC与AI预警，提前发现潜在问题，避免重大生产事故</a:t>
            </a:r>
            <a:endParaRPr lang="en-US" sz="1200" dirty="false"/>
          </a:p>
        </p:txBody>
      </p:sp>
      <p:sp>
        <p:nvSpPr>
          <p:cNvPr id="233" name="Text 7"/>
          <p:cNvSpPr/>
          <p:nvPr/>
        </p:nvSpPr>
        <p:spPr>
          <a:xfrm>
            <a:off x="4819650" y="2628900"/>
            <a:ext cx="1760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从</a:t>
            </a:r>
            <a:endParaRPr/>
          </a:p>
        </p:txBody>
      </p:sp>
      <p:sp>
        <p:nvSpPr>
          <p:cNvPr id="234" name="Text 8"/>
          <p:cNvSpPr/>
          <p:nvPr/>
        </p:nvSpPr>
        <p:spPr>
          <a:xfrm>
            <a:off x="9029700" y="144780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提升效率</a:t>
            </a:r>
            <a:endParaRPr lang="en-US" sz="1500" dirty="false"/>
          </a:p>
        </p:txBody>
      </p:sp>
      <p:sp>
        <p:nvSpPr>
          <p:cNvPr id="235" name="Text 9"/>
          <p:cNvSpPr/>
          <p:nvPr/>
        </p:nvSpPr>
        <p:spPr>
          <a:xfrm>
            <a:off x="8343900" y="198120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异常处理速度提升</a:t>
            </a:r>
            <a:endParaRPr/>
          </a:p>
        </p:txBody>
      </p:sp>
      <p:sp>
        <p:nvSpPr>
          <p:cNvPr id="236" name="Text 10"/>
          <p:cNvSpPr/>
          <p:nvPr/>
        </p:nvSpPr>
        <p:spPr>
          <a:xfrm>
            <a:off x="8782050" y="262890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优化人力资源配置</a:t>
            </a:r>
            <a:endParaRPr lang="en-US" sz="1050" dirty="false"/>
          </a:p>
        </p:txBody>
      </p:sp>
      <p:sp>
        <p:nvSpPr>
          <p:cNvPr id="237" name="Text 11"/>
          <p:cNvSpPr/>
          <p:nvPr/>
        </p:nvSpPr>
        <p:spPr>
          <a:xfrm>
            <a:off x="1257300" y="365760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知识沉淀</a:t>
            </a:r>
            <a:endParaRPr lang="en-US" sz="1500" dirty="false"/>
          </a:p>
        </p:txBody>
      </p:sp>
      <p:sp>
        <p:nvSpPr>
          <p:cNvPr id="238" name="Text 12"/>
          <p:cNvSpPr/>
          <p:nvPr/>
        </p:nvSpPr>
        <p:spPr>
          <a:xfrm>
            <a:off x="571500" y="419100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专家经验显性化、系统化，减少对少数资深工程师的依赖</a:t>
            </a:r>
            <a:endParaRPr lang="en-US" sz="1200" dirty="false"/>
          </a:p>
        </p:txBody>
      </p:sp>
      <p:sp>
        <p:nvSpPr>
          <p:cNvPr id="239" name="Text 13"/>
          <p:cNvSpPr/>
          <p:nvPr/>
        </p:nvSpPr>
        <p:spPr>
          <a:xfrm>
            <a:off x="895350" y="4838700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构建持续学习的</a:t>
            </a:r>
            <a:endParaRPr/>
          </a:p>
        </p:txBody>
      </p:sp>
      <p:sp>
        <p:nvSpPr>
          <p:cNvPr id="240" name="Text 14"/>
          <p:cNvSpPr/>
          <p:nvPr/>
        </p:nvSpPr>
        <p:spPr>
          <a:xfrm>
            <a:off x="5143500" y="365760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闭环管理</a:t>
            </a:r>
            <a:endParaRPr lang="en-US" sz="1500" dirty="false"/>
          </a:p>
        </p:txBody>
      </p:sp>
      <p:sp>
        <p:nvSpPr>
          <p:cNvPr id="241" name="Text 15"/>
          <p:cNvSpPr/>
          <p:nvPr/>
        </p:nvSpPr>
        <p:spPr>
          <a:xfrm>
            <a:off x="4457700" y="419100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从异常发现到处理再到效果验证，形成完整闭环，持续改进</a:t>
            </a:r>
            <a:endParaRPr lang="en-US" sz="1200" dirty="false"/>
          </a:p>
        </p:txBody>
      </p:sp>
      <p:sp>
        <p:nvSpPr>
          <p:cNvPr id="242" name="Text 16"/>
          <p:cNvSpPr/>
          <p:nvPr/>
        </p:nvSpPr>
        <p:spPr>
          <a:xfrm>
            <a:off x="4819650" y="483870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确保每起异常都有明确的</a:t>
            </a:r>
            <a:endParaRPr/>
          </a:p>
        </p:txBody>
      </p:sp>
      <p:sp>
        <p:nvSpPr>
          <p:cNvPr id="243" name="Text 17"/>
          <p:cNvSpPr/>
          <p:nvPr/>
        </p:nvSpPr>
        <p:spPr>
          <a:xfrm>
            <a:off x="9029700" y="365760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关键数据</a:t>
            </a:r>
            <a:endParaRPr lang="en-US" sz="1500" dirty="false"/>
          </a:p>
        </p:txBody>
      </p:sp>
      <p:sp>
        <p:nvSpPr>
          <p:cNvPr id="244" name="Text 18"/>
          <p:cNvSpPr/>
          <p:nvPr/>
        </p:nvSpPr>
        <p:spPr>
          <a:xfrm>
            <a:off x="8572500" y="4191000"/>
            <a:ext cx="31096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人为失误导致报废占比从</a:t>
            </a:r>
            <a:endParaRPr/>
          </a:p>
        </p:txBody>
      </p:sp>
      <p:sp>
        <p:nvSpPr>
          <p:cNvPr id="245" name="Text 19"/>
          <p:cNvSpPr/>
          <p:nvPr/>
        </p:nvSpPr>
        <p:spPr>
          <a:xfrm>
            <a:off x="8553450" y="4495800"/>
            <a:ext cx="20938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误报率从</a:t>
            </a:r>
            <a:endParaRPr/>
          </a:p>
        </p:txBody>
      </p:sp>
      <p:sp>
        <p:nvSpPr>
          <p:cNvPr id="246" name="Text 20"/>
          <p:cNvSpPr/>
          <p:nvPr/>
        </p:nvSpPr>
        <p:spPr>
          <a:xfrm>
            <a:off x="8572500" y="4800600"/>
            <a:ext cx="27435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检出率接近</a:t>
            </a:r>
            <a:endParaRPr/>
          </a:p>
        </p:txBody>
      </p:sp>
      <p:sp>
        <p:nvSpPr>
          <p:cNvPr id="247" name="Text 21"/>
          <p:cNvSpPr/>
          <p:nvPr/>
        </p:nvSpPr>
        <p:spPr>
          <a:xfrm>
            <a:off x="819150" y="5715000"/>
            <a:ext cx="108922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综合效益：</a:t>
            </a:r>
            <a:endParaRPr/>
          </a:p>
        </p:txBody>
      </p:sp>
      <p:sp>
        <p:nvSpPr>
          <p:cNvPr id="248" name="Text 22"/>
          <p:cNvSpPr/>
          <p:nvPr/>
        </p:nvSpPr>
        <p:spPr>
          <a:xfrm>
            <a:off x="381000" y="6362700"/>
            <a:ext cx="36809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206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OCAP+SPC+AI异常响应系统（厂务场景）立项汇报</a:t>
            </a:r>
            <a:endParaRPr lang="en-US" sz="1050"/>
          </a:p>
        </p:txBody>
      </p:sp>
      <p:sp>
        <p:nvSpPr>
          <p:cNvPr id="249" name="Text 23"/>
          <p:cNvSpPr/>
          <p:nvPr/>
        </p:nvSpPr>
        <p:spPr>
          <a:xfrm>
            <a:off x="11551444" y="6362700"/>
            <a:ext cx="3114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8/11</a:t>
            </a:r>
            <a:endParaRPr lang="en-US" sz="1050" dirty="false"/>
          </a:p>
        </p:txBody>
      </p:sp>
    </p:spTree>
  </p:cSld>
  <p:clrMapOvr>
    <a:masterClrMapping/>
  </p:clrMapOvr>
</p:sld>
</file>

<file path=ppt/slides/slide15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Slide 6">
    <p:spTree>
      <p:nvGrpSpPr>
        <p:cNvPr id="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Image 1" descr="preencoded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0"/>
            <a:ext cx="914400" cy="38100"/>
          </a:xfrm>
          <a:prstGeom prst="rect">
            <a:avLst/>
          </a:prstGeom>
        </p:spPr>
      </p:pic>
      <p:pic>
        <p:nvPicPr>
          <p:cNvPr id="252" name="Image 2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71550"/>
            <a:ext cx="228600" cy="228600"/>
          </a:xfrm>
          <a:prstGeom prst="rect">
            <a:avLst/>
          </a:prstGeom>
        </p:spPr>
      </p:pic>
      <p:pic>
        <p:nvPicPr>
          <p:cNvPr id="253" name="Image 3" descr="preencoded.png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04800" y="1371600"/>
            <a:ext cx="3810000" cy="3543300"/>
          </a:xfrm>
          <a:prstGeom prst="rect">
            <a:avLst/>
          </a:prstGeom>
          <a:solidFill>
            <a:srgbClr val="c7ecff">
              <a:alpha val="100000"/>
            </a:srgbClr>
          </a:solidFill>
        </p:spPr>
      </p:pic>
      <p:pic>
        <p:nvPicPr>
          <p:cNvPr id="254" name="Image 4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095500"/>
            <a:ext cx="3505200" cy="762000"/>
          </a:xfrm>
          <a:prstGeom prst="rect">
            <a:avLst/>
          </a:prstGeom>
        </p:spPr>
      </p:pic>
      <p:pic>
        <p:nvPicPr>
          <p:cNvPr id="255" name="Image 5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81400"/>
            <a:ext cx="3505200" cy="1181100"/>
          </a:xfrm>
          <a:prstGeom prst="rect">
            <a:avLst/>
          </a:prstGeom>
        </p:spPr>
      </p:pic>
      <p:pic>
        <p:nvPicPr>
          <p:cNvPr id="256" name="Image 6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24275"/>
            <a:ext cx="190500" cy="190500"/>
          </a:xfrm>
          <a:prstGeom prst="rect">
            <a:avLst/>
          </a:prstGeom>
        </p:spPr>
      </p:pic>
      <p:pic>
        <p:nvPicPr>
          <p:cNvPr id="257" name="Image 7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057650"/>
            <a:ext cx="114300" cy="152400"/>
          </a:xfrm>
          <a:prstGeom prst="rect">
            <a:avLst/>
          </a:prstGeom>
        </p:spPr>
      </p:pic>
      <p:pic>
        <p:nvPicPr>
          <p:cNvPr id="258" name="Image 8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900" y="4057650"/>
            <a:ext cx="152400" cy="152400"/>
          </a:xfrm>
          <a:prstGeom prst="rect">
            <a:avLst/>
          </a:prstGeom>
        </p:spPr>
      </p:pic>
      <p:pic>
        <p:nvPicPr>
          <p:cNvPr id="259" name="Image 9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324350"/>
            <a:ext cx="114300" cy="152400"/>
          </a:xfrm>
          <a:prstGeom prst="rect">
            <a:avLst/>
          </a:prstGeom>
        </p:spPr>
      </p:pic>
      <p:pic>
        <p:nvPicPr>
          <p:cNvPr id="260" name="Image 10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7900" y="4324350"/>
            <a:ext cx="114300" cy="152400"/>
          </a:xfrm>
          <a:prstGeom prst="rect">
            <a:avLst/>
          </a:prstGeom>
        </p:spPr>
      </p:pic>
      <p:pic>
        <p:nvPicPr>
          <p:cNvPr id="261" name="Image 11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591050"/>
            <a:ext cx="133350" cy="152400"/>
          </a:xfrm>
          <a:prstGeom prst="rect">
            <a:avLst/>
          </a:prstGeom>
        </p:spPr>
      </p:pic>
      <p:pic>
        <p:nvPicPr>
          <p:cNvPr id="262" name="Image 12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2247900" y="4591050"/>
            <a:ext cx="190500" cy="152400"/>
          </a:xfrm>
          <a:prstGeom prst="rect">
            <a:avLst/>
          </a:prstGeom>
        </p:spPr>
      </p:pic>
      <p:pic>
        <p:nvPicPr>
          <p:cNvPr id="263" name="Image 13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971550"/>
            <a:ext cx="228600" cy="228600"/>
          </a:xfrm>
          <a:prstGeom prst="rect">
            <a:avLst/>
          </a:prstGeom>
        </p:spPr>
      </p:pic>
      <p:pic>
        <p:nvPicPr>
          <p:cNvPr id="264" name="Image 14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4267200" y="1371600"/>
            <a:ext cx="7620000" cy="4419600"/>
          </a:xfrm>
          <a:prstGeom prst="rect">
            <a:avLst/>
          </a:prstGeom>
        </p:spPr>
      </p:pic>
      <p:pic>
        <p:nvPicPr>
          <p:cNvPr id="265" name="Image 15" descr="preencoded.png"/>
          <p:cNvPicPr>
            <a:picLocks noChangeAspect="true"/>
          </p:cNvPicPr>
          <p:nvPr/>
        </p:nvPicPr>
        <p:blipFill>
          <a:blip r:embed="rId16">
            <a:alphaModFix amt="50000"/>
          </a:blip>
          <a:stretch>
            <a:fillRect/>
          </a:stretch>
        </p:blipFill>
        <p:spPr>
          <a:xfrm>
            <a:off x="4419600" y="1524000"/>
            <a:ext cx="7315200" cy="457200"/>
          </a:xfrm>
          <a:prstGeom prst="rect">
            <a:avLst/>
          </a:prstGeom>
          <a:solidFill>
            <a:srgbClr val="C7ECFF">
              <a:alpha val="100000"/>
            </a:srgbClr>
          </a:solidFill>
        </p:spPr>
      </p:pic>
      <p:pic>
        <p:nvPicPr>
          <p:cNvPr id="266" name="Image 16" descr="preencoded.png"/>
          <p:cNvPicPr>
            <a:picLocks noChangeAspect="true"/>
          </p:cNvPicPr>
          <p:nvPr/>
        </p:nvPicPr>
        <p:blipFill>
          <a:blip r:embed="rId17">
            <a:alphaModFix amt="50000"/>
          </a:blip>
          <a:stretch>
            <a:fillRect/>
          </a:stretch>
        </p:blipFill>
        <p:spPr>
          <a:xfrm>
            <a:off x="4419600" y="2095500"/>
            <a:ext cx="7315200" cy="457200"/>
          </a:xfrm>
          <a:prstGeom prst="rect">
            <a:avLst/>
          </a:prstGeom>
          <a:solidFill>
            <a:srgbClr val="C7ECFF">
              <a:alpha val="100000"/>
            </a:srgbClr>
          </a:solidFill>
        </p:spPr>
      </p:pic>
      <p:pic>
        <p:nvPicPr>
          <p:cNvPr id="267" name="Image 17" descr="preencoded.png"/>
          <p:cNvPicPr>
            <a:picLocks noChangeAspect="true"/>
          </p:cNvPicPr>
          <p:nvPr/>
        </p:nvPicPr>
        <p:blipFill>
          <a:blip r:embed="rId18">
            <a:alphaModFix amt="50000"/>
          </a:blip>
          <a:stretch>
            <a:fillRect/>
          </a:stretch>
        </p:blipFill>
        <p:spPr>
          <a:xfrm>
            <a:off x="4419600" y="2667000"/>
            <a:ext cx="7315200" cy="609600"/>
          </a:xfrm>
          <a:prstGeom prst="rect">
            <a:avLst/>
          </a:prstGeom>
          <a:solidFill>
            <a:srgbClr val="C7ECFF">
              <a:alpha val="100000"/>
            </a:srgbClr>
          </a:solidFill>
        </p:spPr>
      </p:pic>
      <p:pic>
        <p:nvPicPr>
          <p:cNvPr id="268" name="Image 18" descr="preencoded.png"/>
          <p:cNvPicPr>
            <a:picLocks noChangeAspect="true"/>
          </p:cNvPicPr>
          <p:nvPr/>
        </p:nvPicPr>
        <p:blipFill>
          <a:blip r:embed="rId19">
            <a:alphaModFix amt="50000"/>
          </a:blip>
          <a:stretch>
            <a:fillRect/>
          </a:stretch>
        </p:blipFill>
        <p:spPr>
          <a:xfrm>
            <a:off x="4419600" y="3390900"/>
            <a:ext cx="7315200" cy="457200"/>
          </a:xfrm>
          <a:prstGeom prst="rect">
            <a:avLst/>
          </a:prstGeom>
          <a:solidFill>
            <a:srgbClr val="C7ECFF">
              <a:alpha val="100000"/>
            </a:srgbClr>
          </a:solidFill>
        </p:spPr>
      </p:pic>
      <p:pic>
        <p:nvPicPr>
          <p:cNvPr id="269" name="Image 19" descr="preencoded.png"/>
          <p:cNvPicPr>
            <a:picLocks noChangeAspect="true"/>
          </p:cNvPicPr>
          <p:nvPr/>
        </p:nvPicPr>
        <p:blipFill>
          <a:blip r:embed="rId20">
            <a:alphaModFix amt="50000"/>
          </a:blip>
          <a:stretch>
            <a:fillRect/>
          </a:stretch>
        </p:blipFill>
        <p:spPr>
          <a:xfrm>
            <a:off x="4419600" y="3962400"/>
            <a:ext cx="7315200" cy="457200"/>
          </a:xfrm>
          <a:prstGeom prst="rect">
            <a:avLst/>
          </a:prstGeom>
          <a:solidFill>
            <a:srgbClr val="C7ECFF">
              <a:alpha val="100000"/>
            </a:srgbClr>
          </a:solidFill>
        </p:spPr>
      </p:pic>
      <p:pic>
        <p:nvPicPr>
          <p:cNvPr id="270" name="Image 20" descr="preencoded.png"/>
          <p:cNvPicPr>
            <a:picLocks noChangeAspect="true"/>
          </p:cNvPicPr>
          <p:nvPr/>
        </p:nvPicPr>
        <p:blipFill>
          <a:blip r:embed="rId21">
            <a:alphaModFix amt="50000"/>
          </a:blip>
          <a:stretch>
            <a:fillRect/>
          </a:stretch>
        </p:blipFill>
        <p:spPr>
          <a:xfrm>
            <a:off x="4419600" y="4533900"/>
            <a:ext cx="7315200" cy="457200"/>
          </a:xfrm>
          <a:prstGeom prst="rect">
            <a:avLst/>
          </a:prstGeom>
          <a:solidFill>
            <a:srgbClr val="C7ECFF">
              <a:alpha val="100000"/>
            </a:srgbClr>
          </a:solidFill>
        </p:spPr>
      </p:pic>
      <p:pic>
        <p:nvPicPr>
          <p:cNvPr id="271" name="Image 21" descr="preencoded.png"/>
          <p:cNvPicPr>
            <a:picLocks noChangeAspect="true"/>
          </p:cNvPicPr>
          <p:nvPr/>
        </p:nvPicPr>
        <p:blipFill>
          <a:blip r:embed="rId22">
            <a:alphaModFix amt="50000"/>
          </a:blip>
          <a:stretch>
            <a:fillRect/>
          </a:stretch>
        </p:blipFill>
        <p:spPr>
          <a:xfrm>
            <a:off x="4419600" y="5105400"/>
            <a:ext cx="7315200" cy="457200"/>
          </a:xfrm>
          <a:prstGeom prst="rect">
            <a:avLst/>
          </a:prstGeom>
          <a:solidFill>
            <a:srgbClr val="C7ECFF">
              <a:alpha val="100000"/>
            </a:srgbClr>
          </a:solidFill>
        </p:spPr>
      </p:pic>
      <p:sp>
        <p:nvSpPr>
          <p:cNvPr id="272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PRD目标与功能拆解</a:t>
            </a:r>
            <a:endParaRPr lang="en-US" sz="2700" dirty="false"/>
          </a:p>
        </p:txBody>
      </p:sp>
      <p:sp>
        <p:nvSpPr>
          <p:cNvPr id="273" name="Text 1"/>
          <p:cNvSpPr/>
          <p:nvPr/>
        </p:nvSpPr>
        <p:spPr>
          <a:xfrm>
            <a:off x="609600" y="952500"/>
            <a:ext cx="381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产品目标</a:t>
            </a:r>
            <a:endParaRPr lang="en-US" sz="1800"/>
          </a:p>
        </p:txBody>
      </p:sp>
      <p:sp>
        <p:nvSpPr>
          <p:cNvPr id="274" name="Text 2"/>
          <p:cNvSpPr/>
          <p:nvPr/>
        </p:nvSpPr>
        <p:spPr>
          <a:xfrm>
            <a:off x="457200" y="1524000"/>
            <a:ext cx="3505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构建</a:t>
            </a:r>
            <a:endParaRPr/>
          </a:p>
        </p:txBody>
      </p:sp>
      <p:sp>
        <p:nvSpPr>
          <p:cNvPr id="275" name="Text 3"/>
          <p:cNvSpPr/>
          <p:nvPr/>
        </p:nvSpPr>
        <p:spPr>
          <a:xfrm>
            <a:off x="571500" y="2209800"/>
            <a:ext cx="3276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1E40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提前预警 → 智能判断 → 规范执行 → 自学习进化</a:t>
            </a:r>
            <a:endParaRPr lang="en-US" sz="1350" dirty="false"/>
          </a:p>
        </p:txBody>
      </p:sp>
      <p:sp>
        <p:nvSpPr>
          <p:cNvPr id="276" name="Text 4"/>
          <p:cNvSpPr/>
          <p:nvPr/>
        </p:nvSpPr>
        <p:spPr>
          <a:xfrm>
            <a:off x="457200" y="2971800"/>
            <a:ext cx="3505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true">
                <a:solidFill>
                  <a:srgbClr val="374151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目标愿景：从"经验驱动"升级为 </a:t>
            </a:r>
            <a:r>
              <a:rPr sz="1200"/>
              <a:t>智能决策</a:t>
            </a:r>
            <a:r>
              <a:rPr sz="1200"/>
              <a:t> + </a:t>
            </a:r>
            <a:r>
              <a:rPr sz="1200"/>
              <a:t>自动优化</a:t>
            </a:r>
            <a:r>
              <a:rPr sz="1200"/>
              <a:t> + </a:t>
            </a:r>
            <a:r>
              <a:rPr sz="1200"/>
              <a:t>工厂稳定性守护</a:t>
            </a:r>
            <a:endParaRPr/>
          </a:p>
        </p:txBody>
      </p:sp>
      <p:sp>
        <p:nvSpPr>
          <p:cNvPr id="277" name="Text 5"/>
          <p:cNvSpPr/>
          <p:nvPr/>
        </p:nvSpPr>
        <p:spPr>
          <a:xfrm>
            <a:off x="723900" y="3695700"/>
            <a:ext cx="350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KPI指标</a:t>
            </a:r>
            <a:endParaRPr lang="en-US" sz="1500" dirty="false"/>
          </a:p>
        </p:txBody>
      </p:sp>
      <p:sp>
        <p:nvSpPr>
          <p:cNvPr id="278" name="Text 6"/>
          <p:cNvSpPr/>
          <p:nvPr/>
        </p:nvSpPr>
        <p:spPr>
          <a:xfrm>
            <a:off x="609600" y="4038600"/>
            <a:ext cx="142160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报警干扰率: ↓ ≥40%</a:t>
            </a:r>
            <a:endParaRPr lang="en-US" sz="1050" dirty="false"/>
          </a:p>
        </p:txBody>
      </p:sp>
      <p:sp>
        <p:nvSpPr>
          <p:cNvPr id="279" name="Text 7"/>
          <p:cNvSpPr/>
          <p:nvPr/>
        </p:nvSpPr>
        <p:spPr>
          <a:xfrm>
            <a:off x="2438400" y="4038600"/>
            <a:ext cx="16171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异常检出准确率: ≥95%</a:t>
            </a:r>
            <a:endParaRPr lang="en-US" sz="1050" dirty="false"/>
          </a:p>
        </p:txBody>
      </p:sp>
      <p:sp>
        <p:nvSpPr>
          <p:cNvPr id="280" name="Text 8"/>
          <p:cNvSpPr/>
          <p:nvPr/>
        </p:nvSpPr>
        <p:spPr>
          <a:xfrm>
            <a:off x="609600" y="4305300"/>
            <a:ext cx="138588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平均MTTR: ↓ ≥30%</a:t>
            </a:r>
            <a:endParaRPr lang="en-US" sz="1050" dirty="false"/>
          </a:p>
        </p:txBody>
      </p:sp>
      <p:sp>
        <p:nvSpPr>
          <p:cNvPr id="281" name="Text 9"/>
          <p:cNvSpPr/>
          <p:nvPr/>
        </p:nvSpPr>
        <p:spPr>
          <a:xfrm>
            <a:off x="2400300" y="4305300"/>
            <a:ext cx="168860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重复异常率: ↓ ≥20–30%</a:t>
            </a:r>
            <a:endParaRPr lang="en-US" sz="1050" dirty="false"/>
          </a:p>
        </p:txBody>
      </p:sp>
      <p:sp>
        <p:nvSpPr>
          <p:cNvPr id="282" name="Text 10"/>
          <p:cNvSpPr/>
          <p:nvPr/>
        </p:nvSpPr>
        <p:spPr>
          <a:xfrm>
            <a:off x="628650" y="4572000"/>
            <a:ext cx="16171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知识库动作覆盖: ≥80%</a:t>
            </a:r>
            <a:endParaRPr lang="en-US" sz="1050" dirty="false"/>
          </a:p>
        </p:txBody>
      </p:sp>
      <p:sp>
        <p:nvSpPr>
          <p:cNvPr id="283" name="Text 11"/>
          <p:cNvSpPr/>
          <p:nvPr/>
        </p:nvSpPr>
        <p:spPr>
          <a:xfrm>
            <a:off x="2476500" y="4572000"/>
            <a:ext cx="14483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AI推荐命中率: ≥60%</a:t>
            </a:r>
            <a:endParaRPr lang="en-US" sz="1050" dirty="false"/>
          </a:p>
        </p:txBody>
      </p:sp>
      <p:sp>
        <p:nvSpPr>
          <p:cNvPr id="284" name="Text 12"/>
          <p:cNvSpPr/>
          <p:nvPr/>
        </p:nvSpPr>
        <p:spPr>
          <a:xfrm>
            <a:off x="4572000" y="952500"/>
            <a:ext cx="762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>
                <a:solidFill>
                  <a:srgbClr val="00000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产品功能拆解</a:t>
            </a:r>
            <a:endParaRPr lang="en-US" sz="1800"/>
          </a:p>
        </p:txBody>
      </p:sp>
      <p:sp>
        <p:nvSpPr>
          <p:cNvPr id="285" name="Text 13"/>
          <p:cNvSpPr/>
          <p:nvPr/>
        </p:nvSpPr>
        <p:spPr>
          <a:xfrm>
            <a:off x="4533900" y="1638300"/>
            <a:ext cx="1771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1D4ED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SPC过程稳定</a:t>
            </a:r>
            <a:endParaRPr lang="en-US" sz="1200" dirty="false"/>
          </a:p>
        </p:txBody>
      </p:sp>
      <p:sp>
        <p:nvSpPr>
          <p:cNvPr id="286" name="Text 14"/>
          <p:cNvSpPr/>
          <p:nvPr/>
        </p:nvSpPr>
        <p:spPr>
          <a:xfrm>
            <a:off x="6364635" y="1638300"/>
            <a:ext cx="34014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控制图、WE判异、自适应控制限、Cp/Cpk</a:t>
            </a:r>
            <a:endParaRPr lang="en-US" sz="1050" dirty="false"/>
          </a:p>
        </p:txBody>
      </p:sp>
      <p:sp>
        <p:nvSpPr>
          <p:cNvPr id="287" name="Text 15"/>
          <p:cNvSpPr/>
          <p:nvPr/>
        </p:nvSpPr>
        <p:spPr>
          <a:xfrm>
            <a:off x="9258300" y="1638300"/>
            <a:ext cx="2834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6A3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提升异常检测准确性、过程稳定性</a:t>
            </a:r>
            <a:endParaRPr lang="en-US" sz="1050" dirty="false"/>
          </a:p>
        </p:txBody>
      </p:sp>
      <p:sp>
        <p:nvSpPr>
          <p:cNvPr id="288" name="Text 16"/>
          <p:cNvSpPr/>
          <p:nvPr/>
        </p:nvSpPr>
        <p:spPr>
          <a:xfrm>
            <a:off x="4533900" y="2209800"/>
            <a:ext cx="1771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7E22C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AI智能分析</a:t>
            </a:r>
            <a:endParaRPr lang="en-US" sz="1200" dirty="false"/>
          </a:p>
        </p:txBody>
      </p:sp>
      <p:sp>
        <p:nvSpPr>
          <p:cNvPr id="289" name="Text 17"/>
          <p:cNvSpPr/>
          <p:nvPr/>
        </p:nvSpPr>
        <p:spPr>
          <a:xfrm>
            <a:off x="6364635" y="2209800"/>
            <a:ext cx="34014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多变量识别、趋势预测、异常聚类、优先级评分</a:t>
            </a:r>
            <a:endParaRPr lang="en-US" sz="1050" dirty="false"/>
          </a:p>
        </p:txBody>
      </p:sp>
      <p:sp>
        <p:nvSpPr>
          <p:cNvPr id="290" name="Text 18"/>
          <p:cNvSpPr/>
          <p:nvPr/>
        </p:nvSpPr>
        <p:spPr>
          <a:xfrm>
            <a:off x="9258300" y="2209800"/>
            <a:ext cx="2834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6A3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更早发现更准判断异常</a:t>
            </a:r>
            <a:endParaRPr lang="en-US" sz="1050" dirty="false"/>
          </a:p>
        </p:txBody>
      </p:sp>
      <p:sp>
        <p:nvSpPr>
          <p:cNvPr id="291" name="Text 19"/>
          <p:cNvSpPr/>
          <p:nvPr/>
        </p:nvSpPr>
        <p:spPr>
          <a:xfrm>
            <a:off x="4533900" y="2781300"/>
            <a:ext cx="21259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C2410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OCAP执行闭环</a:t>
            </a:r>
            <a:endParaRPr lang="en-US" sz="1200" dirty="false"/>
          </a:p>
        </p:txBody>
      </p:sp>
      <p:sp>
        <p:nvSpPr>
          <p:cNvPr id="292" name="Text 20"/>
          <p:cNvSpPr/>
          <p:nvPr/>
        </p:nvSpPr>
        <p:spPr>
          <a:xfrm>
            <a:off x="6364635" y="2781300"/>
            <a:ext cx="28345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Action Plan自动生成、工单派发、执行确认、验证释放</a:t>
            </a:r>
            <a:endParaRPr lang="en-US" sz="1050" dirty="false"/>
          </a:p>
        </p:txBody>
      </p:sp>
      <p:sp>
        <p:nvSpPr>
          <p:cNvPr id="293" name="Text 21"/>
          <p:cNvSpPr/>
          <p:nvPr/>
        </p:nvSpPr>
        <p:spPr>
          <a:xfrm>
            <a:off x="9258300" y="2781300"/>
            <a:ext cx="2834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6A3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提升MTTR、流程闭环、防漏处置</a:t>
            </a:r>
            <a:endParaRPr lang="en-US" sz="1050" dirty="false"/>
          </a:p>
        </p:txBody>
      </p:sp>
      <p:sp>
        <p:nvSpPr>
          <p:cNvPr id="294" name="Text 22"/>
          <p:cNvSpPr/>
          <p:nvPr/>
        </p:nvSpPr>
        <p:spPr>
          <a:xfrm>
            <a:off x="4533900" y="3505200"/>
            <a:ext cx="1771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A1620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知识沉淀</a:t>
            </a:r>
            <a:endParaRPr lang="en-US" sz="1200" dirty="false"/>
          </a:p>
        </p:txBody>
      </p:sp>
      <p:sp>
        <p:nvSpPr>
          <p:cNvPr id="295" name="Text 23"/>
          <p:cNvSpPr/>
          <p:nvPr/>
        </p:nvSpPr>
        <p:spPr>
          <a:xfrm>
            <a:off x="6364635" y="3505200"/>
            <a:ext cx="34014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SOP库、事件案例、执行效果评分、自学习</a:t>
            </a:r>
            <a:endParaRPr lang="en-US" sz="1050" dirty="false"/>
          </a:p>
        </p:txBody>
      </p:sp>
      <p:sp>
        <p:nvSpPr>
          <p:cNvPr id="296" name="Text 24"/>
          <p:cNvSpPr/>
          <p:nvPr/>
        </p:nvSpPr>
        <p:spPr>
          <a:xfrm>
            <a:off x="9258300" y="3505200"/>
            <a:ext cx="2834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6A3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经验沉淀、系统越用越"聪明"</a:t>
            </a:r>
            <a:endParaRPr lang="en-US" sz="1050" dirty="false"/>
          </a:p>
        </p:txBody>
      </p:sp>
      <p:sp>
        <p:nvSpPr>
          <p:cNvPr id="297" name="Text 25"/>
          <p:cNvSpPr/>
          <p:nvPr/>
        </p:nvSpPr>
        <p:spPr>
          <a:xfrm>
            <a:off x="4533900" y="4076700"/>
            <a:ext cx="1771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B91C1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报警治理</a:t>
            </a:r>
            <a:endParaRPr lang="en-US" sz="1200" dirty="false"/>
          </a:p>
        </p:txBody>
      </p:sp>
      <p:sp>
        <p:nvSpPr>
          <p:cNvPr id="298" name="Text 26"/>
          <p:cNvSpPr/>
          <p:nvPr/>
        </p:nvSpPr>
        <p:spPr>
          <a:xfrm>
            <a:off x="6364635" y="4076700"/>
            <a:ext cx="34014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去噪、合并、事件化、跨系统因果链分析</a:t>
            </a:r>
            <a:endParaRPr lang="en-US" sz="1050" dirty="false"/>
          </a:p>
        </p:txBody>
      </p:sp>
      <p:sp>
        <p:nvSpPr>
          <p:cNvPr id="299" name="Text 27"/>
          <p:cNvSpPr/>
          <p:nvPr/>
        </p:nvSpPr>
        <p:spPr>
          <a:xfrm>
            <a:off x="9258300" y="4076700"/>
            <a:ext cx="2834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6A3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降噪 20～40%，聚焦关键异常</a:t>
            </a:r>
            <a:endParaRPr lang="en-US" sz="1050" dirty="false"/>
          </a:p>
        </p:txBody>
      </p:sp>
      <p:sp>
        <p:nvSpPr>
          <p:cNvPr id="300" name="Text 28"/>
          <p:cNvSpPr/>
          <p:nvPr/>
        </p:nvSpPr>
        <p:spPr>
          <a:xfrm>
            <a:off x="4533900" y="4648200"/>
            <a:ext cx="1771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15803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可视化监控</a:t>
            </a:r>
            <a:endParaRPr lang="en-US" sz="1200" dirty="false"/>
          </a:p>
        </p:txBody>
      </p:sp>
      <p:sp>
        <p:nvSpPr>
          <p:cNvPr id="301" name="Text 29"/>
          <p:cNvSpPr/>
          <p:nvPr/>
        </p:nvSpPr>
        <p:spPr>
          <a:xfrm>
            <a:off x="6364635" y="4648200"/>
            <a:ext cx="34014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MTTR/重复率/稳定性指数、执行效率报表</a:t>
            </a:r>
            <a:endParaRPr lang="en-US" sz="1050" dirty="false"/>
          </a:p>
        </p:txBody>
      </p:sp>
      <p:sp>
        <p:nvSpPr>
          <p:cNvPr id="302" name="Text 30"/>
          <p:cNvSpPr/>
          <p:nvPr/>
        </p:nvSpPr>
        <p:spPr>
          <a:xfrm>
            <a:off x="9258300" y="4648200"/>
            <a:ext cx="2834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6A3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指标清晰、过程透明、管理可控</a:t>
            </a:r>
            <a:endParaRPr lang="en-US" sz="1050" dirty="false"/>
          </a:p>
        </p:txBody>
      </p:sp>
      <p:sp>
        <p:nvSpPr>
          <p:cNvPr id="303" name="Text 31"/>
          <p:cNvSpPr/>
          <p:nvPr/>
        </p:nvSpPr>
        <p:spPr>
          <a:xfrm>
            <a:off x="4533900" y="5219700"/>
            <a:ext cx="1771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系统集成</a:t>
            </a:r>
            <a:endParaRPr lang="en-US" sz="1200" dirty="false"/>
          </a:p>
        </p:txBody>
      </p:sp>
      <p:sp>
        <p:nvSpPr>
          <p:cNvPr id="304" name="Text 32"/>
          <p:cNvSpPr/>
          <p:nvPr/>
        </p:nvSpPr>
        <p:spPr>
          <a:xfrm>
            <a:off x="6364635" y="5219700"/>
            <a:ext cx="34014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WinCC OA / Kafka / Flink / IoTDB / MES/EAM</a:t>
            </a:r>
            <a:endParaRPr lang="en-US" sz="1050" dirty="false"/>
          </a:p>
        </p:txBody>
      </p:sp>
      <p:sp>
        <p:nvSpPr>
          <p:cNvPr id="305" name="Text 33"/>
          <p:cNvSpPr/>
          <p:nvPr/>
        </p:nvSpPr>
        <p:spPr>
          <a:xfrm>
            <a:off x="9258300" y="5219700"/>
            <a:ext cx="2834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16A3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一体化厂务智能中枢</a:t>
            </a:r>
            <a:endParaRPr lang="en-US" sz="1050" dirty="false"/>
          </a:p>
        </p:txBody>
      </p:sp>
      <p:sp>
        <p:nvSpPr>
          <p:cNvPr id="306" name="Text 35"/>
          <p:cNvSpPr/>
          <p:nvPr/>
        </p:nvSpPr>
        <p:spPr>
          <a:xfrm>
            <a:off x="11279088" y="63627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Page 6/14</a:t>
            </a:r>
            <a:endParaRPr lang="en-US" sz="1050" dirty="false"/>
          </a:p>
        </p:txBody>
      </p:sp>
      <p:pic>
        <p:nvPicPr>
          <p:cNvPr id="307" name=""/>
          <p:cNvPicPr>
            <a:picLocks noChangeAspect="true"/>
          </p:cNvPicPr>
          <p:nvPr/>
        </p:nvPicPr>
        <p:blipFill>
          <a:blip r:embed="rId23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sp>
        <p:nvSpPr>
          <p:cNvPr id="308" name="Text 0"/>
          <p:cNvSpPr/>
          <p:nvPr/>
        </p:nvSpPr>
        <p:spPr>
          <a:xfrm rot="0" flipH="false" flipV="false">
            <a:off x="381000" y="2667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true">
                <a:solidFill>
                  <a:srgbClr val="FFFFFF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PRD</a:t>
            </a:r>
            <a:r>
              <a:rPr lang="zh-CN" sz="2700" b="true">
                <a:solidFill>
                  <a:srgbClr val="FFFFFF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目标与特性</a:t>
            </a:r>
            <a:r>
              <a:rPr lang="en-US" sz="2700" b="true">
                <a:solidFill>
                  <a:srgbClr val="FFFFFF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拆解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Slide 7"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Image 6" descr="preencoded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750" y="2400300"/>
            <a:ext cx="3708350" cy="1181100"/>
          </a:xfrm>
          <a:prstGeom prst="rect">
            <a:avLst/>
          </a:prstGeom>
        </p:spPr>
      </p:pic>
      <p:pic>
        <p:nvPicPr>
          <p:cNvPr id="311" name="Image 9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501" y="2400300"/>
            <a:ext cx="3708499" cy="1181100"/>
          </a:xfrm>
          <a:prstGeom prst="rect">
            <a:avLst/>
          </a:prstGeom>
        </p:spPr>
      </p:pic>
      <p:pic>
        <p:nvPicPr>
          <p:cNvPr id="312" name="Image 12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733800"/>
            <a:ext cx="3708350" cy="1371600"/>
          </a:xfrm>
          <a:prstGeom prst="rect">
            <a:avLst/>
          </a:prstGeom>
        </p:spPr>
      </p:pic>
      <p:pic>
        <p:nvPicPr>
          <p:cNvPr id="313" name="Image 15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750" y="3733800"/>
            <a:ext cx="3708350" cy="1371600"/>
          </a:xfrm>
          <a:prstGeom prst="rect">
            <a:avLst/>
          </a:prstGeom>
        </p:spPr>
      </p:pic>
      <p:pic>
        <p:nvPicPr>
          <p:cNvPr id="314" name="Image 18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01" y="3733800"/>
            <a:ext cx="3708499" cy="1371600"/>
          </a:xfrm>
          <a:prstGeom prst="rect">
            <a:avLst/>
          </a:prstGeom>
        </p:spPr>
      </p:pic>
      <p:sp>
        <p:nvSpPr>
          <p:cNvPr id="315" name=""/>
          <p:cNvSpPr/>
          <p:nvPr/>
        </p:nvSpPr>
        <p:spPr>
          <a:xfrm rot="0" flipH="false" flipV="false">
            <a:off x="4241750" y="2400300"/>
            <a:ext cx="3708019" cy="1180782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316" name=""/>
          <p:cNvSpPr/>
          <p:nvPr/>
        </p:nvSpPr>
        <p:spPr>
          <a:xfrm rot="0" flipH="false" flipV="false">
            <a:off x="8102981" y="2400618"/>
            <a:ext cx="3708019" cy="1180782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317" name=""/>
          <p:cNvSpPr/>
          <p:nvPr/>
        </p:nvSpPr>
        <p:spPr>
          <a:xfrm rot="0" flipH="false" flipV="false">
            <a:off x="381480" y="3733800"/>
            <a:ext cx="3708019" cy="1371600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318" name=""/>
          <p:cNvSpPr/>
          <p:nvPr/>
        </p:nvSpPr>
        <p:spPr>
          <a:xfrm rot="0" flipH="false" flipV="false">
            <a:off x="4241750" y="3733800"/>
            <a:ext cx="3708019" cy="1371600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sp>
        <p:nvSpPr>
          <p:cNvPr id="319" name=""/>
          <p:cNvSpPr/>
          <p:nvPr/>
        </p:nvSpPr>
        <p:spPr>
          <a:xfrm rot="0" flipH="false" flipV="false">
            <a:off x="8102981" y="3733800"/>
            <a:ext cx="3708019" cy="1371600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pic>
        <p:nvPicPr>
          <p:cNvPr id="320" name="Image 21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5257800"/>
            <a:ext cx="11430000" cy="990600"/>
          </a:xfrm>
          <a:prstGeom prst="rect">
            <a:avLst/>
          </a:prstGeom>
        </p:spPr>
      </p:pic>
      <p:sp>
        <p:nvSpPr>
          <p:cNvPr id="321" name=""/>
          <p:cNvSpPr/>
          <p:nvPr/>
        </p:nvSpPr>
        <p:spPr>
          <a:xfrm rot="0" flipH="false" flipV="false">
            <a:off x="380925" y="5257800"/>
            <a:ext cx="11430000" cy="990028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pic>
        <p:nvPicPr>
          <p:cNvPr id="322" name="Image 3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400300"/>
            <a:ext cx="3708350" cy="1181100"/>
          </a:xfrm>
          <a:prstGeom prst="rect">
            <a:avLst/>
          </a:prstGeom>
        </p:spPr>
      </p:pic>
      <p:sp>
        <p:nvSpPr>
          <p:cNvPr id="323" name=""/>
          <p:cNvSpPr/>
          <p:nvPr/>
        </p:nvSpPr>
        <p:spPr>
          <a:xfrm rot="0" flipH="false" flipV="false">
            <a:off x="381480" y="2400300"/>
            <a:ext cx="3708019" cy="1180782"/>
          </a:xfrm>
          <a:prstGeom prst="roundRect">
            <a:avLst>
              <a:gd name="adj" fmla="val 4149"/>
            </a:avLst>
          </a:prstGeom>
          <a:solidFill>
            <a:srgbClr val="E5F6FF">
              <a:alpha val="100000"/>
            </a:srgbClr>
          </a:solidFill>
          <a:ln w="0"/>
        </p:spPr>
        <p:txBody>
          <a:bodyPr anchor="ctr"/>
          <a:p>
            <a:pPr algn="ctr"/>
            <a:endParaRPr/>
          </a:p>
        </p:txBody>
      </p:sp>
      <p:pic>
        <p:nvPicPr>
          <p:cNvPr id="324" name="Image 2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1562100"/>
            <a:ext cx="11430000" cy="609600"/>
          </a:xfrm>
          <a:prstGeom prst="rect">
            <a:avLst/>
          </a:prstGeom>
        </p:spPr>
      </p:pic>
      <p:pic>
        <p:nvPicPr>
          <p:cNvPr id="325" name="Image 4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552700"/>
            <a:ext cx="381000" cy="381000"/>
          </a:xfrm>
          <a:prstGeom prst="rect">
            <a:avLst/>
          </a:prstGeom>
        </p:spPr>
      </p:pic>
      <p:pic>
        <p:nvPicPr>
          <p:cNvPr id="326" name="Image 5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" y="2609850"/>
            <a:ext cx="171450" cy="266700"/>
          </a:xfrm>
          <a:prstGeom prst="rect">
            <a:avLst/>
          </a:prstGeom>
        </p:spPr>
      </p:pic>
      <p:pic>
        <p:nvPicPr>
          <p:cNvPr id="327" name="Image 7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4394150" y="2552700"/>
            <a:ext cx="381000" cy="381000"/>
          </a:xfrm>
          <a:prstGeom prst="rect">
            <a:avLst/>
          </a:prstGeom>
        </p:spPr>
      </p:pic>
      <p:pic>
        <p:nvPicPr>
          <p:cNvPr id="328" name="Image 8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8450" y="2609850"/>
            <a:ext cx="152400" cy="266700"/>
          </a:xfrm>
          <a:prstGeom prst="rect">
            <a:avLst/>
          </a:prstGeom>
        </p:spPr>
      </p:pic>
      <p:pic>
        <p:nvPicPr>
          <p:cNvPr id="329" name="Image 10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4901" y="2552700"/>
            <a:ext cx="381000" cy="381000"/>
          </a:xfrm>
          <a:prstGeom prst="rect">
            <a:avLst/>
          </a:prstGeom>
        </p:spPr>
      </p:pic>
      <p:pic>
        <p:nvPicPr>
          <p:cNvPr id="330" name="Image 11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9676" y="2609850"/>
            <a:ext cx="171450" cy="266700"/>
          </a:xfrm>
          <a:prstGeom prst="rect">
            <a:avLst/>
          </a:prstGeom>
        </p:spPr>
      </p:pic>
      <p:pic>
        <p:nvPicPr>
          <p:cNvPr id="331" name="Image 13" descr="preencoded.png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3886200"/>
            <a:ext cx="381000" cy="381000"/>
          </a:xfrm>
          <a:prstGeom prst="rect">
            <a:avLst/>
          </a:prstGeom>
        </p:spPr>
      </p:pic>
      <p:pic>
        <p:nvPicPr>
          <p:cNvPr id="332" name="Image 14" descr="preencoded.png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175" y="3943350"/>
            <a:ext cx="171450" cy="266700"/>
          </a:xfrm>
          <a:prstGeom prst="rect">
            <a:avLst/>
          </a:prstGeom>
        </p:spPr>
      </p:pic>
      <p:pic>
        <p:nvPicPr>
          <p:cNvPr id="333" name="Image 16" descr="preencoded.png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4394150" y="3886200"/>
            <a:ext cx="381000" cy="381000"/>
          </a:xfrm>
          <a:prstGeom prst="rect">
            <a:avLst/>
          </a:prstGeom>
        </p:spPr>
      </p:pic>
      <p:pic>
        <p:nvPicPr>
          <p:cNvPr id="334" name="Image 17" descr="preencoded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4475113" y="3943350"/>
            <a:ext cx="219075" cy="266700"/>
          </a:xfrm>
          <a:prstGeom prst="rect">
            <a:avLst/>
          </a:prstGeom>
        </p:spPr>
      </p:pic>
      <p:pic>
        <p:nvPicPr>
          <p:cNvPr id="335" name="Image 19" descr="preencoded.png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8254901" y="3886200"/>
            <a:ext cx="381000" cy="381000"/>
          </a:xfrm>
          <a:prstGeom prst="rect">
            <a:avLst/>
          </a:prstGeom>
        </p:spPr>
      </p:pic>
      <p:pic>
        <p:nvPicPr>
          <p:cNvPr id="336" name="Image 20" descr="preencoded.png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8335863" y="3943350"/>
            <a:ext cx="219075" cy="266700"/>
          </a:xfrm>
          <a:prstGeom prst="rect">
            <a:avLst/>
          </a:prstGeom>
        </p:spPr>
      </p:pic>
      <p:pic>
        <p:nvPicPr>
          <p:cNvPr id="337" name="Image 22" descr="preencoded.png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533400" y="5410200"/>
            <a:ext cx="381000" cy="381000"/>
          </a:xfrm>
          <a:prstGeom prst="rect">
            <a:avLst/>
          </a:prstGeom>
        </p:spPr>
      </p:pic>
      <p:pic>
        <p:nvPicPr>
          <p:cNvPr id="338" name="Image 23" descr="preencoded.png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638175" y="5467350"/>
            <a:ext cx="171450" cy="266700"/>
          </a:xfrm>
          <a:prstGeom prst="rect">
            <a:avLst/>
          </a:prstGeom>
        </p:spPr>
      </p:pic>
      <p:sp>
        <p:nvSpPr>
          <p:cNvPr id="339" name="Text 0"/>
          <p:cNvSpPr/>
          <p:nvPr/>
        </p:nvSpPr>
        <p:spPr>
          <a:xfrm rot="0" flipH="false" flipV="false">
            <a:off x="381000" y="104775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true" dirty="false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实施路径规划</a:t>
            </a:r>
            <a:endParaRPr lang="en-US" sz="2250" dirty="false"/>
          </a:p>
        </p:txBody>
      </p:sp>
      <p:sp>
        <p:nvSpPr>
          <p:cNvPr id="340" name="Text 1"/>
          <p:cNvSpPr/>
          <p:nvPr/>
        </p:nvSpPr>
        <p:spPr>
          <a:xfrm>
            <a:off x="381000" y="10668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本项目采用分阶段、小步快跑的策略，从试点到全面推广，确保OCAP产品在半导体工厂的平稳落地和有效运行。</a:t>
            </a:r>
            <a:endParaRPr lang="en-US" sz="1500"/>
          </a:p>
        </p:txBody>
      </p:sp>
      <p:sp>
        <p:nvSpPr>
          <p:cNvPr id="341" name="Text 2"/>
          <p:cNvSpPr/>
          <p:nvPr/>
        </p:nvSpPr>
        <p:spPr>
          <a:xfrm>
            <a:off x="1028700" y="2609850"/>
            <a:ext cx="20916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FB92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需求分析与方案设计</a:t>
            </a:r>
            <a:endParaRPr lang="en-US" sz="1350" dirty="false"/>
          </a:p>
        </p:txBody>
      </p:sp>
      <p:sp>
        <p:nvSpPr>
          <p:cNvPr id="342" name="Text 3"/>
          <p:cNvSpPr/>
          <p:nvPr/>
        </p:nvSpPr>
        <p:spPr>
          <a:xfrm>
            <a:off x="533400" y="3048000"/>
            <a:ext cx="3403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明确业务目标，选择试点范围（如超纯水系统、真空系统等），完成总体方案设计和KPI定义。</a:t>
            </a:r>
            <a:endParaRPr lang="en-US" sz="1050"/>
          </a:p>
        </p:txBody>
      </p:sp>
      <p:sp>
        <p:nvSpPr>
          <p:cNvPr id="343" name="Text 4"/>
          <p:cNvSpPr/>
          <p:nvPr/>
        </p:nvSpPr>
        <p:spPr>
          <a:xfrm>
            <a:off x="4889450" y="2609850"/>
            <a:ext cx="14744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数据基础建设</a:t>
            </a:r>
            <a:endParaRPr lang="en-US" sz="1350" dirty="false"/>
          </a:p>
        </p:txBody>
      </p:sp>
      <p:sp>
        <p:nvSpPr>
          <p:cNvPr id="344" name="Text 5"/>
          <p:cNvSpPr/>
          <p:nvPr/>
        </p:nvSpPr>
        <p:spPr>
          <a:xfrm>
            <a:off x="4394150" y="3048000"/>
            <a:ext cx="3403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检查并完善现场传感器部署，搭建SCADA系统和实时数据总线（如Kafka集群），统一数据采集标准和格式。</a:t>
            </a:r>
            <a:endParaRPr lang="en-US" sz="1050"/>
          </a:p>
        </p:txBody>
      </p:sp>
      <p:sp>
        <p:nvSpPr>
          <p:cNvPr id="345" name="Text 6"/>
          <p:cNvSpPr/>
          <p:nvPr/>
        </p:nvSpPr>
        <p:spPr>
          <a:xfrm>
            <a:off x="8750201" y="2609850"/>
            <a:ext cx="1885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4ADE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异常检测模型开发</a:t>
            </a:r>
            <a:endParaRPr lang="en-US" sz="1350" dirty="false"/>
          </a:p>
        </p:txBody>
      </p:sp>
      <p:sp>
        <p:nvSpPr>
          <p:cNvPr id="346" name="Text 7"/>
          <p:cNvSpPr/>
          <p:nvPr/>
        </p:nvSpPr>
        <p:spPr>
          <a:xfrm>
            <a:off x="8254901" y="3048000"/>
            <a:ext cx="340369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基于历史运行数据，开发并验证SPC规则和AI异常检测算法，确保检测的高及时性和准确性，减少误报和漏报。</a:t>
            </a:r>
            <a:endParaRPr lang="en-US" sz="1050"/>
          </a:p>
        </p:txBody>
      </p:sp>
      <p:sp>
        <p:nvSpPr>
          <p:cNvPr id="347" name="Text 8"/>
          <p:cNvSpPr/>
          <p:nvPr/>
        </p:nvSpPr>
        <p:spPr>
          <a:xfrm>
            <a:off x="1028700" y="3943350"/>
            <a:ext cx="18402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C084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OCAP知识库构建</a:t>
            </a:r>
            <a:endParaRPr lang="en-US" sz="1350" dirty="false"/>
          </a:p>
        </p:txBody>
      </p:sp>
      <p:sp>
        <p:nvSpPr>
          <p:cNvPr id="348" name="Text 9"/>
          <p:cNvSpPr/>
          <p:nvPr/>
        </p:nvSpPr>
        <p:spPr>
          <a:xfrm>
            <a:off x="533400" y="4381500"/>
            <a:ext cx="3403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组织资深工艺/设备工程师团队，梳理并数字化现有SOP和专家经验，将其转化为结构化的OCAP条目并导入系统。</a:t>
            </a:r>
            <a:endParaRPr lang="en-US" sz="1050"/>
          </a:p>
        </p:txBody>
      </p:sp>
      <p:sp>
        <p:nvSpPr>
          <p:cNvPr id="349" name="Text 10"/>
          <p:cNvSpPr/>
          <p:nvPr/>
        </p:nvSpPr>
        <p:spPr>
          <a:xfrm>
            <a:off x="4889450" y="3943350"/>
            <a:ext cx="16802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 系统开发与集成</a:t>
            </a:r>
            <a:endParaRPr lang="en-US" sz="1350" dirty="false"/>
          </a:p>
        </p:txBody>
      </p:sp>
      <p:sp>
        <p:nvSpPr>
          <p:cNvPr id="350" name="Text 11"/>
          <p:cNvSpPr/>
          <p:nvPr/>
        </p:nvSpPr>
        <p:spPr>
          <a:xfrm>
            <a:off x="4394150" y="4381500"/>
            <a:ext cx="34035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开发OCAP产品的各功能模块，包括用户界面、知识库管理、任务派发等，并完成与MES、EAM/CMMS、EHS等第三方系统的API接口对接。</a:t>
            </a:r>
            <a:endParaRPr lang="en-US" sz="1050"/>
          </a:p>
        </p:txBody>
      </p:sp>
      <p:sp>
        <p:nvSpPr>
          <p:cNvPr id="351" name="Text 12"/>
          <p:cNvSpPr/>
          <p:nvPr/>
        </p:nvSpPr>
        <p:spPr>
          <a:xfrm>
            <a:off x="8750201" y="3943350"/>
            <a:ext cx="16802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FACC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6. 试点部署与培训</a:t>
            </a:r>
            <a:endParaRPr lang="en-US" sz="1350" dirty="false"/>
          </a:p>
        </p:txBody>
      </p:sp>
      <p:sp>
        <p:nvSpPr>
          <p:cNvPr id="352" name="Text 13"/>
          <p:cNvSpPr/>
          <p:nvPr/>
        </p:nvSpPr>
        <p:spPr>
          <a:xfrm>
            <a:off x="8254901" y="4381500"/>
            <a:ext cx="3403699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在选定的试点区域正式部署OCAP系统并运行一段时间，组织不同角色（操作员、工程师、管理人员）的用户培训，收集反馈并进行系统调优。</a:t>
            </a:r>
            <a:endParaRPr lang="en-US" sz="1050"/>
          </a:p>
        </p:txBody>
      </p:sp>
      <p:sp>
        <p:nvSpPr>
          <p:cNvPr id="353" name="Text 14"/>
          <p:cNvSpPr/>
          <p:nvPr/>
        </p:nvSpPr>
        <p:spPr>
          <a:xfrm>
            <a:off x="1028700" y="5467350"/>
            <a:ext cx="20916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2DD4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7. 全面推广与持续优化</a:t>
            </a:r>
            <a:endParaRPr lang="en-US" sz="1350" dirty="false"/>
          </a:p>
        </p:txBody>
      </p:sp>
      <p:sp>
        <p:nvSpPr>
          <p:cNvPr id="354" name="Text 15"/>
          <p:cNvSpPr/>
          <p:nvPr/>
        </p:nvSpPr>
        <p:spPr>
          <a:xfrm>
            <a:off x="533400" y="5905500"/>
            <a:ext cx="1335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将OCAP系统推广至全厂所有关键设备和厂务系统，建立常态化的持续改进（PDCA）机制，定期评审OCAP知识库内容和AI模型性能，不断提升系统成熟度。</a:t>
            </a:r>
            <a:endParaRPr lang="en-US" sz="1050"/>
          </a:p>
        </p:txBody>
      </p:sp>
      <p:pic>
        <p:nvPicPr>
          <p:cNvPr id="355" name=""/>
          <p:cNvPicPr>
            <a:picLocks noChangeAspect="true"/>
          </p:cNvPicPr>
          <p:nvPr/>
        </p:nvPicPr>
        <p:blipFill>
          <a:blip r:embed="rId24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sp>
        <p:nvSpPr>
          <p:cNvPr id="356" name="Text 0"/>
          <p:cNvSpPr/>
          <p:nvPr/>
        </p:nvSpPr>
        <p:spPr>
          <a:xfrm rot="0" flipH="false" flipV="false">
            <a:off x="381000" y="2286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zh-CN" sz="2700" b="true">
                <a:solidFill>
                  <a:srgbClr val="FFFFFF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实施路径规划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Slide 7">
    <p:spTree>
      <p:nvGrpSpPr>
        <p:cNvPr id="3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"/>
          <p:cNvPicPr>
            <a:picLocks noChangeAspect="true"/>
          </p:cNvPicPr>
          <p:nvPr/>
        </p:nvPicPr>
        <p:blipFill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pic>
        <p:nvPicPr>
          <p:cNvPr id="359" name="Image 2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402907" y="1639161"/>
            <a:ext cx="2809875" cy="2286000"/>
          </a:xfrm>
          <a:prstGeom prst="rect">
            <a:avLst/>
          </a:prstGeom>
        </p:spPr>
      </p:pic>
      <p:pic>
        <p:nvPicPr>
          <p:cNvPr id="360" name="Image 3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555307" y="1829661"/>
            <a:ext cx="219075" cy="190500"/>
          </a:xfrm>
          <a:prstGeom prst="rect">
            <a:avLst/>
          </a:prstGeom>
        </p:spPr>
      </p:pic>
      <p:pic>
        <p:nvPicPr>
          <p:cNvPr id="361" name="Image 4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2628483" y="1810611"/>
            <a:ext cx="431899" cy="228600"/>
          </a:xfrm>
          <a:prstGeom prst="rect">
            <a:avLst/>
          </a:prstGeom>
        </p:spPr>
      </p:pic>
      <p:pic>
        <p:nvPicPr>
          <p:cNvPr id="362" name="Image 5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 flipH="false" flipV="false">
            <a:off x="555307" y="2134461"/>
            <a:ext cx="2505075" cy="304800"/>
          </a:xfrm>
          <a:prstGeom prst="rect">
            <a:avLst/>
          </a:prstGeom>
        </p:spPr>
      </p:pic>
      <p:pic>
        <p:nvPicPr>
          <p:cNvPr id="363" name="Image 6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 flipH="false" flipV="false">
            <a:off x="555307" y="2544036"/>
            <a:ext cx="133350" cy="133350"/>
          </a:xfrm>
          <a:prstGeom prst="rect">
            <a:avLst/>
          </a:prstGeom>
        </p:spPr>
      </p:pic>
      <p:pic>
        <p:nvPicPr>
          <p:cNvPr id="364" name="Image 7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 flipH="false" flipV="false">
            <a:off x="555307" y="2772636"/>
            <a:ext cx="133350" cy="133350"/>
          </a:xfrm>
          <a:prstGeom prst="rect">
            <a:avLst/>
          </a:prstGeom>
        </p:spPr>
      </p:pic>
      <p:pic>
        <p:nvPicPr>
          <p:cNvPr id="365" name="Image 8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 flipH="false" flipV="false">
            <a:off x="555307" y="3001236"/>
            <a:ext cx="133350" cy="133350"/>
          </a:xfrm>
          <a:prstGeom prst="rect">
            <a:avLst/>
          </a:prstGeom>
        </p:spPr>
      </p:pic>
      <p:pic>
        <p:nvPicPr>
          <p:cNvPr id="366" name="Image 9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 flipH="false" flipV="false">
            <a:off x="555307" y="3229836"/>
            <a:ext cx="133350" cy="133350"/>
          </a:xfrm>
          <a:prstGeom prst="rect">
            <a:avLst/>
          </a:prstGeom>
        </p:spPr>
      </p:pic>
      <p:pic>
        <p:nvPicPr>
          <p:cNvPr id="367" name="Image 10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 flipH="false" flipV="false">
            <a:off x="555307" y="3506061"/>
            <a:ext cx="2505075" cy="266700"/>
          </a:xfrm>
          <a:prstGeom prst="rect">
            <a:avLst/>
          </a:prstGeom>
        </p:spPr>
      </p:pic>
      <p:pic>
        <p:nvPicPr>
          <p:cNvPr id="368" name="Image 11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 flipH="false" flipV="false">
            <a:off x="1388745" y="3572736"/>
            <a:ext cx="133350" cy="133350"/>
          </a:xfrm>
          <a:prstGeom prst="rect">
            <a:avLst/>
          </a:prstGeom>
        </p:spPr>
      </p:pic>
      <p:pic>
        <p:nvPicPr>
          <p:cNvPr id="369" name="Image 12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 flipH="false" flipV="false">
            <a:off x="3327082" y="1639161"/>
            <a:ext cx="2809875" cy="2286000"/>
          </a:xfrm>
          <a:prstGeom prst="rect">
            <a:avLst/>
          </a:prstGeom>
        </p:spPr>
      </p:pic>
      <p:pic>
        <p:nvPicPr>
          <p:cNvPr id="370" name="Image 13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 flipH="false" flipV="false">
            <a:off x="3479482" y="1829661"/>
            <a:ext cx="190500" cy="190500"/>
          </a:xfrm>
          <a:prstGeom prst="rect">
            <a:avLst/>
          </a:prstGeom>
        </p:spPr>
      </p:pic>
      <p:pic>
        <p:nvPicPr>
          <p:cNvPr id="371" name="Image 14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 flipH="false" flipV="false">
            <a:off x="5552658" y="1810611"/>
            <a:ext cx="431899" cy="228600"/>
          </a:xfrm>
          <a:prstGeom prst="rect">
            <a:avLst/>
          </a:prstGeom>
        </p:spPr>
      </p:pic>
      <p:pic>
        <p:nvPicPr>
          <p:cNvPr id="372" name="Image 15" descr="preencoded.png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 flipH="false" flipV="false">
            <a:off x="3479482" y="2134461"/>
            <a:ext cx="2505075" cy="304800"/>
          </a:xfrm>
          <a:prstGeom prst="rect">
            <a:avLst/>
          </a:prstGeom>
        </p:spPr>
      </p:pic>
      <p:pic>
        <p:nvPicPr>
          <p:cNvPr id="373" name="Image 16" descr="preencoded.png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 flipH="false" flipV="false">
            <a:off x="3479482" y="2544036"/>
            <a:ext cx="133350" cy="133350"/>
          </a:xfrm>
          <a:prstGeom prst="rect">
            <a:avLst/>
          </a:prstGeom>
        </p:spPr>
      </p:pic>
      <p:pic>
        <p:nvPicPr>
          <p:cNvPr id="374" name="Image 17" descr="preencoded.png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 flipH="false" flipV="false">
            <a:off x="3479482" y="2772636"/>
            <a:ext cx="133350" cy="133350"/>
          </a:xfrm>
          <a:prstGeom prst="rect">
            <a:avLst/>
          </a:prstGeom>
        </p:spPr>
      </p:pic>
      <p:pic>
        <p:nvPicPr>
          <p:cNvPr id="375" name="Image 18" descr="preencoded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 flipH="false" flipV="false">
            <a:off x="3479482" y="3001236"/>
            <a:ext cx="133350" cy="133350"/>
          </a:xfrm>
          <a:prstGeom prst="rect">
            <a:avLst/>
          </a:prstGeom>
        </p:spPr>
      </p:pic>
      <p:pic>
        <p:nvPicPr>
          <p:cNvPr id="376" name="Image 19" descr="preencoded.png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 flipH="false" flipV="false">
            <a:off x="3479482" y="3229836"/>
            <a:ext cx="133350" cy="133350"/>
          </a:xfrm>
          <a:prstGeom prst="rect">
            <a:avLst/>
          </a:prstGeom>
        </p:spPr>
      </p:pic>
      <p:pic>
        <p:nvPicPr>
          <p:cNvPr id="377" name="Image 20" descr="preencoded.png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 flipH="false" flipV="false">
            <a:off x="3479482" y="3506061"/>
            <a:ext cx="2505075" cy="266700"/>
          </a:xfrm>
          <a:prstGeom prst="rect">
            <a:avLst/>
          </a:prstGeom>
        </p:spPr>
      </p:pic>
      <p:pic>
        <p:nvPicPr>
          <p:cNvPr id="378" name="Image 21" descr="preencoded.png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 flipH="false" flipV="false">
            <a:off x="4179570" y="3572736"/>
            <a:ext cx="133350" cy="133350"/>
          </a:xfrm>
          <a:prstGeom prst="rect">
            <a:avLst/>
          </a:prstGeom>
        </p:spPr>
      </p:pic>
      <p:pic>
        <p:nvPicPr>
          <p:cNvPr id="379" name="Image 22" descr="preencoded.png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 flipH="false" flipV="false">
            <a:off x="6251257" y="1639161"/>
            <a:ext cx="2809875" cy="2286000"/>
          </a:xfrm>
          <a:prstGeom prst="rect">
            <a:avLst/>
          </a:prstGeom>
        </p:spPr>
      </p:pic>
      <p:pic>
        <p:nvPicPr>
          <p:cNvPr id="380" name="Image 23" descr="preencoded.png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 flipH="false" flipV="false">
            <a:off x="6403657" y="1829661"/>
            <a:ext cx="142875" cy="190500"/>
          </a:xfrm>
          <a:prstGeom prst="rect">
            <a:avLst/>
          </a:prstGeom>
        </p:spPr>
      </p:pic>
      <p:pic>
        <p:nvPicPr>
          <p:cNvPr id="381" name="Image 24" descr="preencoded.png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 flipH="false" flipV="false">
            <a:off x="8413134" y="1810611"/>
            <a:ext cx="495598" cy="228600"/>
          </a:xfrm>
          <a:prstGeom prst="rect">
            <a:avLst/>
          </a:prstGeom>
        </p:spPr>
      </p:pic>
      <p:pic>
        <p:nvPicPr>
          <p:cNvPr id="382" name="Image 25" descr="preencoded.png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 flipH="false" flipV="false">
            <a:off x="6403657" y="2134461"/>
            <a:ext cx="2505075" cy="304800"/>
          </a:xfrm>
          <a:prstGeom prst="rect">
            <a:avLst/>
          </a:prstGeom>
        </p:spPr>
      </p:pic>
      <p:pic>
        <p:nvPicPr>
          <p:cNvPr id="383" name="Image 26" descr="preencoded.png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 flipH="false" flipV="false">
            <a:off x="6403657" y="2544036"/>
            <a:ext cx="133350" cy="133350"/>
          </a:xfrm>
          <a:prstGeom prst="rect">
            <a:avLst/>
          </a:prstGeom>
        </p:spPr>
      </p:pic>
      <p:pic>
        <p:nvPicPr>
          <p:cNvPr id="384" name="Image 27" descr="preencoded.png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 flipH="false" flipV="false">
            <a:off x="6403657" y="2772636"/>
            <a:ext cx="133350" cy="133350"/>
          </a:xfrm>
          <a:prstGeom prst="rect">
            <a:avLst/>
          </a:prstGeom>
        </p:spPr>
      </p:pic>
      <p:pic>
        <p:nvPicPr>
          <p:cNvPr id="385" name="Image 28" descr="preencoded.png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 flipH="false" flipV="false">
            <a:off x="6403657" y="3001236"/>
            <a:ext cx="133350" cy="133350"/>
          </a:xfrm>
          <a:prstGeom prst="rect">
            <a:avLst/>
          </a:prstGeom>
        </p:spPr>
      </p:pic>
      <p:pic>
        <p:nvPicPr>
          <p:cNvPr id="386" name="Image 29" descr="preencoded.png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 flipH="false" flipV="false">
            <a:off x="6403657" y="3229836"/>
            <a:ext cx="133350" cy="133350"/>
          </a:xfrm>
          <a:prstGeom prst="rect">
            <a:avLst/>
          </a:prstGeom>
        </p:spPr>
      </p:pic>
      <p:pic>
        <p:nvPicPr>
          <p:cNvPr id="387" name="Image 30" descr="preencoded.png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 flipH="false" flipV="false">
            <a:off x="6403657" y="3506061"/>
            <a:ext cx="2505075" cy="266700"/>
          </a:xfrm>
          <a:prstGeom prst="rect">
            <a:avLst/>
          </a:prstGeom>
        </p:spPr>
      </p:pic>
      <p:pic>
        <p:nvPicPr>
          <p:cNvPr id="388" name="Image 31" descr="preencoded.png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 flipH="false" flipV="false">
            <a:off x="7170420" y="3572736"/>
            <a:ext cx="133350" cy="133350"/>
          </a:xfrm>
          <a:prstGeom prst="rect">
            <a:avLst/>
          </a:prstGeom>
        </p:spPr>
      </p:pic>
      <p:pic>
        <p:nvPicPr>
          <p:cNvPr id="389" name="Image 32" descr="preencoded.png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 flipH="false" flipV="false">
            <a:off x="9175432" y="1639161"/>
            <a:ext cx="2809875" cy="2286000"/>
          </a:xfrm>
          <a:prstGeom prst="rect">
            <a:avLst/>
          </a:prstGeom>
        </p:spPr>
      </p:pic>
      <p:pic>
        <p:nvPicPr>
          <p:cNvPr id="390" name="Image 33" descr="preencoded.png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 flipH="false" flipV="false">
            <a:off x="9327832" y="1829661"/>
            <a:ext cx="219075" cy="190500"/>
          </a:xfrm>
          <a:prstGeom prst="rect">
            <a:avLst/>
          </a:prstGeom>
        </p:spPr>
      </p:pic>
      <p:pic>
        <p:nvPicPr>
          <p:cNvPr id="391" name="Image 34" descr="preencoded.png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 flipH="false" flipV="false">
            <a:off x="11372284" y="1810611"/>
            <a:ext cx="460623" cy="228600"/>
          </a:xfrm>
          <a:prstGeom prst="rect">
            <a:avLst/>
          </a:prstGeom>
        </p:spPr>
      </p:pic>
      <p:pic>
        <p:nvPicPr>
          <p:cNvPr id="392" name="Image 35" descr="preencoded.png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 flipH="false" flipV="false">
            <a:off x="9327832" y="2134461"/>
            <a:ext cx="2505075" cy="304800"/>
          </a:xfrm>
          <a:prstGeom prst="rect">
            <a:avLst/>
          </a:prstGeom>
        </p:spPr>
      </p:pic>
      <p:pic>
        <p:nvPicPr>
          <p:cNvPr id="393" name="Image 36" descr="preencoded.png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 flipH="false" flipV="false">
            <a:off x="9327832" y="2544036"/>
            <a:ext cx="133350" cy="133350"/>
          </a:xfrm>
          <a:prstGeom prst="rect">
            <a:avLst/>
          </a:prstGeom>
        </p:spPr>
      </p:pic>
      <p:pic>
        <p:nvPicPr>
          <p:cNvPr id="394" name="Image 37" descr="preencoded.png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 flipH="false" flipV="false">
            <a:off x="9327832" y="2772636"/>
            <a:ext cx="133350" cy="133350"/>
          </a:xfrm>
          <a:prstGeom prst="rect">
            <a:avLst/>
          </a:prstGeom>
        </p:spPr>
      </p:pic>
      <p:pic>
        <p:nvPicPr>
          <p:cNvPr id="395" name="Image 38" descr="preencoded.png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 flipH="false" flipV="false">
            <a:off x="9327832" y="3001236"/>
            <a:ext cx="133350" cy="133350"/>
          </a:xfrm>
          <a:prstGeom prst="rect">
            <a:avLst/>
          </a:prstGeom>
        </p:spPr>
      </p:pic>
      <p:pic>
        <p:nvPicPr>
          <p:cNvPr id="396" name="Image 39" descr="preencoded.png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 flipH="false" flipV="false">
            <a:off x="9327832" y="3229836"/>
            <a:ext cx="133350" cy="133350"/>
          </a:xfrm>
          <a:prstGeom prst="rect">
            <a:avLst/>
          </a:prstGeom>
        </p:spPr>
      </p:pic>
      <p:pic>
        <p:nvPicPr>
          <p:cNvPr id="397" name="Image 40" descr="preencoded.png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 flipH="false" flipV="false">
            <a:off x="9327832" y="3506061"/>
            <a:ext cx="2505075" cy="266700"/>
          </a:xfrm>
          <a:prstGeom prst="rect">
            <a:avLst/>
          </a:prstGeom>
        </p:spPr>
      </p:pic>
      <p:pic>
        <p:nvPicPr>
          <p:cNvPr id="398" name="Image 41" descr="preencoded.png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 flipH="false" flipV="false">
            <a:off x="10027920" y="3572736"/>
            <a:ext cx="133350" cy="133350"/>
          </a:xfrm>
          <a:prstGeom prst="rect">
            <a:avLst/>
          </a:prstGeom>
        </p:spPr>
      </p:pic>
      <p:pic>
        <p:nvPicPr>
          <p:cNvPr id="399" name="Image 42" descr="preencoded.png"/>
          <p:cNvPicPr>
            <a:picLocks noChangeAspect="true"/>
          </p:cNvPicPr>
          <p:nvPr/>
        </p:nvPicPr>
        <p:blipFill>
          <a:blip r:embed="rId43">
            <a:alphaModFix amt="50000"/>
          </a:blip>
          <a:stretch>
            <a:fillRect/>
          </a:stretch>
        </p:blipFill>
        <p:spPr>
          <a:xfrm rot="0" flipH="false" flipV="false">
            <a:off x="300335" y="4796678"/>
            <a:ext cx="11582400" cy="1143000"/>
          </a:xfrm>
          <a:prstGeom prst="rect">
            <a:avLst/>
          </a:prstGeom>
          <a:solidFill>
            <a:srgbClr val="C7ECFF">
              <a:alpha val="100000"/>
            </a:srgbClr>
          </a:solidFill>
        </p:spPr>
      </p:pic>
      <p:pic>
        <p:nvPicPr>
          <p:cNvPr id="400" name="Image 43" descr="preencoded.png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 flipH="false" flipV="false">
            <a:off x="452735" y="4987178"/>
            <a:ext cx="171450" cy="190500"/>
          </a:xfrm>
          <a:prstGeom prst="rect">
            <a:avLst/>
          </a:prstGeom>
        </p:spPr>
      </p:pic>
      <p:pic>
        <p:nvPicPr>
          <p:cNvPr id="401" name="Image 44" descr="preencoded.png"/>
          <p:cNvPicPr>
            <a:picLocks noChangeAspect="true"/>
          </p:cNvPicPr>
          <p:nvPr/>
        </p:nvPicPr>
        <p:blipFill>
          <a:blip r:embed="rId45">
            <a:alphaModFix amt="50000"/>
          </a:blip>
          <a:stretch>
            <a:fillRect/>
          </a:stretch>
        </p:blipFill>
        <p:spPr>
          <a:xfrm rot="0" flipH="false" flipV="false">
            <a:off x="1580555" y="5291978"/>
            <a:ext cx="9021961" cy="495300"/>
          </a:xfrm>
          <a:prstGeom prst="rect">
            <a:avLst/>
          </a:prstGeom>
          <a:solidFill>
            <a:srgbClr val="d8e4e5">
              <a:alpha val="100000"/>
            </a:srgbClr>
          </a:solidFill>
        </p:spPr>
      </p:pic>
      <p:sp>
        <p:nvSpPr>
          <p:cNvPr id="402" name="Text 1"/>
          <p:cNvSpPr/>
          <p:nvPr/>
        </p:nvSpPr>
        <p:spPr>
          <a:xfrm rot="0" flipH="false" flipV="false">
            <a:off x="850582" y="1791561"/>
            <a:ext cx="16627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阶段1：MVP</a:t>
            </a:r>
            <a:endParaRPr lang="en-US" sz="1500" dirty="false"/>
          </a:p>
        </p:txBody>
      </p:sp>
      <p:sp>
        <p:nvSpPr>
          <p:cNvPr id="403" name="Text 2"/>
          <p:cNvSpPr/>
          <p:nvPr/>
        </p:nvSpPr>
        <p:spPr>
          <a:xfrm rot="0" flipH="false" flipV="false">
            <a:off x="2704683" y="1848711"/>
            <a:ext cx="5182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true" dirty="false">
                <a:solidFill>
                  <a:srgbClr val="15803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0-2月</a:t>
            </a:r>
            <a:endParaRPr lang="en-US" sz="900" dirty="false"/>
          </a:p>
        </p:txBody>
      </p:sp>
      <p:sp>
        <p:nvSpPr>
          <p:cNvPr id="404" name="Text 3"/>
          <p:cNvSpPr/>
          <p:nvPr/>
        </p:nvSpPr>
        <p:spPr>
          <a:xfrm rot="0" flipH="false" flipV="false">
            <a:off x="304800" y="2134461"/>
            <a:ext cx="30060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目标：可跑通闭环、报警可信</a:t>
            </a:r>
            <a:endParaRPr lang="en-US" sz="1200" dirty="false"/>
          </a:p>
        </p:txBody>
      </p:sp>
      <p:sp>
        <p:nvSpPr>
          <p:cNvPr id="405" name="Text 4"/>
          <p:cNvSpPr/>
          <p:nvPr/>
        </p:nvSpPr>
        <p:spPr>
          <a:xfrm rot="0" flipH="false" flipV="false">
            <a:off x="536257" y="25154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控制图+判异规则</a:t>
            </a:r>
            <a:endParaRPr lang="en-US" sz="1050" dirty="false"/>
          </a:p>
        </p:txBody>
      </p:sp>
      <p:sp>
        <p:nvSpPr>
          <p:cNvPr id="406" name="Text 5"/>
          <p:cNvSpPr/>
          <p:nvPr/>
        </p:nvSpPr>
        <p:spPr>
          <a:xfrm rot="0" flipH="false" flipV="false">
            <a:off x="536257" y="27440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动态OCAP表单</a:t>
            </a:r>
            <a:endParaRPr lang="en-US" sz="1050" dirty="false"/>
          </a:p>
        </p:txBody>
      </p:sp>
      <p:sp>
        <p:nvSpPr>
          <p:cNvPr id="407" name="Text 6"/>
          <p:cNvSpPr/>
          <p:nvPr/>
        </p:nvSpPr>
        <p:spPr>
          <a:xfrm rot="0" flipH="false" flipV="false">
            <a:off x="536257" y="29726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BPM工单闭环</a:t>
            </a:r>
            <a:endParaRPr lang="en-US" sz="1050" dirty="false"/>
          </a:p>
        </p:txBody>
      </p:sp>
      <p:sp>
        <p:nvSpPr>
          <p:cNvPr id="408" name="Text 7"/>
          <p:cNvSpPr/>
          <p:nvPr/>
        </p:nvSpPr>
        <p:spPr>
          <a:xfrm rot="0" flipH="false" flipV="false">
            <a:off x="536257" y="32012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实时监控+异常追踪</a:t>
            </a:r>
            <a:endParaRPr lang="en-US" sz="1050" dirty="false"/>
          </a:p>
        </p:txBody>
      </p:sp>
      <p:sp>
        <p:nvSpPr>
          <p:cNvPr id="409" name="Text 8"/>
          <p:cNvSpPr/>
          <p:nvPr/>
        </p:nvSpPr>
        <p:spPr>
          <a:xfrm rot="0" flipH="false" flipV="false">
            <a:off x="1560195" y="3537811"/>
            <a:ext cx="2505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true" dirty="false">
                <a:solidFill>
                  <a:srgbClr val="15803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交付：可用</a:t>
            </a:r>
            <a:endParaRPr lang="en-US" sz="1050" dirty="false"/>
          </a:p>
        </p:txBody>
      </p:sp>
      <p:sp>
        <p:nvSpPr>
          <p:cNvPr id="410" name="Text 9"/>
          <p:cNvSpPr/>
          <p:nvPr/>
        </p:nvSpPr>
        <p:spPr>
          <a:xfrm rot="0" flipH="false" flipV="false">
            <a:off x="3746182" y="1791561"/>
            <a:ext cx="18187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阶段2：AI辅助</a:t>
            </a:r>
            <a:endParaRPr lang="en-US" sz="1500" dirty="false"/>
          </a:p>
        </p:txBody>
      </p:sp>
      <p:sp>
        <p:nvSpPr>
          <p:cNvPr id="411" name="Text 10"/>
          <p:cNvSpPr/>
          <p:nvPr/>
        </p:nvSpPr>
        <p:spPr>
          <a:xfrm rot="0" flipH="false" flipV="false">
            <a:off x="5628858" y="1848711"/>
            <a:ext cx="5182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true" dirty="false">
                <a:solidFill>
                  <a:srgbClr val="1D4ED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2-6月</a:t>
            </a:r>
            <a:endParaRPr lang="en-US" sz="900" dirty="false"/>
          </a:p>
        </p:txBody>
      </p:sp>
      <p:sp>
        <p:nvSpPr>
          <p:cNvPr id="412" name="Text 11"/>
          <p:cNvSpPr/>
          <p:nvPr/>
        </p:nvSpPr>
        <p:spPr>
          <a:xfrm rot="0" flipH="false" flipV="false">
            <a:off x="3228975" y="2134461"/>
            <a:ext cx="30060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目标：智能辅助决策</a:t>
            </a:r>
            <a:endParaRPr lang="en-US" sz="1200" dirty="false"/>
          </a:p>
        </p:txBody>
      </p:sp>
      <p:sp>
        <p:nvSpPr>
          <p:cNvPr id="413" name="Text 12"/>
          <p:cNvSpPr/>
          <p:nvPr/>
        </p:nvSpPr>
        <p:spPr>
          <a:xfrm rot="0" flipH="false" flipV="false">
            <a:off x="3460432" y="25154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多变量趋势预测</a:t>
            </a:r>
            <a:endParaRPr lang="en-US" sz="1050" dirty="false"/>
          </a:p>
        </p:txBody>
      </p:sp>
      <p:sp>
        <p:nvSpPr>
          <p:cNvPr id="414" name="Text 13"/>
          <p:cNvSpPr/>
          <p:nvPr/>
        </p:nvSpPr>
        <p:spPr>
          <a:xfrm rot="0" flipH="false" flipV="false">
            <a:off x="3460432" y="27440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异常聚类</a:t>
            </a:r>
            <a:endParaRPr lang="en-US" sz="1050" dirty="false"/>
          </a:p>
        </p:txBody>
      </p:sp>
      <p:sp>
        <p:nvSpPr>
          <p:cNvPr id="415" name="Text 14"/>
          <p:cNvSpPr/>
          <p:nvPr/>
        </p:nvSpPr>
        <p:spPr>
          <a:xfrm rot="0" flipH="false" flipV="false">
            <a:off x="3460432" y="29726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SOP推荐</a:t>
            </a:r>
            <a:endParaRPr lang="en-US" sz="1050" dirty="false"/>
          </a:p>
        </p:txBody>
      </p:sp>
      <p:sp>
        <p:nvSpPr>
          <p:cNvPr id="416" name="Text 15"/>
          <p:cNvSpPr/>
          <p:nvPr/>
        </p:nvSpPr>
        <p:spPr>
          <a:xfrm rot="0" flipH="false" flipV="false">
            <a:off x="3460432" y="32012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移动端执行闭环</a:t>
            </a:r>
            <a:endParaRPr lang="en-US" sz="1050" dirty="false"/>
          </a:p>
        </p:txBody>
      </p:sp>
      <p:sp>
        <p:nvSpPr>
          <p:cNvPr id="417" name="Text 16"/>
          <p:cNvSpPr/>
          <p:nvPr/>
        </p:nvSpPr>
        <p:spPr>
          <a:xfrm rot="0" flipH="false" flipV="false">
            <a:off x="4351020" y="3544161"/>
            <a:ext cx="2505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true" dirty="false">
                <a:solidFill>
                  <a:srgbClr val="1D4ED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交付：辅助驾驶</a:t>
            </a:r>
            <a:endParaRPr lang="en-US" sz="1050" dirty="false"/>
          </a:p>
        </p:txBody>
      </p:sp>
      <p:sp>
        <p:nvSpPr>
          <p:cNvPr id="418" name="Text 17"/>
          <p:cNvSpPr/>
          <p:nvPr/>
        </p:nvSpPr>
        <p:spPr>
          <a:xfrm rot="0" flipH="false" flipV="false">
            <a:off x="6622732" y="1791561"/>
            <a:ext cx="17616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阶段3：自学习</a:t>
            </a:r>
            <a:endParaRPr lang="en-US" sz="1500" dirty="false"/>
          </a:p>
        </p:txBody>
      </p:sp>
      <p:sp>
        <p:nvSpPr>
          <p:cNvPr id="419" name="Text 18"/>
          <p:cNvSpPr/>
          <p:nvPr/>
        </p:nvSpPr>
        <p:spPr>
          <a:xfrm rot="0" flipH="false" flipV="false">
            <a:off x="8489334" y="1848711"/>
            <a:ext cx="5947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true" dirty="false">
                <a:solidFill>
                  <a:srgbClr val="A1620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6-12月</a:t>
            </a:r>
            <a:endParaRPr lang="en-US" sz="900" dirty="false"/>
          </a:p>
        </p:txBody>
      </p:sp>
      <p:sp>
        <p:nvSpPr>
          <p:cNvPr id="420" name="Text 19"/>
          <p:cNvSpPr/>
          <p:nvPr/>
        </p:nvSpPr>
        <p:spPr>
          <a:xfrm rot="0" flipH="false" flipV="false">
            <a:off x="6153150" y="2134461"/>
            <a:ext cx="30060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目标：智能闭环，自进化</a:t>
            </a:r>
            <a:endParaRPr lang="en-US" sz="1200" dirty="false"/>
          </a:p>
        </p:txBody>
      </p:sp>
      <p:sp>
        <p:nvSpPr>
          <p:cNvPr id="421" name="Text 20"/>
          <p:cNvSpPr/>
          <p:nvPr/>
        </p:nvSpPr>
        <p:spPr>
          <a:xfrm rot="0" flipH="false" flipV="false">
            <a:off x="6384607" y="25154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根因推荐模型</a:t>
            </a:r>
            <a:endParaRPr lang="en-US" sz="1050" dirty="false"/>
          </a:p>
        </p:txBody>
      </p:sp>
      <p:sp>
        <p:nvSpPr>
          <p:cNvPr id="422" name="Text 21"/>
          <p:cNvSpPr/>
          <p:nvPr/>
        </p:nvSpPr>
        <p:spPr>
          <a:xfrm rot="0" flipH="false" flipV="false">
            <a:off x="6384607" y="27440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执行效果学习</a:t>
            </a:r>
            <a:endParaRPr lang="en-US" sz="1050" dirty="false"/>
          </a:p>
        </p:txBody>
      </p:sp>
      <p:sp>
        <p:nvSpPr>
          <p:cNvPr id="423" name="Text 22"/>
          <p:cNvSpPr/>
          <p:nvPr/>
        </p:nvSpPr>
        <p:spPr>
          <a:xfrm rot="0" flipH="false" flipV="false">
            <a:off x="6384607" y="29726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重复异常抑制</a:t>
            </a:r>
            <a:endParaRPr lang="en-US" sz="1050" dirty="false"/>
          </a:p>
        </p:txBody>
      </p:sp>
      <p:sp>
        <p:nvSpPr>
          <p:cNvPr id="424" name="Text 23"/>
          <p:cNvSpPr/>
          <p:nvPr/>
        </p:nvSpPr>
        <p:spPr>
          <a:xfrm rot="0" flipH="false" flipV="false">
            <a:off x="6384607" y="32012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自适应阈值策略</a:t>
            </a:r>
            <a:endParaRPr lang="en-US" sz="1050" dirty="false"/>
          </a:p>
        </p:txBody>
      </p:sp>
      <p:sp>
        <p:nvSpPr>
          <p:cNvPr id="425" name="Text 24"/>
          <p:cNvSpPr/>
          <p:nvPr/>
        </p:nvSpPr>
        <p:spPr>
          <a:xfrm rot="0" flipH="false" flipV="false">
            <a:off x="7341870" y="3531461"/>
            <a:ext cx="2505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true" dirty="false">
                <a:solidFill>
                  <a:srgbClr val="A1620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交付：自优化</a:t>
            </a:r>
            <a:endParaRPr lang="en-US" sz="1050" dirty="false"/>
          </a:p>
        </p:txBody>
      </p:sp>
      <p:sp>
        <p:nvSpPr>
          <p:cNvPr id="426" name="Text 25"/>
          <p:cNvSpPr/>
          <p:nvPr/>
        </p:nvSpPr>
        <p:spPr>
          <a:xfrm rot="0" flipH="false" flipV="false">
            <a:off x="9623107" y="1791561"/>
            <a:ext cx="18530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阶段4：成熟期</a:t>
            </a:r>
            <a:endParaRPr lang="en-US" sz="1500" dirty="false"/>
          </a:p>
        </p:txBody>
      </p:sp>
      <p:sp>
        <p:nvSpPr>
          <p:cNvPr id="427" name="Text 26"/>
          <p:cNvSpPr/>
          <p:nvPr/>
        </p:nvSpPr>
        <p:spPr>
          <a:xfrm rot="0" flipH="false" flipV="false">
            <a:off x="11448484" y="1848711"/>
            <a:ext cx="5527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true" dirty="false">
                <a:solidFill>
                  <a:srgbClr val="B91C1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12+月</a:t>
            </a:r>
            <a:endParaRPr lang="en-US" sz="900" dirty="false"/>
          </a:p>
        </p:txBody>
      </p:sp>
      <p:sp>
        <p:nvSpPr>
          <p:cNvPr id="428" name="Text 27"/>
          <p:cNvSpPr/>
          <p:nvPr/>
        </p:nvSpPr>
        <p:spPr>
          <a:xfrm rot="0" flipH="false" flipV="false">
            <a:off x="9077325" y="2134461"/>
            <a:ext cx="30060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目标：智慧厂务大脑</a:t>
            </a:r>
            <a:endParaRPr lang="en-US" sz="1200" dirty="false"/>
          </a:p>
        </p:txBody>
      </p:sp>
      <p:sp>
        <p:nvSpPr>
          <p:cNvPr id="429" name="Text 28"/>
          <p:cNvSpPr/>
          <p:nvPr/>
        </p:nvSpPr>
        <p:spPr>
          <a:xfrm rot="0" flipH="false" flipV="false">
            <a:off x="9308782" y="25154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多系统联动</a:t>
            </a:r>
            <a:endParaRPr lang="en-US" sz="1050" dirty="false"/>
          </a:p>
        </p:txBody>
      </p:sp>
      <p:sp>
        <p:nvSpPr>
          <p:cNvPr id="430" name="Text 29"/>
          <p:cNvSpPr/>
          <p:nvPr/>
        </p:nvSpPr>
        <p:spPr>
          <a:xfrm rot="0" flipH="false" flipV="false">
            <a:off x="9308782" y="27440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拓扑因果链分析</a:t>
            </a:r>
            <a:endParaRPr lang="en-US" sz="1050" dirty="false"/>
          </a:p>
        </p:txBody>
      </p:sp>
      <p:sp>
        <p:nvSpPr>
          <p:cNvPr id="431" name="Text 30"/>
          <p:cNvSpPr/>
          <p:nvPr/>
        </p:nvSpPr>
        <p:spPr>
          <a:xfrm rot="0" flipH="false" flipV="false">
            <a:off x="9308782" y="29726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智能维护策略</a:t>
            </a:r>
            <a:endParaRPr lang="en-US" sz="1050" dirty="false"/>
          </a:p>
        </p:txBody>
      </p:sp>
      <p:sp>
        <p:nvSpPr>
          <p:cNvPr id="432" name="Text 31"/>
          <p:cNvSpPr/>
          <p:nvPr/>
        </p:nvSpPr>
        <p:spPr>
          <a:xfrm rot="0" flipH="false" flipV="false">
            <a:off x="9308782" y="3201261"/>
            <a:ext cx="2695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持续AI优化</a:t>
            </a:r>
            <a:endParaRPr lang="en-US" sz="1050" dirty="false"/>
          </a:p>
        </p:txBody>
      </p:sp>
      <p:sp>
        <p:nvSpPr>
          <p:cNvPr id="433" name="Text 32"/>
          <p:cNvSpPr/>
          <p:nvPr/>
        </p:nvSpPr>
        <p:spPr>
          <a:xfrm rot="0" flipH="false" flipV="false">
            <a:off x="10199370" y="3537811"/>
            <a:ext cx="2505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true" dirty="false">
                <a:solidFill>
                  <a:srgbClr val="B91C1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交付：自主守护</a:t>
            </a:r>
            <a:endParaRPr lang="en-US" sz="1050" dirty="false"/>
          </a:p>
        </p:txBody>
      </p:sp>
      <p:sp>
        <p:nvSpPr>
          <p:cNvPr id="434" name="Text 33"/>
          <p:cNvSpPr/>
          <p:nvPr/>
        </p:nvSpPr>
        <p:spPr>
          <a:xfrm rot="0" flipH="false" flipV="false">
            <a:off x="700385" y="4949078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一句话总结</a:t>
            </a:r>
            <a:endParaRPr lang="en-US" sz="1500" dirty="false"/>
          </a:p>
        </p:txBody>
      </p:sp>
      <p:sp>
        <p:nvSpPr>
          <p:cNvPr id="435" name="Text 34"/>
          <p:cNvSpPr/>
          <p:nvPr/>
        </p:nvSpPr>
        <p:spPr>
          <a:xfrm rot="0" flipH="false" flipV="false">
            <a:off x="815518" y="5406278"/>
            <a:ext cx="105520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1E40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MVP可信 → V1智能 → V2闭环 → 成熟期自演进工厂</a:t>
            </a:r>
            <a:endParaRPr lang="en-US" sz="1500" dirty="false"/>
          </a:p>
        </p:txBody>
      </p:sp>
      <p:sp>
        <p:nvSpPr>
          <p:cNvPr id="436" name="Text 36"/>
          <p:cNvSpPr/>
          <p:nvPr/>
        </p:nvSpPr>
        <p:spPr>
          <a:xfrm rot="0" flipH="false" flipV="false">
            <a:off x="11274623" y="6092078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Page 7/14</a:t>
            </a:r>
            <a:endParaRPr lang="en-US" sz="1050" dirty="false"/>
          </a:p>
        </p:txBody>
      </p:sp>
      <p:sp>
        <p:nvSpPr>
          <p:cNvPr id="437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true">
                <a:solidFill>
                  <a:srgbClr val="FFFFFF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阶段规划路线（Roadmap）</a:t>
            </a:r>
            <a:endParaRPr lang="en-US" sz="2700"/>
          </a:p>
        </p:txBody>
      </p:sp>
    </p:spTree>
  </p:cSld>
  <p:clrMapOvr>
    <a:masterClrMapping/>
  </p:clrMapOvr>
</p:sld>
</file>

<file path=ppt/slides/slide18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4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"/>
          <p:cNvPicPr>
            <a:picLocks noChangeAspect="true"/>
          </p:cNvPicPr>
          <p:nvPr/>
        </p:nvPicPr>
        <p:blipFill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pic>
        <p:nvPicPr>
          <p:cNvPr id="440" name="Image 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41" name="Image 2" descr="preencoded.png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1104900"/>
            <a:ext cx="11430000" cy="50292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442" name="Image 3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43025"/>
            <a:ext cx="247650" cy="285750"/>
          </a:xfrm>
          <a:prstGeom prst="rect">
            <a:avLst/>
          </a:prstGeom>
        </p:spPr>
      </p:pic>
      <p:pic>
        <p:nvPicPr>
          <p:cNvPr id="443" name="Image 4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905000"/>
            <a:ext cx="10972800" cy="76200"/>
          </a:xfrm>
          <a:prstGeom prst="rect">
            <a:avLst/>
          </a:prstGeom>
        </p:spPr>
      </p:pic>
      <p:pic>
        <p:nvPicPr>
          <p:cNvPr id="444" name="Image 5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05000"/>
            <a:ext cx="1828800" cy="76200"/>
          </a:xfrm>
          <a:prstGeom prst="rect">
            <a:avLst/>
          </a:prstGeom>
        </p:spPr>
      </p:pic>
      <p:pic>
        <p:nvPicPr>
          <p:cNvPr id="445" name="Image 6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905000"/>
            <a:ext cx="3657600" cy="76200"/>
          </a:xfrm>
          <a:prstGeom prst="rect">
            <a:avLst/>
          </a:prstGeom>
        </p:spPr>
      </p:pic>
      <p:pic>
        <p:nvPicPr>
          <p:cNvPr id="446" name="Image 7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1905000"/>
            <a:ext cx="1828800" cy="76200"/>
          </a:xfrm>
          <a:prstGeom prst="rect">
            <a:avLst/>
          </a:prstGeom>
        </p:spPr>
      </p:pic>
      <p:pic>
        <p:nvPicPr>
          <p:cNvPr id="447" name="Image 8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6000" y="2005000"/>
            <a:ext cx="1828800" cy="76200"/>
          </a:xfrm>
          <a:prstGeom prst="rect">
            <a:avLst/>
          </a:prstGeom>
        </p:spPr>
      </p:pic>
      <p:pic>
        <p:nvPicPr>
          <p:cNvPr id="448" name="Image 9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600" y="2005000"/>
            <a:ext cx="1828800" cy="76200"/>
          </a:xfrm>
          <a:prstGeom prst="rect">
            <a:avLst/>
          </a:prstGeom>
        </p:spPr>
      </p:pic>
      <p:pic>
        <p:nvPicPr>
          <p:cNvPr id="449" name="Image 10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247900"/>
            <a:ext cx="1975098" cy="1143000"/>
          </a:xfrm>
          <a:prstGeom prst="rect">
            <a:avLst/>
          </a:prstGeom>
        </p:spPr>
      </p:pic>
      <p:pic>
        <p:nvPicPr>
          <p:cNvPr id="450" name="Image 11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2400300"/>
            <a:ext cx="152400" cy="152400"/>
          </a:xfrm>
          <a:prstGeom prst="rect">
            <a:avLst/>
          </a:prstGeom>
        </p:spPr>
      </p:pic>
      <p:pic>
        <p:nvPicPr>
          <p:cNvPr id="451" name="Image 12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2952750"/>
            <a:ext cx="114300" cy="114300"/>
          </a:xfrm>
          <a:prstGeom prst="rect">
            <a:avLst/>
          </a:prstGeom>
        </p:spPr>
      </p:pic>
      <p:pic>
        <p:nvPicPr>
          <p:cNvPr id="452" name="Image 13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3143250"/>
            <a:ext cx="114300" cy="114300"/>
          </a:xfrm>
          <a:prstGeom prst="rect">
            <a:avLst/>
          </a:prstGeom>
        </p:spPr>
      </p:pic>
      <p:pic>
        <p:nvPicPr>
          <p:cNvPr id="453" name="Image 14" descr="preencoded.png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3243114" y="2247900"/>
            <a:ext cx="3072259" cy="1143000"/>
          </a:xfrm>
          <a:prstGeom prst="rect">
            <a:avLst/>
          </a:prstGeom>
        </p:spPr>
      </p:pic>
      <p:pic>
        <p:nvPicPr>
          <p:cNvPr id="454" name="Image 15" descr="preencoded.png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3357414" y="2400300"/>
            <a:ext cx="190500" cy="152400"/>
          </a:xfrm>
          <a:prstGeom prst="rect">
            <a:avLst/>
          </a:prstGeom>
        </p:spPr>
      </p:pic>
      <p:pic>
        <p:nvPicPr>
          <p:cNvPr id="455" name="Image 16" descr="preencoded.png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7414" y="2952750"/>
            <a:ext cx="114300" cy="114300"/>
          </a:xfrm>
          <a:prstGeom prst="rect">
            <a:avLst/>
          </a:prstGeom>
        </p:spPr>
      </p:pic>
      <p:pic>
        <p:nvPicPr>
          <p:cNvPr id="456" name="Image 17" descr="preencoded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3357414" y="3143250"/>
            <a:ext cx="114300" cy="114300"/>
          </a:xfrm>
          <a:prstGeom prst="rect">
            <a:avLst/>
          </a:prstGeom>
        </p:spPr>
      </p:pic>
      <p:pic>
        <p:nvPicPr>
          <p:cNvPr id="457" name="Image 18" descr="preencoded.png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6973788" y="2247900"/>
            <a:ext cx="1975098" cy="1143000"/>
          </a:xfrm>
          <a:prstGeom prst="rect">
            <a:avLst/>
          </a:prstGeom>
        </p:spPr>
      </p:pic>
      <p:pic>
        <p:nvPicPr>
          <p:cNvPr id="458" name="Image 19" descr="preencoded.png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7088088" y="2400300"/>
            <a:ext cx="152400" cy="152400"/>
          </a:xfrm>
          <a:prstGeom prst="rect">
            <a:avLst/>
          </a:prstGeom>
        </p:spPr>
      </p:pic>
      <p:pic>
        <p:nvPicPr>
          <p:cNvPr id="459" name="Image 20" descr="preencoded.png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7088088" y="2952750"/>
            <a:ext cx="114300" cy="114300"/>
          </a:xfrm>
          <a:prstGeom prst="rect">
            <a:avLst/>
          </a:prstGeom>
        </p:spPr>
      </p:pic>
      <p:pic>
        <p:nvPicPr>
          <p:cNvPr id="460" name="Image 21" descr="preencoded.png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7088088" y="3143250"/>
            <a:ext cx="114300" cy="114300"/>
          </a:xfrm>
          <a:prstGeom prst="rect">
            <a:avLst/>
          </a:prstGeom>
        </p:spPr>
      </p:pic>
      <p:pic>
        <p:nvPicPr>
          <p:cNvPr id="461" name="Image 22" descr="preencoded.png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9607302" y="2247900"/>
            <a:ext cx="1975098" cy="1143000"/>
          </a:xfrm>
          <a:prstGeom prst="rect">
            <a:avLst/>
          </a:prstGeom>
        </p:spPr>
      </p:pic>
      <p:pic>
        <p:nvPicPr>
          <p:cNvPr id="462" name="Image 23" descr="preencoded.png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>
            <a:off x="9721602" y="2400300"/>
            <a:ext cx="133350" cy="152400"/>
          </a:xfrm>
          <a:prstGeom prst="rect">
            <a:avLst/>
          </a:prstGeom>
        </p:spPr>
      </p:pic>
      <p:pic>
        <p:nvPicPr>
          <p:cNvPr id="463" name="Image 24" descr="preencoded.png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9721602" y="2952750"/>
            <a:ext cx="114300" cy="114300"/>
          </a:xfrm>
          <a:prstGeom prst="rect">
            <a:avLst/>
          </a:prstGeom>
        </p:spPr>
      </p:pic>
      <p:pic>
        <p:nvPicPr>
          <p:cNvPr id="464" name="Image 25" descr="preencoded.png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>
            <a:off x="9721602" y="3143250"/>
            <a:ext cx="114300" cy="114300"/>
          </a:xfrm>
          <a:prstGeom prst="rect">
            <a:avLst/>
          </a:prstGeom>
        </p:spPr>
      </p:pic>
      <p:pic>
        <p:nvPicPr>
          <p:cNvPr id="465" name="Image 26" descr="preencoded.png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609600" y="3667125"/>
            <a:ext cx="171450" cy="171450"/>
          </a:xfrm>
          <a:prstGeom prst="rect">
            <a:avLst/>
          </a:prstGeom>
        </p:spPr>
      </p:pic>
      <p:pic>
        <p:nvPicPr>
          <p:cNvPr id="466" name="Image 27" descr="preencoded.png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" y="3962400"/>
            <a:ext cx="266700" cy="381000"/>
          </a:xfrm>
          <a:prstGeom prst="rect">
            <a:avLst/>
          </a:prstGeom>
        </p:spPr>
      </p:pic>
      <p:pic>
        <p:nvPicPr>
          <p:cNvPr id="467" name="Image 28" descr="preencoded.png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685800" y="4057650"/>
            <a:ext cx="114300" cy="152400"/>
          </a:xfrm>
          <a:prstGeom prst="rect">
            <a:avLst/>
          </a:prstGeom>
        </p:spPr>
      </p:pic>
      <p:pic>
        <p:nvPicPr>
          <p:cNvPr id="468" name="Image 29" descr="preencoded.png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>
            <a:off x="3924300" y="3962400"/>
            <a:ext cx="342900" cy="381000"/>
          </a:xfrm>
          <a:prstGeom prst="rect">
            <a:avLst/>
          </a:prstGeom>
        </p:spPr>
      </p:pic>
      <p:pic>
        <p:nvPicPr>
          <p:cNvPr id="469" name="Image 30" descr="preencoded.png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4000500" y="4057650"/>
            <a:ext cx="190500" cy="152400"/>
          </a:xfrm>
          <a:prstGeom prst="rect">
            <a:avLst/>
          </a:prstGeom>
        </p:spPr>
      </p:pic>
      <p:pic>
        <p:nvPicPr>
          <p:cNvPr id="470" name="Image 31" descr="preencoded.png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>
            <a:off x="7181850" y="3962400"/>
            <a:ext cx="304800" cy="381000"/>
          </a:xfrm>
          <a:prstGeom prst="rect">
            <a:avLst/>
          </a:prstGeom>
        </p:spPr>
      </p:pic>
      <p:pic>
        <p:nvPicPr>
          <p:cNvPr id="471" name="Image 32" descr="preencoded.png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7258050" y="4057650"/>
            <a:ext cx="152400" cy="152400"/>
          </a:xfrm>
          <a:prstGeom prst="rect">
            <a:avLst/>
          </a:prstGeom>
        </p:spPr>
      </p:pic>
      <p:pic>
        <p:nvPicPr>
          <p:cNvPr id="472" name="Image 33" descr="preencoded.png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>
            <a:off x="10401300" y="3962400"/>
            <a:ext cx="304800" cy="381000"/>
          </a:xfrm>
          <a:prstGeom prst="rect">
            <a:avLst/>
          </a:prstGeom>
        </p:spPr>
      </p:pic>
      <p:pic>
        <p:nvPicPr>
          <p:cNvPr id="473" name="Image 34" descr="preencoded.png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10477500" y="4057650"/>
            <a:ext cx="152400" cy="152400"/>
          </a:xfrm>
          <a:prstGeom prst="rect">
            <a:avLst/>
          </a:prstGeom>
        </p:spPr>
      </p:pic>
      <p:sp>
        <p:nvSpPr>
          <p:cNvPr id="474" name="Text 0"/>
          <p:cNvSpPr/>
          <p:nvPr/>
        </p:nvSpPr>
        <p:spPr>
          <a:xfrm rot="0" flipH="false" flipV="false">
            <a:off x="312420" y="2667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项目周期与实施计划</a:t>
            </a:r>
            <a:endParaRPr lang="en-US" sz="2700" dirty="false"/>
          </a:p>
        </p:txBody>
      </p:sp>
      <p:sp>
        <p:nvSpPr>
          <p:cNvPr id="475" name="Text 1"/>
          <p:cNvSpPr/>
          <p:nvPr/>
        </p:nvSpPr>
        <p:spPr>
          <a:xfrm>
            <a:off x="971550" y="1352550"/>
            <a:ext cx="304841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12个月周期，分阶段实施</a:t>
            </a:r>
            <a:endParaRPr lang="en-US" sz="1800" dirty="false"/>
          </a:p>
        </p:txBody>
      </p:sp>
      <p:sp>
        <p:nvSpPr>
          <p:cNvPr id="476" name="Text 2"/>
          <p:cNvSpPr/>
          <p:nvPr/>
        </p:nvSpPr>
        <p:spPr>
          <a:xfrm rot="0" flipH="false" flipV="false">
            <a:off x="4267200" y="1714500"/>
            <a:ext cx="4091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>
                <a:solidFill>
                  <a:srgbClr val="4B5563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3个月</a:t>
            </a:r>
            <a:endParaRPr lang="en-US" sz="1050"/>
          </a:p>
        </p:txBody>
      </p:sp>
      <p:sp>
        <p:nvSpPr>
          <p:cNvPr id="477" name="Text 3"/>
          <p:cNvSpPr/>
          <p:nvPr/>
        </p:nvSpPr>
        <p:spPr>
          <a:xfrm rot="0" flipH="false" flipV="false">
            <a:off x="7921198" y="1714500"/>
            <a:ext cx="4091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6个月</a:t>
            </a:r>
            <a:endParaRPr lang="en-US" sz="1050" dirty="false"/>
          </a:p>
        </p:txBody>
      </p:sp>
      <p:sp>
        <p:nvSpPr>
          <p:cNvPr id="478" name="Text 4"/>
          <p:cNvSpPr/>
          <p:nvPr/>
        </p:nvSpPr>
        <p:spPr>
          <a:xfrm rot="0" flipH="false" flipV="false">
            <a:off x="11133713" y="1714500"/>
            <a:ext cx="49809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12个月</a:t>
            </a:r>
            <a:endParaRPr lang="en-US" sz="1050" dirty="false"/>
          </a:p>
        </p:txBody>
      </p:sp>
      <p:sp>
        <p:nvSpPr>
          <p:cNvPr id="479" name="Text 5"/>
          <p:cNvSpPr/>
          <p:nvPr/>
        </p:nvSpPr>
        <p:spPr>
          <a:xfrm>
            <a:off x="952500" y="2362200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需求调研与规划</a:t>
            </a:r>
            <a:endParaRPr lang="en-US" sz="1200" dirty="false"/>
          </a:p>
        </p:txBody>
      </p:sp>
      <p:sp>
        <p:nvSpPr>
          <p:cNvPr id="480" name="Text 6"/>
          <p:cNvSpPr/>
          <p:nvPr/>
        </p:nvSpPr>
        <p:spPr>
          <a:xfrm>
            <a:off x="723900" y="2667000"/>
            <a:ext cx="174649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1-2个月</a:t>
            </a:r>
            <a:endParaRPr lang="en-US" sz="1050" dirty="false"/>
          </a:p>
        </p:txBody>
      </p:sp>
      <p:sp>
        <p:nvSpPr>
          <p:cNvPr id="481" name="Text 7"/>
          <p:cNvSpPr/>
          <p:nvPr/>
        </p:nvSpPr>
        <p:spPr>
          <a:xfrm>
            <a:off x="876300" y="2933700"/>
            <a:ext cx="1234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需求规格说明书定稿</a:t>
            </a:r>
            <a:endParaRPr lang="en-US" sz="900" dirty="false"/>
          </a:p>
        </p:txBody>
      </p:sp>
      <p:sp>
        <p:nvSpPr>
          <p:cNvPr id="482" name="Text 8"/>
          <p:cNvSpPr/>
          <p:nvPr/>
        </p:nvSpPr>
        <p:spPr>
          <a:xfrm>
            <a:off x="876300" y="3124200"/>
            <a:ext cx="1234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技术选型与架构设计</a:t>
            </a:r>
            <a:endParaRPr lang="en-US" sz="900" dirty="false"/>
          </a:p>
        </p:txBody>
      </p:sp>
      <p:sp>
        <p:nvSpPr>
          <p:cNvPr id="483" name="Text 9"/>
          <p:cNvSpPr/>
          <p:nvPr/>
        </p:nvSpPr>
        <p:spPr>
          <a:xfrm>
            <a:off x="3624114" y="2362200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系统开发与集成</a:t>
            </a:r>
            <a:endParaRPr lang="en-US" sz="1200" dirty="false"/>
          </a:p>
        </p:txBody>
      </p:sp>
      <p:sp>
        <p:nvSpPr>
          <p:cNvPr id="484" name="Text 10"/>
          <p:cNvSpPr/>
          <p:nvPr/>
        </p:nvSpPr>
        <p:spPr>
          <a:xfrm>
            <a:off x="3357414" y="2667000"/>
            <a:ext cx="28436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3-6个月</a:t>
            </a:r>
            <a:endParaRPr lang="en-US" sz="1050" dirty="false"/>
          </a:p>
        </p:txBody>
      </p:sp>
      <p:sp>
        <p:nvSpPr>
          <p:cNvPr id="485" name="Text 11"/>
          <p:cNvSpPr/>
          <p:nvPr/>
        </p:nvSpPr>
        <p:spPr>
          <a:xfrm>
            <a:off x="3509814" y="2933700"/>
            <a:ext cx="25910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核心模块开发（SPC集成、OCAP知识库）</a:t>
            </a:r>
            <a:endParaRPr lang="en-US" sz="900" dirty="false"/>
          </a:p>
        </p:txBody>
      </p:sp>
      <p:sp>
        <p:nvSpPr>
          <p:cNvPr id="486" name="Text 12"/>
          <p:cNvSpPr/>
          <p:nvPr/>
        </p:nvSpPr>
        <p:spPr>
          <a:xfrm>
            <a:off x="3509814" y="3124200"/>
            <a:ext cx="16384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AI智能体与工作流引擎集成</a:t>
            </a:r>
            <a:endParaRPr lang="en-US" sz="900" dirty="false"/>
          </a:p>
        </p:txBody>
      </p:sp>
      <p:sp>
        <p:nvSpPr>
          <p:cNvPr id="487" name="Text 13"/>
          <p:cNvSpPr/>
          <p:nvPr/>
        </p:nvSpPr>
        <p:spPr>
          <a:xfrm>
            <a:off x="7316688" y="2362200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测试演练与优化</a:t>
            </a:r>
            <a:endParaRPr lang="en-US" sz="1200" dirty="false"/>
          </a:p>
        </p:txBody>
      </p:sp>
      <p:sp>
        <p:nvSpPr>
          <p:cNvPr id="488" name="Text 14"/>
          <p:cNvSpPr/>
          <p:nvPr/>
        </p:nvSpPr>
        <p:spPr>
          <a:xfrm>
            <a:off x="7088088" y="2667000"/>
            <a:ext cx="174649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9-10个月</a:t>
            </a:r>
            <a:endParaRPr lang="en-US" sz="1050" dirty="false"/>
          </a:p>
        </p:txBody>
      </p:sp>
      <p:sp>
        <p:nvSpPr>
          <p:cNvPr id="489" name="Text 15"/>
          <p:cNvSpPr/>
          <p:nvPr/>
        </p:nvSpPr>
        <p:spPr>
          <a:xfrm>
            <a:off x="7240488" y="2933700"/>
            <a:ext cx="15087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系统集成测试与性能优化</a:t>
            </a:r>
            <a:endParaRPr lang="en-US" sz="900" dirty="false"/>
          </a:p>
        </p:txBody>
      </p:sp>
      <p:sp>
        <p:nvSpPr>
          <p:cNvPr id="490" name="Text 16"/>
          <p:cNvSpPr/>
          <p:nvPr/>
        </p:nvSpPr>
        <p:spPr>
          <a:xfrm>
            <a:off x="7240488" y="3124200"/>
            <a:ext cx="13614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用户验收测试（UAT）</a:t>
            </a:r>
            <a:endParaRPr lang="en-US" sz="900" dirty="false"/>
          </a:p>
        </p:txBody>
      </p:sp>
      <p:sp>
        <p:nvSpPr>
          <p:cNvPr id="491" name="Text 17"/>
          <p:cNvSpPr/>
          <p:nvPr/>
        </p:nvSpPr>
        <p:spPr>
          <a:xfrm>
            <a:off x="9931152" y="2362200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试点部署与推广</a:t>
            </a:r>
            <a:endParaRPr lang="en-US" sz="1200" dirty="false"/>
          </a:p>
        </p:txBody>
      </p:sp>
      <p:sp>
        <p:nvSpPr>
          <p:cNvPr id="492" name="Text 18"/>
          <p:cNvSpPr/>
          <p:nvPr/>
        </p:nvSpPr>
        <p:spPr>
          <a:xfrm>
            <a:off x="9721602" y="2667000"/>
            <a:ext cx="209579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11-12个月</a:t>
            </a:r>
            <a:endParaRPr lang="en-US" sz="1050" dirty="false"/>
          </a:p>
        </p:txBody>
      </p:sp>
      <p:sp>
        <p:nvSpPr>
          <p:cNvPr id="493" name="Text 19"/>
          <p:cNvSpPr/>
          <p:nvPr/>
        </p:nvSpPr>
        <p:spPr>
          <a:xfrm>
            <a:off x="9874002" y="2933700"/>
            <a:ext cx="15087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试点产线部署与初期运行</a:t>
            </a:r>
            <a:endParaRPr lang="en-US" sz="900" dirty="false"/>
          </a:p>
        </p:txBody>
      </p:sp>
      <p:sp>
        <p:nvSpPr>
          <p:cNvPr id="494" name="Text 20"/>
          <p:cNvSpPr/>
          <p:nvPr/>
        </p:nvSpPr>
        <p:spPr>
          <a:xfrm>
            <a:off x="9874002" y="3124200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全面推广计划制定</a:t>
            </a:r>
            <a:endParaRPr lang="en-US" sz="900" dirty="false"/>
          </a:p>
        </p:txBody>
      </p:sp>
      <p:sp>
        <p:nvSpPr>
          <p:cNvPr id="495" name="Text 21"/>
          <p:cNvSpPr/>
          <p:nvPr/>
        </p:nvSpPr>
        <p:spPr>
          <a:xfrm>
            <a:off x="857250" y="36195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关键里程碑</a:t>
            </a:r>
            <a:endParaRPr lang="en-US" sz="1350" dirty="false"/>
          </a:p>
        </p:txBody>
      </p:sp>
      <p:sp>
        <p:nvSpPr>
          <p:cNvPr id="496" name="Text 22"/>
          <p:cNvSpPr/>
          <p:nvPr/>
        </p:nvSpPr>
        <p:spPr>
          <a:xfrm>
            <a:off x="952500" y="4057650"/>
            <a:ext cx="1440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需求规格说明书定稿</a:t>
            </a:r>
            <a:endParaRPr lang="en-US" sz="1050" dirty="false"/>
          </a:p>
        </p:txBody>
      </p:sp>
      <p:sp>
        <p:nvSpPr>
          <p:cNvPr id="497" name="Text 23"/>
          <p:cNvSpPr/>
          <p:nvPr/>
        </p:nvSpPr>
        <p:spPr>
          <a:xfrm>
            <a:off x="4343400" y="405765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核心模块开发完成</a:t>
            </a:r>
            <a:endParaRPr lang="en-US" sz="1050" dirty="false"/>
          </a:p>
        </p:txBody>
      </p:sp>
      <p:sp>
        <p:nvSpPr>
          <p:cNvPr id="498" name="Text 24"/>
          <p:cNvSpPr/>
          <p:nvPr/>
        </p:nvSpPr>
        <p:spPr>
          <a:xfrm>
            <a:off x="7562850" y="405765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用户验收测试完成</a:t>
            </a:r>
            <a:endParaRPr lang="en-US" sz="1050" dirty="false"/>
          </a:p>
        </p:txBody>
      </p:sp>
      <p:sp>
        <p:nvSpPr>
          <p:cNvPr id="499" name="Text 25"/>
          <p:cNvSpPr/>
          <p:nvPr/>
        </p:nvSpPr>
        <p:spPr>
          <a:xfrm>
            <a:off x="10782300" y="4057650"/>
            <a:ext cx="960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全面推广上线</a:t>
            </a:r>
            <a:endParaRPr lang="en-US" sz="1050" dirty="false"/>
          </a:p>
        </p:txBody>
      </p:sp>
      <p:sp>
        <p:nvSpPr>
          <p:cNvPr id="500" name="Text 26"/>
          <p:cNvSpPr/>
          <p:nvPr/>
        </p:nvSpPr>
        <p:spPr>
          <a:xfrm>
            <a:off x="381000" y="6286500"/>
            <a:ext cx="36809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206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OCAP+SPC+AI异常响应系统（厂务场景）立项汇报</a:t>
            </a:r>
            <a:endParaRPr lang="en-US" sz="1050"/>
          </a:p>
        </p:txBody>
      </p:sp>
      <p:sp>
        <p:nvSpPr>
          <p:cNvPr id="501" name="Text 27"/>
          <p:cNvSpPr/>
          <p:nvPr/>
        </p:nvSpPr>
        <p:spPr>
          <a:xfrm>
            <a:off x="11477179" y="6286500"/>
            <a:ext cx="4005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10/11</a:t>
            </a:r>
            <a:endParaRPr lang="en-US" sz="1050" dirty="false"/>
          </a:p>
        </p:txBody>
      </p:sp>
    </p:spTree>
  </p:cSld>
  <p:clrMapOvr>
    <a:masterClrMapping/>
  </p:clrMapOvr>
</p:sld>
</file>

<file path=ppt/slides/slide19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5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"/>
          <p:cNvPicPr>
            <a:picLocks noChangeAspect="true"/>
          </p:cNvPicPr>
          <p:nvPr/>
        </p:nvPicPr>
        <p:blipFill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pic>
        <p:nvPicPr>
          <p:cNvPr id="504" name="Image 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05" name="Image 2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43000"/>
            <a:ext cx="257175" cy="228600"/>
          </a:xfrm>
          <a:prstGeom prst="rect">
            <a:avLst/>
          </a:prstGeom>
        </p:spPr>
      </p:pic>
      <p:pic>
        <p:nvPicPr>
          <p:cNvPr id="506" name="Image 3" descr="preencoded.png"/>
          <p:cNvPicPr>
            <a:picLocks noChangeAspect="true"/>
          </p:cNvPicPr>
          <p:nvPr/>
        </p:nvPicPr>
        <p:blipFill>
          <a:blip r:embed="rId5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1562100"/>
            <a:ext cx="3284190" cy="9906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507" name="Image 4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714500"/>
            <a:ext cx="571500" cy="571500"/>
          </a:xfrm>
          <a:prstGeom prst="rect">
            <a:avLst/>
          </a:prstGeom>
        </p:spPr>
      </p:pic>
      <p:pic>
        <p:nvPicPr>
          <p:cNvPr id="508" name="Image 5" descr="preencoded.png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847850"/>
            <a:ext cx="285750" cy="304800"/>
          </a:xfrm>
          <a:prstGeom prst="rect">
            <a:avLst/>
          </a:prstGeom>
        </p:spPr>
      </p:pic>
      <p:pic>
        <p:nvPicPr>
          <p:cNvPr id="509" name="Image 6" descr="preencoded.png"/>
          <p:cNvPicPr>
            <a:picLocks noChangeAspect="true"/>
          </p:cNvPicPr>
          <p:nvPr/>
        </p:nvPicPr>
        <p:blipFill>
          <a:blip r:embed="rId8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7590" y="1562100"/>
            <a:ext cx="3284190" cy="9906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510" name="Image 7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3969990" y="1714500"/>
            <a:ext cx="571500" cy="571500"/>
          </a:xfrm>
          <a:prstGeom prst="rect">
            <a:avLst/>
          </a:prstGeom>
        </p:spPr>
      </p:pic>
      <p:pic>
        <p:nvPicPr>
          <p:cNvPr id="511" name="Image 8" descr="preencoded.png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4141440" y="1847850"/>
            <a:ext cx="228600" cy="304800"/>
          </a:xfrm>
          <a:prstGeom prst="rect">
            <a:avLst/>
          </a:prstGeom>
        </p:spPr>
      </p:pic>
      <p:pic>
        <p:nvPicPr>
          <p:cNvPr id="512" name="Image 9" descr="preencoded.png"/>
          <p:cNvPicPr>
            <a:picLocks noChangeAspect="true"/>
          </p:cNvPicPr>
          <p:nvPr/>
        </p:nvPicPr>
        <p:blipFill>
          <a:blip r:embed="rId11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2705100"/>
            <a:ext cx="3284190" cy="9906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513" name="Image 10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2857500"/>
            <a:ext cx="571500" cy="571500"/>
          </a:xfrm>
          <a:prstGeom prst="rect">
            <a:avLst/>
          </a:prstGeom>
        </p:spPr>
      </p:pic>
      <p:pic>
        <p:nvPicPr>
          <p:cNvPr id="514" name="Image 11" descr="preencoded.png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275" y="2990850"/>
            <a:ext cx="285750" cy="304800"/>
          </a:xfrm>
          <a:prstGeom prst="rect">
            <a:avLst/>
          </a:prstGeom>
        </p:spPr>
      </p:pic>
      <p:pic>
        <p:nvPicPr>
          <p:cNvPr id="515" name="Image 12" descr="preencoded.png"/>
          <p:cNvPicPr>
            <a:picLocks noChangeAspect="true"/>
          </p:cNvPicPr>
          <p:nvPr/>
        </p:nvPicPr>
        <p:blipFill>
          <a:blip r:embed="rId14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7590" y="2705100"/>
            <a:ext cx="3284190" cy="9906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516" name="Image 13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3969990" y="2857500"/>
            <a:ext cx="571500" cy="571500"/>
          </a:xfrm>
          <a:prstGeom prst="rect">
            <a:avLst/>
          </a:prstGeom>
        </p:spPr>
      </p:pic>
      <p:pic>
        <p:nvPicPr>
          <p:cNvPr id="517" name="Image 14" descr="preencoded.png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2865" y="2990850"/>
            <a:ext cx="285750" cy="304800"/>
          </a:xfrm>
          <a:prstGeom prst="rect">
            <a:avLst/>
          </a:prstGeom>
        </p:spPr>
      </p:pic>
      <p:pic>
        <p:nvPicPr>
          <p:cNvPr id="518" name="Image 15" descr="preencoded.png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0380" y="1143000"/>
            <a:ext cx="285750" cy="228600"/>
          </a:xfrm>
          <a:prstGeom prst="rect">
            <a:avLst/>
          </a:prstGeom>
        </p:spPr>
      </p:pic>
      <p:pic>
        <p:nvPicPr>
          <p:cNvPr id="519" name="Image 16" descr="preencoded.png"/>
          <p:cNvPicPr>
            <a:picLocks noChangeAspect="true"/>
          </p:cNvPicPr>
          <p:nvPr/>
        </p:nvPicPr>
        <p:blipFill>
          <a:blip r:embed="rId18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0380" y="1562100"/>
            <a:ext cx="4480620" cy="29337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520" name="Image 17" descr="preencoded.png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7520880" y="1771650"/>
            <a:ext cx="381000" cy="381000"/>
          </a:xfrm>
          <a:prstGeom prst="rect">
            <a:avLst/>
          </a:prstGeom>
        </p:spPr>
      </p:pic>
      <p:pic>
        <p:nvPicPr>
          <p:cNvPr id="521" name="Image 18" descr="preencoded.png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7644705" y="1885950"/>
            <a:ext cx="133350" cy="152400"/>
          </a:xfrm>
          <a:prstGeom prst="rect">
            <a:avLst/>
          </a:prstGeom>
        </p:spPr>
      </p:pic>
      <p:pic>
        <p:nvPicPr>
          <p:cNvPr id="522" name="Image 19" descr="preencoded.png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7520880" y="2305050"/>
            <a:ext cx="381000" cy="381000"/>
          </a:xfrm>
          <a:prstGeom prst="rect">
            <a:avLst/>
          </a:prstGeom>
        </p:spPr>
      </p:pic>
      <p:pic>
        <p:nvPicPr>
          <p:cNvPr id="523" name="Image 20" descr="preencoded.png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7625655" y="2419350"/>
            <a:ext cx="171450" cy="152400"/>
          </a:xfrm>
          <a:prstGeom prst="rect">
            <a:avLst/>
          </a:prstGeom>
        </p:spPr>
      </p:pic>
      <p:pic>
        <p:nvPicPr>
          <p:cNvPr id="524" name="Image 21" descr="preencoded.png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7520880" y="2838450"/>
            <a:ext cx="381000" cy="381000"/>
          </a:xfrm>
          <a:prstGeom prst="rect">
            <a:avLst/>
          </a:prstGeom>
        </p:spPr>
      </p:pic>
      <p:pic>
        <p:nvPicPr>
          <p:cNvPr id="525" name="Image 22" descr="preencoded.png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7616130" y="2952750"/>
            <a:ext cx="190500" cy="152400"/>
          </a:xfrm>
          <a:prstGeom prst="rect">
            <a:avLst/>
          </a:prstGeom>
        </p:spPr>
      </p:pic>
      <p:pic>
        <p:nvPicPr>
          <p:cNvPr id="526" name="Image 23" descr="preencoded.png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>
            <a:off x="7520880" y="3371850"/>
            <a:ext cx="381000" cy="381000"/>
          </a:xfrm>
          <a:prstGeom prst="rect">
            <a:avLst/>
          </a:prstGeom>
        </p:spPr>
      </p:pic>
      <p:pic>
        <p:nvPicPr>
          <p:cNvPr id="527" name="Image 24" descr="preencoded.png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7635180" y="3486150"/>
            <a:ext cx="152400" cy="152400"/>
          </a:xfrm>
          <a:prstGeom prst="rect">
            <a:avLst/>
          </a:prstGeom>
        </p:spPr>
      </p:pic>
      <p:pic>
        <p:nvPicPr>
          <p:cNvPr id="528" name="Image 25" descr="preencoded.png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>
            <a:off x="7520880" y="3905250"/>
            <a:ext cx="381000" cy="381000"/>
          </a:xfrm>
          <a:prstGeom prst="rect">
            <a:avLst/>
          </a:prstGeom>
        </p:spPr>
      </p:pic>
      <p:pic>
        <p:nvPicPr>
          <p:cNvPr id="529" name="Image 26" descr="preencoded.png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7635180" y="4019550"/>
            <a:ext cx="152400" cy="152400"/>
          </a:xfrm>
          <a:prstGeom prst="rect">
            <a:avLst/>
          </a:prstGeom>
        </p:spPr>
      </p:pic>
      <p:sp>
        <p:nvSpPr>
          <p:cNvPr id="530" name="Text 0"/>
          <p:cNvSpPr/>
          <p:nvPr/>
        </p:nvSpPr>
        <p:spPr>
          <a:xfrm rot="0" flipH="false" flipV="false">
            <a:off x="381000" y="3048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项目预算与人力</a:t>
            </a:r>
            <a:endParaRPr lang="en-US" sz="2700" dirty="false"/>
          </a:p>
        </p:txBody>
      </p:sp>
      <p:sp>
        <p:nvSpPr>
          <p:cNvPr id="531" name="Text 1"/>
          <p:cNvSpPr/>
          <p:nvPr/>
        </p:nvSpPr>
        <p:spPr>
          <a:xfrm>
            <a:off x="752475" y="1104900"/>
            <a:ext cx="6720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预算分配</a:t>
            </a:r>
            <a:endParaRPr lang="en-US" sz="1800" dirty="false"/>
          </a:p>
        </p:txBody>
      </p:sp>
      <p:sp>
        <p:nvSpPr>
          <p:cNvPr id="532" name="Text 2"/>
          <p:cNvSpPr/>
          <p:nvPr/>
        </p:nvSpPr>
        <p:spPr>
          <a:xfrm>
            <a:off x="1257300" y="1714500"/>
            <a:ext cx="27065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软件平台开发/采购</a:t>
            </a:r>
            <a:endParaRPr lang="en-US" sz="1500" dirty="false"/>
          </a:p>
        </p:txBody>
      </p:sp>
      <p:sp>
        <p:nvSpPr>
          <p:cNvPr id="533" name="Text 3"/>
          <p:cNvSpPr/>
          <p:nvPr/>
        </p:nvSpPr>
        <p:spPr>
          <a:xfrm>
            <a:off x="1257300" y="2019300"/>
            <a:ext cx="22554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工作流引擎、动态表单系统、知识库系统、AI框架授权</a:t>
            </a:r>
            <a:endParaRPr lang="en-US" sz="1050" dirty="false"/>
          </a:p>
        </p:txBody>
      </p:sp>
      <p:sp>
        <p:nvSpPr>
          <p:cNvPr id="534" name="Text 4"/>
          <p:cNvSpPr/>
          <p:nvPr/>
        </p:nvSpPr>
        <p:spPr>
          <a:xfrm>
            <a:off x="4693890" y="1714500"/>
            <a:ext cx="27065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硬件及系统集成</a:t>
            </a:r>
            <a:endParaRPr lang="en-US" sz="1500" dirty="false"/>
          </a:p>
        </p:txBody>
      </p:sp>
      <p:sp>
        <p:nvSpPr>
          <p:cNvPr id="535" name="Text 5"/>
          <p:cNvSpPr/>
          <p:nvPr/>
        </p:nvSpPr>
        <p:spPr>
          <a:xfrm>
            <a:off x="4693890" y="2019300"/>
            <a:ext cx="22554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服务器、存储设备、网络设备、与现有厂务系统的集成</a:t>
            </a:r>
            <a:endParaRPr lang="en-US" sz="1050" dirty="false"/>
          </a:p>
        </p:txBody>
      </p:sp>
      <p:sp>
        <p:nvSpPr>
          <p:cNvPr id="536" name="Text 6"/>
          <p:cNvSpPr/>
          <p:nvPr/>
        </p:nvSpPr>
        <p:spPr>
          <a:xfrm>
            <a:off x="1257300" y="2857500"/>
            <a:ext cx="27065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AI模型与工具资源</a:t>
            </a:r>
            <a:endParaRPr lang="en-US" sz="1500" dirty="false"/>
          </a:p>
        </p:txBody>
      </p:sp>
      <p:sp>
        <p:nvSpPr>
          <p:cNvPr id="537" name="Text 7"/>
          <p:cNvSpPr/>
          <p:nvPr/>
        </p:nvSpPr>
        <p:spPr>
          <a:xfrm>
            <a:off x="1257300" y="3162300"/>
            <a:ext cx="22554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AI模型训练算力、数据标注、外部数据源采购</a:t>
            </a:r>
            <a:endParaRPr lang="en-US" sz="1050" dirty="false"/>
          </a:p>
        </p:txBody>
      </p:sp>
      <p:sp>
        <p:nvSpPr>
          <p:cNvPr id="538" name="Text 8"/>
          <p:cNvSpPr/>
          <p:nvPr/>
        </p:nvSpPr>
        <p:spPr>
          <a:xfrm>
            <a:off x="4693890" y="2857500"/>
            <a:ext cx="27065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培训与上线保障</a:t>
            </a:r>
            <a:endParaRPr lang="en-US" sz="1500" dirty="false"/>
          </a:p>
        </p:txBody>
      </p:sp>
      <p:sp>
        <p:nvSpPr>
          <p:cNvPr id="539" name="Text 9"/>
          <p:cNvSpPr/>
          <p:nvPr/>
        </p:nvSpPr>
        <p:spPr>
          <a:xfrm>
            <a:off x="4693890" y="3162300"/>
            <a:ext cx="22554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用户培训、技术支持、文档编写、上线初期的技术保障</a:t>
            </a:r>
            <a:endParaRPr lang="en-US" sz="1050" dirty="false"/>
          </a:p>
        </p:txBody>
      </p:sp>
      <p:sp>
        <p:nvSpPr>
          <p:cNvPr id="540" name="Text 10"/>
          <p:cNvSpPr/>
          <p:nvPr/>
        </p:nvSpPr>
        <p:spPr>
          <a:xfrm>
            <a:off x="7730430" y="1104900"/>
            <a:ext cx="44806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人员配置与职责</a:t>
            </a:r>
            <a:endParaRPr lang="en-US" sz="1800" dirty="false"/>
          </a:p>
        </p:txBody>
      </p:sp>
      <p:sp>
        <p:nvSpPr>
          <p:cNvPr id="541" name="Text 11"/>
          <p:cNvSpPr/>
          <p:nvPr/>
        </p:nvSpPr>
        <p:spPr>
          <a:xfrm>
            <a:off x="8016180" y="1752600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项目经理 (1名)</a:t>
            </a:r>
            <a:endParaRPr lang="en-US" sz="1200" dirty="false"/>
          </a:p>
        </p:txBody>
      </p:sp>
      <p:sp>
        <p:nvSpPr>
          <p:cNvPr id="542" name="Text 12"/>
          <p:cNvSpPr/>
          <p:nvPr/>
        </p:nvSpPr>
        <p:spPr>
          <a:xfrm>
            <a:off x="8016180" y="198120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项目整体规划、进度管理、资源协调</a:t>
            </a:r>
            <a:endParaRPr lang="en-US" sz="1050" dirty="false"/>
          </a:p>
        </p:txBody>
      </p:sp>
      <p:sp>
        <p:nvSpPr>
          <p:cNvPr id="543" name="Text 13"/>
          <p:cNvSpPr/>
          <p:nvPr/>
        </p:nvSpPr>
        <p:spPr>
          <a:xfrm>
            <a:off x="8016180" y="2286000"/>
            <a:ext cx="3200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系统架构师 (1名)</a:t>
            </a:r>
            <a:endParaRPr lang="en-US" sz="1200" dirty="false"/>
          </a:p>
        </p:txBody>
      </p:sp>
      <p:sp>
        <p:nvSpPr>
          <p:cNvPr id="544" name="Text 14"/>
          <p:cNvSpPr/>
          <p:nvPr/>
        </p:nvSpPr>
        <p:spPr>
          <a:xfrm>
            <a:off x="8016180" y="2514600"/>
            <a:ext cx="3200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系统整体架构设计、技术选型、关键技术攻关</a:t>
            </a:r>
            <a:endParaRPr lang="en-US" sz="1050" dirty="false"/>
          </a:p>
        </p:txBody>
      </p:sp>
      <p:sp>
        <p:nvSpPr>
          <p:cNvPr id="545" name="Text 15"/>
          <p:cNvSpPr/>
          <p:nvPr/>
        </p:nvSpPr>
        <p:spPr>
          <a:xfrm>
            <a:off x="8016180" y="2819400"/>
            <a:ext cx="3360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后端/前端开发工程师 (3名)</a:t>
            </a:r>
            <a:endParaRPr lang="en-US" sz="1200" dirty="false"/>
          </a:p>
        </p:txBody>
      </p:sp>
      <p:sp>
        <p:nvSpPr>
          <p:cNvPr id="546" name="Text 16"/>
          <p:cNvSpPr/>
          <p:nvPr/>
        </p:nvSpPr>
        <p:spPr>
          <a:xfrm>
            <a:off x="8016180" y="3048000"/>
            <a:ext cx="33604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核心业务逻辑开发、数据库设计、用户界面开发</a:t>
            </a:r>
            <a:endParaRPr lang="en-US" sz="1050" dirty="false"/>
          </a:p>
        </p:txBody>
      </p:sp>
      <p:sp>
        <p:nvSpPr>
          <p:cNvPr id="547" name="Text 17"/>
          <p:cNvSpPr/>
          <p:nvPr/>
        </p:nvSpPr>
        <p:spPr>
          <a:xfrm>
            <a:off x="8016180" y="3352800"/>
            <a:ext cx="28716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AI/算法工程师 (2名)</a:t>
            </a:r>
            <a:endParaRPr lang="en-US" sz="1200" dirty="false"/>
          </a:p>
        </p:txBody>
      </p:sp>
      <p:sp>
        <p:nvSpPr>
          <p:cNvPr id="548" name="Text 18"/>
          <p:cNvSpPr/>
          <p:nvPr/>
        </p:nvSpPr>
        <p:spPr>
          <a:xfrm>
            <a:off x="8016180" y="3581400"/>
            <a:ext cx="28716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AI模型训练、优化、部署，知识图谱构建</a:t>
            </a:r>
            <a:endParaRPr lang="en-US" sz="1050" dirty="false"/>
          </a:p>
        </p:txBody>
      </p:sp>
      <p:sp>
        <p:nvSpPr>
          <p:cNvPr id="549" name="Text 19"/>
          <p:cNvSpPr/>
          <p:nvPr/>
        </p:nvSpPr>
        <p:spPr>
          <a:xfrm>
            <a:off x="8016180" y="3886200"/>
            <a:ext cx="30403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测试/运维工程师 (2名)</a:t>
            </a:r>
            <a:endParaRPr lang="en-US" sz="1200" dirty="false"/>
          </a:p>
        </p:txBody>
      </p:sp>
      <p:sp>
        <p:nvSpPr>
          <p:cNvPr id="550" name="Text 20"/>
          <p:cNvSpPr/>
          <p:nvPr/>
        </p:nvSpPr>
        <p:spPr>
          <a:xfrm>
            <a:off x="8016180" y="4114800"/>
            <a:ext cx="3040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false">
                <a:solidFill>
                  <a:srgbClr val="4B55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系统功能测试、性能测试、系统部署与维护</a:t>
            </a:r>
            <a:endParaRPr lang="en-US" sz="1050" dirty="false"/>
          </a:p>
        </p:txBody>
      </p:sp>
      <p:sp>
        <p:nvSpPr>
          <p:cNvPr id="551" name="Text 21"/>
          <p:cNvSpPr/>
          <p:nvPr/>
        </p:nvSpPr>
        <p:spPr>
          <a:xfrm>
            <a:off x="381000" y="6286500"/>
            <a:ext cx="36809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206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OCAP+SPC+AI异常响应系统（厂务场景）立项汇报</a:t>
            </a:r>
            <a:endParaRPr lang="en-US" sz="1050"/>
          </a:p>
        </p:txBody>
      </p:sp>
      <p:sp>
        <p:nvSpPr>
          <p:cNvPr id="552" name="Text 22"/>
          <p:cNvSpPr/>
          <p:nvPr/>
        </p:nvSpPr>
        <p:spPr>
          <a:xfrm>
            <a:off x="11551444" y="6286500"/>
            <a:ext cx="3114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9/11</a:t>
            </a:r>
            <a:endParaRPr lang="en-US" sz="1050" dirty="false"/>
          </a:p>
        </p:txBody>
      </p:sp>
    </p:spTree>
  </p:cSld>
  <p:clrMapOvr>
    <a:masterClrMapping/>
  </p:clrMapOvr>
</p:sld>
</file>

<file path=ppt/slides/slide20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6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"/>
          <p:cNvPicPr>
            <a:picLocks noChangeAspect="true"/>
          </p:cNvPicPr>
          <p:nvPr/>
        </p:nvPicPr>
        <p:blipFill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/>
        </p:blipFill>
        <p:spPr>
          <a:xfrm>
            <a:off x="0" y="0"/>
            <a:ext cx="12192000" cy="767644"/>
          </a:xfrm>
          <a:prstGeom prst="rect"/>
        </p:spPr>
      </p:pic>
      <p:pic>
        <p:nvPicPr>
          <p:cNvPr id="616" name="Image 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617" name="Image 2" descr="preencoded.png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1600200"/>
            <a:ext cx="3657600" cy="15240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618" name="Image 3" descr="preencoded.png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90700"/>
            <a:ext cx="571500" cy="571500"/>
          </a:xfrm>
          <a:prstGeom prst="rect">
            <a:avLst/>
          </a:prstGeom>
        </p:spPr>
      </p:pic>
      <p:pic>
        <p:nvPicPr>
          <p:cNvPr id="619" name="Image 4" descr="preencoded.png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1924050"/>
            <a:ext cx="171450" cy="304800"/>
          </a:xfrm>
          <a:prstGeom prst="rect">
            <a:avLst/>
          </a:prstGeom>
        </p:spPr>
      </p:pic>
      <p:pic>
        <p:nvPicPr>
          <p:cNvPr id="620" name="Image 5" descr="preencoded.png"/>
          <p:cNvPicPr>
            <a:picLocks noChangeAspect="true"/>
          </p:cNvPicPr>
          <p:nvPr/>
        </p:nvPicPr>
        <p:blipFill>
          <a:blip r:embed="rId7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67200" y="1600200"/>
            <a:ext cx="3657600" cy="15240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621" name="Image 6" descr="preencoded.png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4457700" y="1790700"/>
            <a:ext cx="571500" cy="571500"/>
          </a:xfrm>
          <a:prstGeom prst="rect">
            <a:avLst/>
          </a:prstGeom>
        </p:spPr>
      </p:pic>
      <p:pic>
        <p:nvPicPr>
          <p:cNvPr id="622" name="Image 7" descr="preencoded.png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4629150" y="1924050"/>
            <a:ext cx="228600" cy="304800"/>
          </a:xfrm>
          <a:prstGeom prst="rect">
            <a:avLst/>
          </a:prstGeom>
        </p:spPr>
      </p:pic>
      <p:pic>
        <p:nvPicPr>
          <p:cNvPr id="623" name="Image 8" descr="preencoded.png"/>
          <p:cNvPicPr>
            <a:picLocks noChangeAspect="true"/>
          </p:cNvPicPr>
          <p:nvPr/>
        </p:nvPicPr>
        <p:blipFill>
          <a:blip r:embed="rId10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53400" y="1600200"/>
            <a:ext cx="3657600" cy="15240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624" name="Image 9" descr="preencoded.png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3900" y="1790700"/>
            <a:ext cx="571500" cy="571500"/>
          </a:xfrm>
          <a:prstGeom prst="rect">
            <a:avLst/>
          </a:prstGeom>
        </p:spPr>
      </p:pic>
      <p:pic>
        <p:nvPicPr>
          <p:cNvPr id="625" name="Image 10" descr="preencoded.png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5350" y="1924050"/>
            <a:ext cx="228600" cy="304800"/>
          </a:xfrm>
          <a:prstGeom prst="rect">
            <a:avLst/>
          </a:prstGeom>
        </p:spPr>
      </p:pic>
      <p:pic>
        <p:nvPicPr>
          <p:cNvPr id="626" name="Image 11" descr="preencoded.png"/>
          <p:cNvPicPr>
            <a:picLocks noChangeAspect="true"/>
          </p:cNvPicPr>
          <p:nvPr/>
        </p:nvPicPr>
        <p:blipFill>
          <a:blip r:embed="rId13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3352800"/>
            <a:ext cx="5600700" cy="12954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627" name="Image 12" descr="preencoded.png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543300"/>
            <a:ext cx="571500" cy="571500"/>
          </a:xfrm>
          <a:prstGeom prst="rect">
            <a:avLst/>
          </a:prstGeom>
        </p:spPr>
      </p:pic>
      <p:pic>
        <p:nvPicPr>
          <p:cNvPr id="628" name="Image 13" descr="preencoded.png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950" y="3676650"/>
            <a:ext cx="228600" cy="304800"/>
          </a:xfrm>
          <a:prstGeom prst="rect">
            <a:avLst/>
          </a:prstGeom>
        </p:spPr>
      </p:pic>
      <p:pic>
        <p:nvPicPr>
          <p:cNvPr id="629" name="Image 14" descr="preencoded.png"/>
          <p:cNvPicPr>
            <a:picLocks noChangeAspect="true"/>
          </p:cNvPicPr>
          <p:nvPr/>
        </p:nvPicPr>
        <p:blipFill>
          <a:blip r:embed="rId16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0300" y="3352800"/>
            <a:ext cx="5600700" cy="1295400"/>
          </a:xfrm>
          <a:prstGeom prst="rect">
            <a:avLst/>
          </a:prstGeom>
          <a:solidFill>
            <a:srgbClr val="E5F6FF">
              <a:alpha val="100000"/>
            </a:srgbClr>
          </a:solidFill>
          <a:ln/>
        </p:spPr>
      </p:pic>
      <p:pic>
        <p:nvPicPr>
          <p:cNvPr id="630" name="Image 15" descr="preencoded.png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543300"/>
            <a:ext cx="571500" cy="571500"/>
          </a:xfrm>
          <a:prstGeom prst="rect">
            <a:avLst/>
          </a:prstGeom>
        </p:spPr>
      </p:pic>
      <p:pic>
        <p:nvPicPr>
          <p:cNvPr id="631" name="Image 16" descr="preencoded.png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0825" y="3676650"/>
            <a:ext cx="171450" cy="304800"/>
          </a:xfrm>
          <a:prstGeom prst="rect">
            <a:avLst/>
          </a:prstGeom>
        </p:spPr>
      </p:pic>
      <p:pic>
        <p:nvPicPr>
          <p:cNvPr id="632" name="Image 17" descr="preencoded.png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89350" y="4876800"/>
            <a:ext cx="4013299" cy="495300"/>
          </a:xfrm>
          <a:prstGeom prst="rect">
            <a:avLst/>
          </a:prstGeom>
          <a:solidFill>
            <a:srgbClr val="C7ECFF">
              <a:alpha val="100000"/>
            </a:srgbClr>
          </a:solidFill>
          <a:ln/>
        </p:spPr>
      </p:pic>
      <p:sp>
        <p:nvSpPr>
          <p:cNvPr id="633" name="Text 0"/>
          <p:cNvSpPr/>
          <p:nvPr/>
        </p:nvSpPr>
        <p:spPr>
          <a:xfrm rot="0" flipH="false" flipV="false">
            <a:off x="342900" y="2286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true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结论与建议</a:t>
            </a:r>
            <a:endParaRPr lang="en-US" sz="2700" dirty="false"/>
          </a:p>
        </p:txBody>
      </p:sp>
      <p:sp>
        <p:nvSpPr>
          <p:cNvPr id="634" name="Text 1"/>
          <p:cNvSpPr/>
          <p:nvPr/>
        </p:nvSpPr>
        <p:spPr>
          <a:xfrm>
            <a:off x="381000" y="11049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本项目通过构建OCAP+SPC+AI异常响应平台，将实现厂务系统异常处理的智能化与闭环管理</a:t>
            </a:r>
            <a:endParaRPr lang="en-US" sz="1500" dirty="false"/>
          </a:p>
        </p:txBody>
      </p:sp>
      <p:sp>
        <p:nvSpPr>
          <p:cNvPr id="635" name="Text 2"/>
          <p:cNvSpPr/>
          <p:nvPr/>
        </p:nvSpPr>
        <p:spPr>
          <a:xfrm>
            <a:off x="1257300" y="194310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价值总结</a:t>
            </a:r>
            <a:endParaRPr lang="en-US" sz="1500" dirty="false"/>
          </a:p>
        </p:txBody>
      </p:sp>
      <p:sp>
        <p:nvSpPr>
          <p:cNvPr id="636" name="Text 3"/>
          <p:cNvSpPr/>
          <p:nvPr/>
        </p:nvSpPr>
        <p:spPr>
          <a:xfrm>
            <a:off x="571500" y="247650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实现报警快速闭环响应，提升厂务系统稳定性与管理水平</a:t>
            </a:r>
            <a:endParaRPr lang="en-US" sz="1200" dirty="false"/>
          </a:p>
        </p:txBody>
      </p:sp>
      <p:sp>
        <p:nvSpPr>
          <p:cNvPr id="637" name="Text 4"/>
          <p:cNvSpPr/>
          <p:nvPr/>
        </p:nvSpPr>
        <p:spPr>
          <a:xfrm>
            <a:off x="5143500" y="194310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推广可行</a:t>
            </a:r>
            <a:endParaRPr lang="en-US" sz="1500" dirty="false"/>
          </a:p>
        </p:txBody>
      </p:sp>
      <p:sp>
        <p:nvSpPr>
          <p:cNvPr id="638" name="Text 5"/>
          <p:cNvSpPr/>
          <p:nvPr/>
        </p:nvSpPr>
        <p:spPr>
          <a:xfrm>
            <a:off x="4457700" y="247650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具备成熟基础与系统扩展性，可快速集成到现有厂务系统</a:t>
            </a:r>
            <a:endParaRPr lang="en-US" sz="1200" dirty="false"/>
          </a:p>
        </p:txBody>
      </p:sp>
      <p:sp>
        <p:nvSpPr>
          <p:cNvPr id="639" name="Text 6"/>
          <p:cNvSpPr/>
          <p:nvPr/>
        </p:nvSpPr>
        <p:spPr>
          <a:xfrm>
            <a:off x="9029700" y="194310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闭环体系</a:t>
            </a:r>
            <a:endParaRPr lang="en-US" sz="1500" dirty="false"/>
          </a:p>
        </p:txBody>
      </p:sp>
      <p:sp>
        <p:nvSpPr>
          <p:cNvPr id="640" name="Text 7"/>
          <p:cNvSpPr/>
          <p:nvPr/>
        </p:nvSpPr>
        <p:spPr>
          <a:xfrm>
            <a:off x="8343900" y="247650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全程可追溯、可分析、可持续优化的完整闭环管理机制</a:t>
            </a:r>
            <a:endParaRPr lang="en-US" sz="1200" dirty="false"/>
          </a:p>
        </p:txBody>
      </p:sp>
      <p:sp>
        <p:nvSpPr>
          <p:cNvPr id="641" name="Text 8"/>
          <p:cNvSpPr/>
          <p:nvPr/>
        </p:nvSpPr>
        <p:spPr>
          <a:xfrm>
            <a:off x="1257300" y="3695700"/>
            <a:ext cx="8636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ROI可观</a:t>
            </a:r>
            <a:endParaRPr lang="en-US" sz="1500" dirty="false"/>
          </a:p>
        </p:txBody>
      </p:sp>
      <p:sp>
        <p:nvSpPr>
          <p:cNvPr id="642" name="Text 9"/>
          <p:cNvSpPr/>
          <p:nvPr/>
        </p:nvSpPr>
        <p:spPr>
          <a:xfrm>
            <a:off x="571500" y="42291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在效率、人力、风险等方面全面获益，提升整体运营稳定性与生产效率</a:t>
            </a:r>
            <a:endParaRPr lang="en-US" sz="1200" dirty="false"/>
          </a:p>
        </p:txBody>
      </p:sp>
      <p:sp>
        <p:nvSpPr>
          <p:cNvPr id="643" name="Text 10"/>
          <p:cNvSpPr/>
          <p:nvPr/>
        </p:nvSpPr>
        <p:spPr>
          <a:xfrm>
            <a:off x="7086600" y="369570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true" dirty="false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建议支持</a:t>
            </a:r>
            <a:endParaRPr lang="en-US" sz="1500" dirty="false"/>
          </a:p>
        </p:txBody>
      </p:sp>
      <p:sp>
        <p:nvSpPr>
          <p:cNvPr id="644" name="Text 11"/>
          <p:cNvSpPr/>
          <p:nvPr/>
        </p:nvSpPr>
        <p:spPr>
          <a:xfrm>
            <a:off x="6400800" y="42291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false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请求立项批准与资源支持，按计划推进项目建设，实现异常管理的智能化升级</a:t>
            </a:r>
            <a:endParaRPr lang="en-US" sz="1200" dirty="false"/>
          </a:p>
        </p:txBody>
      </p:sp>
      <p:sp>
        <p:nvSpPr>
          <p:cNvPr id="645" name="Text 12"/>
          <p:cNvSpPr/>
          <p:nvPr/>
        </p:nvSpPr>
        <p:spPr>
          <a:xfrm>
            <a:off x="3962340" y="4991100"/>
            <a:ext cx="42673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智能化异常响应 · 知识驱动决策 · 持续改进</a:t>
            </a:r>
            <a:endParaRPr lang="en-US" sz="1500"/>
          </a:p>
        </p:txBody>
      </p:sp>
      <p:sp>
        <p:nvSpPr>
          <p:cNvPr id="646" name="Text 13"/>
          <p:cNvSpPr/>
          <p:nvPr/>
        </p:nvSpPr>
        <p:spPr>
          <a:xfrm>
            <a:off x="381000" y="6286500"/>
            <a:ext cx="36809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002060">
                    <a:alpha val="100000"/>
                  </a:srgbClr>
                </a:solidFill>
                <a:latin typeface="Source Sans Pro"/>
                <a:ea typeface="Source Sans Pro"/>
                <a:cs typeface="Source Sans Pro"/>
              </a:rPr>
              <a:t>OCAP+SPC+AI异常响应系统（厂务场景）立项汇报</a:t>
            </a:r>
            <a:endParaRPr lang="en-US" sz="1050"/>
          </a:p>
        </p:txBody>
      </p:sp>
      <p:sp>
        <p:nvSpPr>
          <p:cNvPr id="647" name="Text 14"/>
          <p:cNvSpPr/>
          <p:nvPr/>
        </p:nvSpPr>
        <p:spPr>
          <a:xfrm>
            <a:off x="11477179" y="6286500"/>
            <a:ext cx="4005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false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false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11/11</a:t>
            </a:r>
            <a:endParaRPr lang="en-US" sz="1050" dirty="fals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thm15="http://schemas.microsoft.com/office/thememl/2012/main" xmlns:a="http://schemas.openxmlformats.org/drawingml/2006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2026-03-03T20:38:55Z</dcterms:created>
  <dcterms:modified xsi:type="dcterms:W3CDTF">2026-03-03T20:38:55Z</dcterms:modified>
</cp:coreProperties>
</file>